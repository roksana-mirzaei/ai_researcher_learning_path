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cda019c-f023-68b6-734c-2a54b078c22a}">
          <p14:sldIdLst>
            <p14:sldId id="256"/>
            <p14:sldId id="257"/>
            <p14:sldId id="258"/>
            <p14:sldId id="259"/>
          </p14:sldIdLst>
        </p14:section>
        <p14:section name="The five ideas" id="{318a102e-c1fe-9c17-600b-fa5326b12550}">
          <p14:sldIdLst>
            <p14:sldId id="260"/>
            <p14:sldId id="261"/>
            <p14:sldId id="262"/>
          </p14:sldIdLst>
        </p14:section>
        <p14:section name="Idea 1: signal through depth" id="{86c8ad67-b7ee-1c93-1fd7-eaacbf4b633b}">
          <p14:sldIdLst>
            <p14:sldId id="263"/>
            <p14:sldId id="264"/>
            <p14:sldId id="265"/>
            <p14:sldId id="266"/>
            <p14:sldId id="267"/>
          </p14:sldIdLst>
        </p14:section>
        <p14:section name="Idea 5: compute" id="{b3d4b282-f5db-60b6-dc7b-fd0158c087f8}">
          <p14:sldIdLst>
            <p14:sldId id="268"/>
            <p14:sldId id="269"/>
            <p14:sldId id="270"/>
            <p14:sldId id="271"/>
            <p14:sldId id="272"/>
            <p14:sldId id="273"/>
            <p14:sldId id="274"/>
            <p14:sldId id="275"/>
          </p14:sldIdLst>
        </p14:section>
        <p14:section name="Idea 2: objective" id="{678f5f32-68e7-3c62-7329-e1d52456153b}">
          <p14:sldIdLst>
            <p14:sldId id="276"/>
            <p14:sldId id="277"/>
            <p14:sldId id="278"/>
          </p14:sldIdLst>
        </p14:section>
        <p14:section name="In production" id="{9d39492b-dbf0-a4b5-bb77-0d433ff841af}">
          <p14:sldIdLst>
            <p14:sldId id="279"/>
            <p14:sldId id="280"/>
            <p14:sldId id="281"/>
            <p14:sldId id="282"/>
            <p14:sldId id="283"/>
          </p14:sldIdLst>
        </p14:section>
        <p14:section name="Predict, then measure" id="{756135de-853b-b606-c8f9-3c2fd475d60c}">
          <p14:sldIdLst>
            <p14:sldId id="284"/>
            <p14:sldId id="285"/>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talk closes the foundational architecture section. We have gone through the maths of nine papers. Today is about what we carry away from that: five ideas that keep coming back, and how to use them to predict how a model will behave, what it will cost and where it will break. Two companion files: the summary page has every detail and number from this talk, and the Papers Atlas is the interactive family tree of the papers. Both are linked on this slide and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Understanding means you can explain and rebuild a mechanism. Judgment means you can choose one under real constraints and predict the consequence before you see it. You can find a thousand implementations online. What you cannot download is the ability to look at a new design and say what it will do. That is what this talk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goal of the whole exercise, and of the summary page. Before spending a single GPU hour I want to answer three questions about any model: how it will behave, what it will cost, and where it will break. Then I design the cheapest experiment that could prove me wrong. We will end the talk by doing exactly this on a hypothetical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of where we have been. Open the Atlas here if you want to show the tree live: it is the HTML file in the same folder as this deck. Click a node such as GPT-2 or Mamba to show its mechanism card. These nine are the ones we went through in depth. Everything else in the tree, like LLaMA, Swin or Mixtral, is a variation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picture. Each row is a problem every model has to solve. Each dot is a paper giving its own answer to it. Mamba shows up in four rows, which is why it felt like so much to learn. When you read a new paper, find its row first, then ask how its answer differs from the dots already there. That turns a new paper into a diff against something you already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idea comes with one question. These five questions are the take-home. By the end of the talk each one will have a concrete engineering decision attached to it. Order in the talk: Idea 1 with LayerNorm, Idea 5 with GPU memory, Idea 2 with encoders and decoders, then Ideas 3 and 4 through production failures, and finally we put all five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level below the ideas, the same building blocks repeat. Skip connections appear from ResNet to the LSTM cell state. Gating appears from LSTMs to SwiGLU to the MoE router. Store versus recompute is how FlashAttention and Mamba both save memory. Spotting these is the fastest way to read a new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idea: keeping the signal alive through depth. The engineering decision it drives most often is where to put the normalisation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deep network is a long chain. A 10 percent change per layer becomes 97 times after 48 layers, or 0.006 in the other direction. Gradients travel the same chain, so they explode or vanish the same way. ResNet's skip connection fixes this: each block adds its work on top of the stream, so the original input and the gradient both pass through untouched. Without skips, 48 layers with a derivative of 0.5 each gives 0.5 to the 48, which is effectively zero, and the early layers stop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answers to the same question. Post-LN, from the original Transformer and BERT, puts the norm on the stream itself, so the input gets rescaled at every layer. Xiong et al. 2020 showed this makes gradients near the output large at init, which is why it needs learning-rate warmup. Pre-LN, from GPT-2 on, moves the norm inside the branch, so the stream stays clean. The catch: nothing ever rescales the stream, so its norm grows with depth, deep layers do less, and huge activations can cause loss spikes. Peri-LN, used in Gemma 2 and 3, also normalises each block's output before the add. My recommendation: Pre-LN with RMSNorm by default, Peri-LN output norm and QK-norm if you see spikes.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I mean by syncing the papers to the ideas. Four papers, four different mechanisms, one shared problem: keep the scale sane. The scaled dot product is the one people forget: a dot product of two d_k dimensional vectors has variance around d_k, so without dividing by root d_k the softmax becomes nearly one-hot and its gradients vanish.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Idea 1 becomes something you do on Monday. When a run diverges or stalls, check scale first. Each failure shows up in per-layer norms before the loss curve looks bad. The two questions on the right predict how a new architecture will train before you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5. Capability is bought with FLOPs and bytes. The trap is to count only FLOPs. On a GPU, the bytes you move are often the real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GPU has two memories. HBM is big and off-chip, 80 GB on an H100, and holds weights, activations and the KV cache. SRAM is tiny and on-chip, next to the compute units. Everything has to be read from HBM into SRAM to be computed on. Divide compute by bandwidth and you get about 295. That gives a one-number test called arithmetic intensity: FLOPs divided by bytes moved. Above 295, you are compute-bound. Below, the GPU is idle waiting for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roofline. Find your op's intensity on the x-axis: the line above it is the fastest it can ever run. Elementwise ops and batch-1 decode sit far left, memory-bound. A big training matmul sits on the flat compute roof. Notice that batching slides the decode dot to the right: read the weights once, use them for 32 tokens. You rarely need an exact number; a rough guess like each weight is used once per token, so about one FLOP per byte,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Idea 5 as arithmetic. Each new token is one forward pass that reads every weight once. 13.5 gigabytes divided by 3.35 terabytes per second gives a ceiling of about 250 tokens per second. Compute barely matters: 13.5 GFLOPs per token is nothing for this chip. So quantising to int4 gives up to 4x, and batching 32 requests gives close to 32x throughput, until KV cache reads or compute take over. That is exactly what continuous batching in vLLM exploits. It also explains why prefill feels different: prefill is a big parallel matmul, compute-bound, and sets time to first token. Decode is memory-bound and sets tokens per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attention runs three kernels. The N by N score matrix S and the probability matrix P are written to HBM and read back. At N equals 8192 that is 67 million scores per head, about 134 megabytes in FP16, for every head in every layer. FlashAttention fuses everything into one kernel, works in tiles that fit in SRAM, and writes only the output O. In the backward pass it recomputes the scores instead of storing them: more FLOPs, far fewer bytes, faster overall. Note what it does not change: what attention remembers. That is Idea 4, coming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numbers. One row of scores, 1 2 3 4, processed in two blocks. Block one: max is 2, sum is 1.368. Block two: the max becomes 4, so we rescale the old sum by e to the minus 2 and add the new terms. We get 1.553, exactly the same as summing the whole row at once. Only m and l travel between blocks. This is the mathematical idea in the paper; the tiling is the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Mamba's selective state space model keeps a state of size N per channel, so the expanded state is N times bigger than the input. At length 2048, 4096 channels and N equals 16 that is about 268 megabytes per layer if you write it to HBM. Because delta, B and C depend on the input, Mamba can't use S4's convolution shortcut, so it must run a scan. The fused kernel loads the small inputs, runs the parallel scan in SRAM, writes only the output y, and recomputes the states in the backward pass. Same pattern as FlashAttention.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FlashAttention and Mamba followed the same six steps. Find the slow op and check it is memory-bound. Find the tensor that is much bigger than inputs and outputs. Then the hard part: rewrite the maths so partial results combine exactly. Fuse into one kernel, recompute in the backward pass, and check against a simple reference. Day to day you will rarely write a kernel, but you will decide batch size, quantisation, the attention backend, and why MFU is low, and this recipe explains all of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2. The architecture decides what a model can represent. The loss decides what it actually learns to do. BERT and GPT-2 use almost the same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attention maths is identical in BERT and GPT. The only difference is the mask. In a causal model, the hidden state for bank is built before river is visible, so it can't tell a riverbank from a money bank. In an encoder, bank attends to river directly. A decoder can still classify by reading the last token, which has seen everything, but every earlier position only saw its left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practical rule as a table. For classification or retrieval at millions of items, a fine-tuned encoder of 100 to 400 million parameters is cheap and strong. Many of the strongest embedding models now come from decoder LLMs: more accurate, but tens of times more expensive per item, so measure whether you need the gain. On the right, the objective predicting behaviour: hallucination is exactly what next-token loss rewards, and a base model doesn't follow instructions until it is instruction-tuned.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payoff in production. If you know the design choice behind a failure, you can predict it before a user files a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production symptoms, each tied to one idea. The first two rows are Idea 4, how the model remembers context. Lost in the Middle is Liu et al. 2023. Hallucination and the Reversal Curse, Berglund et al. 2023, are Idea 2, the objective. Letter counting and small-data failure are Idea 3, built-in assumptions: BPE decides the model never sees single characters. The last two are Idea 5: the same compute per token regardless of difficulty, and memory-bound decoding. Ideas 3 and 4 don't have their own section yet, so the next two slides cover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4. Attention keeps K and V for every past token. Lookup is exact, but prefill is quadratic, the cache grows with every token, and every decode step reads all of it. Mamba compresses history into a fixed-size state: constant cost per step at any length, but lossy, so weaker at exact copying and recall. Hybrids like Jamba use mostly Mamba layers plus a few attention layers for exact recall. FlashAttention doesn't change any of this; it only computes attention more efficiently.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3. Every architecture assumes something. When it's right, it saves data; with lots of data it becomes a ceiling. ResNet versus ViT is the classic example. The last point matters for reading papers: ConvNeXt showed that a ResNet with a modern training recipe and design tweaks can match Swin. So before you believe an architecture win, check the training recipes were equal.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Ideas 5 and 4 in numbers. Before anyone writes code, someone asks: will it fit, and what will it cost? Six estimates. Training compute 6ND: Llama-2-7B gives 8.1 times 10 to the 22, and Meta's reported 184,320 A100 hours works out to 39 percent MFU, which is normal, so the formula holds. If you're off by 10x you've missed a term. KV cache: 2 times layers times KV heads times head dim times bytes. The MoE caveat: it is only cheap per token when the batch keeps all experts busy.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use all five ideas at once on a paper we have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Name the idea the paper answers. Predict its cost, behaviour and failure modes. Design the cheapest test that could prove you wrong. Measure and compare. The key habit is writing the prediction down first. Otherwise every result looks obvious in hindsight.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hypothetical paper, not a real one. Name: the architecture is an answer to Idea 4, the speed claim is Idea 5. Predict: decode is memory-bound, so at 64K the Transformer reads a huge KV cache every step and a fixed state wins big; at 2K the cache is small next to the weights, so expect little speedup. A fixed state is lossy, so expect similar perplexity but weaker exact recall. Check the recipe was equal, Idea 3, and ask what keeps the state bounded at depth, Idea 1. Test: three cheap experiments. Measure: if the speedup only shows past about 16K and recall drops with length, the five ideas predicted the paper. If recall holds, that's genuinely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talk in five questions. Run through them in five minutes before reading a paper's experiments section. Everything here, with all numbers, code and sources, is on the summary page. The Atlas has the family tree.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418320" cy="8686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From understanding to judgment</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roksana-mirzaei/AI_Researcher_Learning_Path/blob/main/essentials/Foundational_Architecture_and_Representation_Learning/MathSummary.md" TargetMode="External"/><Relationship Id="rId2" Type="http://schemas.openxmlformats.org/officeDocument/2006/relationships/hyperlink" Target="Foundation_Papers_Atlas.html" TargetMode="External"/><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Foundation_Papers_Atlas.html" TargetMode="Externa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github.com/roksana-mirzaei/AI_Researcher_Learning_Path/blob/main/essentials/Foundational_Architecture_and_Representation_Learning/MathSummary.md#the-map-five-ideas-under-nine-papers" TargetMode="External"/><Relationship Id="rId1"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github.com/roksana-mirzaei/AI_Researcher_Learning_Path/blob/main/essentials/Foundational_Architecture_and_Representation_Learning/MathSummary.md#1-idea-1-in-practice-where-to-put-layernorm" TargetMode="Externa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roksana-mirzaei/AI_Researcher_Learning_Path/blob/main/essentials/Foundational_Architecture_and_Representation_Learning/MathSummary.md#1-idea-1-in-practice-where-to-put-layernorm" TargetMode="External"/><Relationship Id="rId1"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roksana-mirzaei/AI_Researcher_Learning_Path/blob/main/essentials/Foundational_Architecture_and_Representation_Learning/MathSummary.md#1-idea-1-in-practice-where-to-put-layernorm" TargetMode="Externa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github.com/roksana-mirzaei/AI_Researcher_Learning_Path/blob/main/essentials/Foundational_Architecture_and_Representation_Learning/MathSummary.md#2-idea-5-in-practice-hbm-vs-sram"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hyperlink" Target="https://github.com/roksana-mirzaei/AI_Researcher_Learning_Path/blob/main/essentials/Foundational_Architecture_and_Representation_Learning/MathSummary.md#2-idea-5-in-practice-hbm-vs-sram" TargetMode="External"/><Relationship Id="rId1" Type="http://schemas.openxmlformats.org/officeDocument/2006/relationships/image" Target="../media/image-15-1.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github.com/roksana-mirzaei/AI_Researcher_Learning_Path/blob/main/essentials/Foundational_Architecture_and_Representation_Learning/MathSummary.md#2-idea-5-in-practice-hbm-vs-sram" TargetMode="Externa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hyperlink" Target="https://github.com/roksana-mirzaei/AI_Researcher_Learning_Path/blob/main/essentials/Foundational_Architecture_and_Representation_Learning/MathSummary.md#2-idea-5-in-practice-hbm-vs-sram" TargetMode="External"/><Relationship Id="rId1" Type="http://schemas.openxmlformats.org/officeDocument/2006/relationships/image" Target="../media/image-17-1.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roksana-mirzaei/AI_Researcher_Learning_Path/blob/main/essentials/Foundational_Architecture_and_Representation_Learning/MathSummary.md#2-idea-5-in-practice-hbm-vs-sram" TargetMode="External"/><Relationship Id="rId1" Type="http://schemas.openxmlformats.org/officeDocument/2006/relationships/image" Target="../media/image-18-1.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hyperlink" Target="https://github.com/roksana-mirzaei/AI_Researcher_Learning_Path/blob/main/essentials/Foundational_Architecture_and_Representation_Learning/MathSummary.md#2-idea-5-in-practice-hbm-vs-sram" TargetMode="External"/><Relationship Id="rId1" Type="http://schemas.openxmlformats.org/officeDocument/2006/relationships/image" Target="../media/image-19-1.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github.com/roksana-mirzaei/AI_Researcher_Learning_Path/blob/main/essentials/Foundational_Architecture_and_Representation_Learning/MathSummary.md#2-idea-5-in-practice-hbm-vs-sram" TargetMode="Externa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hyperlink" Target="https://github.com/roksana-mirzaei/AI_Researcher_Learning_Path/blob/main/essentials/Foundational_Architecture_and_Representation_Learning/MathSummary.md#3-idea-2-in-practice-bidirectional-vs-causal" TargetMode="External"/><Relationship Id="rId1" Type="http://schemas.openxmlformats.org/officeDocument/2006/relationships/image" Target="../media/image-22-1.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github.com/roksana-mirzaei/AI_Researcher_Learning_Path/blob/main/essentials/Foundational_Architecture_and_Representation_Learning/MathSummary.md#3-idea-2-in-practice-bidirectional-vs-causal" TargetMode="External"/><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github.com/roksana-mirzaei/AI_Researcher_Learning_Path/blob/main/essentials/Foundational_Architecture_and_Representation_Learning/MathSummary.md#4-ideas-2-to-5-in-production-the-transformers-limits" TargetMode="External"/><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2" Type="http://schemas.openxmlformats.org/officeDocument/2006/relationships/hyperlink" Target="https://github.com/roksana-mirzaei/AI_Researcher_Learning_Path/blob/main/essentials/Foundational_Architecture_and_Representation_Learning/MathSummary.md#idea-4-how-a-model-remembers-context" TargetMode="External"/><Relationship Id="rId1" Type="http://schemas.openxmlformats.org/officeDocument/2006/relationships/image" Target="../media/image-26-1.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github.com/roksana-mirzaei/AI_Researcher_Learning_Path/blob/main/essentials/Foundational_Architecture_and_Representation_Learning/MathSummary.md#idea-3-built-in-assumptions-vs-data" TargetMode="External"/><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github.com/roksana-mirzaei/AI_Researcher_Learning_Path/blob/main/essentials/Foundational_Architecture_and_Representation_Learning/MathSummary.md#5-idea-5-and-4-in-numbers-back-of-the-envelope-estimates" TargetMode="External"/><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2" Type="http://schemas.openxmlformats.org/officeDocument/2006/relationships/hyperlink" Target="https://github.com/roksana-mirzaei/AI_Researcher_Learning_Path/blob/main/essentials/Foundational_Architecture_and_Representation_Learning/MathSummary.md#6-putting-it-together-predict-then-measure" TargetMode="External"/><Relationship Id="rId1" Type="http://schemas.openxmlformats.org/officeDocument/2006/relationships/image" Target="../media/image-30-1.pn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github.com/roksana-mirzaei/AI_Researcher_Learning_Path/blob/main/essentials/Foundational_Architecture_and_Representation_Learning/MathSummary.md#6-putting-it-together-predict-then-measure" TargetMode="External"/><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github.com/roksana-mirzaei/AI_Researcher_Learning_Path/blob/main/essentials/Foundational_Architecture_and_Representation_Learning/MathSummary.md" TargetMode="External"/><Relationship Id="rId2" Type="http://schemas.openxmlformats.org/officeDocument/2006/relationships/hyperlink" Target="Foundation_Papers_Atlas.html" TargetMode="External"/><Relationship Id="rId3" Type="http://schemas.openxmlformats.org/officeDocument/2006/relationships/slideLayout" Target="../slideLayouts/slideLayout3.xml"/><Relationship Id="rId4"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280160"/>
            <a:ext cx="8229600" cy="365760"/>
          </a:xfrm>
          <a:prstGeom prst="rect">
            <a:avLst/>
          </a:prstGeom>
          <a:noFill/>
          <a:ln/>
        </p:spPr>
        <p:txBody>
          <a:bodyPr wrap="square" lIns="0" tIns="0" rIns="0" bIns="0" rtlCol="0" anchor="ctr"/>
          <a:lstStyle/>
          <a:p>
            <a:pPr indent="0" marL="0">
              <a:buNone/>
            </a:pPr>
            <a:r>
              <a:rPr lang="en-US" sz="1400" b="1" spc="300" kern="0" dirty="0">
                <a:solidFill>
                  <a:schemeClr val="accent6"/>
                </a:solidFill>
              </a:rPr>
              <a:t>FOUNDATIONAL ARCHITECTURE &amp; REPRESENTATION LEARNING</a:t>
            </a:r>
            <a:endParaRPr lang="en-US" sz="1400" dirty="0"/>
          </a:p>
        </p:txBody>
      </p:sp>
      <p:sp>
        <p:nvSpPr>
          <p:cNvPr id="3" name="Text 1"/>
          <p:cNvSpPr txBox="1"/>
          <p:nvPr/>
        </p:nvSpPr>
        <p:spPr>
          <a:xfrm>
            <a:off x="548640" y="1737360"/>
            <a:ext cx="7498080" cy="1737360"/>
          </a:xfrm>
          <a:prstGeom prst="rect">
            <a:avLst/>
          </a:prstGeom>
          <a:noFill/>
          <a:ln/>
        </p:spPr>
        <p:txBody>
          <a:bodyPr wrap="square" lIns="0" tIns="0" rIns="0" bIns="0" rtlCol="0" anchor="t"/>
          <a:lstStyle/>
          <a:p>
            <a:pPr indent="0" marL="0">
              <a:buNone/>
            </a:pPr>
            <a:r>
              <a:rPr lang="en-US" sz="5200" b="1" dirty="0">
                <a:solidFill>
                  <a:schemeClr val="bg1"/>
                </a:solidFill>
                <a:latin typeface="Cambria" pitchFamily="34" charset="0"/>
                <a:ea typeface="Cambria" pitchFamily="34" charset="-122"/>
                <a:cs typeface="Cambria" pitchFamily="34" charset="-120"/>
              </a:rPr>
              <a:t>From understanding to judgment</a:t>
            </a:r>
            <a:endParaRPr lang="en-US" sz="5200" dirty="0"/>
          </a:p>
        </p:txBody>
      </p:sp>
      <p:sp>
        <p:nvSpPr>
          <p:cNvPr id="4" name="Text 2"/>
          <p:cNvSpPr txBox="1"/>
          <p:nvPr/>
        </p:nvSpPr>
        <p:spPr>
          <a:xfrm>
            <a:off x="548640" y="3611880"/>
            <a:ext cx="6949440" cy="822960"/>
          </a:xfrm>
          <a:prstGeom prst="rect">
            <a:avLst/>
          </a:prstGeom>
          <a:noFill/>
          <a:ln/>
        </p:spPr>
        <p:txBody>
          <a:bodyPr wrap="square" lIns="0" tIns="0" rIns="0" bIns="0" rtlCol="0" anchor="t"/>
          <a:lstStyle/>
          <a:p>
            <a:pPr indent="0" marL="0">
              <a:buNone/>
            </a:pPr>
            <a:r>
              <a:rPr lang="en-US" sz="2000" dirty="0">
                <a:solidFill>
                  <a:schemeClr val="bg2"/>
                </a:solidFill>
              </a:rPr>
              <a:t>Nine foundation papers, five ideas, and how to use them to predict a model before you train it</a:t>
            </a:r>
            <a:endParaRPr lang="en-US" sz="2000" dirty="0"/>
          </a:p>
        </p:txBody>
      </p:sp>
      <p:sp>
        <p:nvSpPr>
          <p:cNvPr id="5" name="Text 3"/>
          <p:cNvSpPr txBox="1"/>
          <p:nvPr/>
        </p:nvSpPr>
        <p:spPr>
          <a:xfrm>
            <a:off x="548640" y="4572000"/>
            <a:ext cx="5486400" cy="365760"/>
          </a:xfrm>
          <a:prstGeom prst="rect">
            <a:avLst/>
          </a:prstGeom>
          <a:noFill/>
          <a:ln/>
        </p:spPr>
        <p:txBody>
          <a:bodyPr wrap="square" lIns="0" tIns="0" rIns="0" bIns="0" rtlCol="0" anchor="ctr"/>
          <a:lstStyle/>
          <a:p>
            <a:pPr indent="0" marL="0">
              <a:buNone/>
            </a:pPr>
            <a:r>
              <a:rPr lang="en-US" sz="1400" dirty="0">
                <a:solidFill>
                  <a:schemeClr val="bg2"/>
                </a:solidFill>
              </a:rPr>
              <a:t>Roksana Mirzaei  ·  October 2026</a:t>
            </a:r>
            <a:endParaRPr lang="en-US" sz="1400" dirty="0"/>
          </a:p>
        </p:txBody>
      </p:sp>
      <p:sp>
        <p:nvSpPr>
          <p:cNvPr id="6" name="Link button"/>
          <p:cNvSpPr/>
          <p:nvPr/>
        </p:nvSpPr>
        <p:spPr>
          <a:xfrm>
            <a:off x="548640" y="5257800"/>
            <a:ext cx="3017520" cy="457200"/>
          </a:xfrm>
          <a:prstGeom prst="roundRect">
            <a:avLst>
              <a:gd name="adj" fmla="val 50000"/>
            </a:avLst>
          </a:prstGeom>
          <a:solidFill>
            <a:schemeClr val="bg1"/>
          </a:solidFill>
          <a:ln/>
        </p:spPr>
      </p:sp>
      <p:sp>
        <p:nvSpPr>
          <p:cNvPr id="7" name="Text 5"/>
          <p:cNvSpPr txBox="1"/>
          <p:nvPr/>
        </p:nvSpPr>
        <p:spPr>
          <a:xfrm>
            <a:off x="548640" y="5257800"/>
            <a:ext cx="3017520" cy="457200"/>
          </a:xfrm>
          <a:prstGeom prst="rect">
            <a:avLst/>
          </a:prstGeom>
          <a:noFill/>
          <a:ln/>
        </p:spPr>
        <p:txBody>
          <a:bodyPr wrap="square" lIns="0" tIns="0" rIns="0" bIns="0" rtlCol="0" anchor="ctr"/>
          <a:lstStyle/>
          <a:p>
            <a:pPr algn="ctr" indent="0" marL="0">
              <a:buNone/>
            </a:pPr>
            <a:r>
              <a:rPr lang="en-US" sz="1400" b="1" u="sng" dirty="0">
                <a:solidFill>
                  <a:srgbClr val="000000"/>
                </a:solidFill>
                <a:hlinkClick r:id="rId1" invalidUrl="" action="" tgtFrame="" tooltip="https://github.com/roksana-mirzaei/AI_Researcher_Learning_Path/blob/main/essentials/Foundational_Architecture_and_Representation_Learning/MathSummary.md" history="1" highlightClick="0" endSnd="0">
                  <a:extLst>
                    <a:ext uri="{A12FA001-AC4F-418D-AE19-62706E023703}">
                      <ahyp:hlinkClr xmlns:ahyp="http://schemas.microsoft.com/office/drawing/2018/hyperlinkcolor" val="tx"/>
                    </a:ext>
                  </a:extLst>
                </a:hlinkClick>
              </a:rPr>
              <a:t>Read the summary page ↗</a:t>
            </a:r>
            <a:endParaRPr lang="en-US" sz="1400" dirty="0"/>
          </a:p>
        </p:txBody>
      </p:sp>
      <p:sp>
        <p:nvSpPr>
          <p:cNvPr id="8" name="Link button"/>
          <p:cNvSpPr/>
          <p:nvPr/>
        </p:nvSpPr>
        <p:spPr>
          <a:xfrm>
            <a:off x="3749040" y="5257800"/>
            <a:ext cx="3017520" cy="457200"/>
          </a:xfrm>
          <a:prstGeom prst="roundRect">
            <a:avLst>
              <a:gd name="adj" fmla="val 50000"/>
            </a:avLst>
          </a:prstGeom>
          <a:solidFill>
            <a:schemeClr val="bg1"/>
          </a:solidFill>
          <a:ln/>
        </p:spPr>
      </p:sp>
      <p:sp>
        <p:nvSpPr>
          <p:cNvPr id="9" name="Text 7"/>
          <p:cNvSpPr txBox="1"/>
          <p:nvPr/>
        </p:nvSpPr>
        <p:spPr>
          <a:xfrm>
            <a:off x="3749040" y="5257800"/>
            <a:ext cx="3017520" cy="457200"/>
          </a:xfrm>
          <a:prstGeom prst="rect">
            <a:avLst/>
          </a:prstGeom>
          <a:noFill/>
          <a:ln/>
        </p:spPr>
        <p:txBody>
          <a:bodyPr wrap="square" lIns="0" tIns="0" rIns="0" bIns="0" rtlCol="0" anchor="ctr"/>
          <a:lstStyle/>
          <a:p>
            <a:pPr algn="ctr" indent="0" marL="0">
              <a:buNone/>
            </a:pPr>
            <a:r>
              <a:rPr lang="en-US" sz="1400" b="1" u="sng" dirty="0">
                <a:solidFill>
                  <a:srgbClr val="000000"/>
                </a:solidFill>
                <a:hlinkClick r:id="rId2" invalidUrl="" action="" tgtFrame="" tooltip="Foundation_Papers_Atlas.html" history="1" highlightClick="0" endSnd="0">
                  <a:extLst>
                    <a:ext uri="{A12FA001-AC4F-418D-AE19-62706E023703}">
                      <ahyp:hlinkClr xmlns:ahyp="http://schemas.microsoft.com/office/drawing/2018/hyperlinkcolor" val="tx"/>
                    </a:ext>
                  </a:extLst>
                </a:hlinkClick>
              </a:rPr>
              <a:t>Open the Papers Atlas ↗</a:t>
            </a:r>
            <a:endParaRPr lang="en-US" sz="1400" dirty="0"/>
          </a:p>
        </p:txBody>
      </p:sp>
      <p:sp>
        <p:nvSpPr>
          <p:cNvPr id="10" name="Number circle"/>
          <p:cNvSpPr/>
          <p:nvPr/>
        </p:nvSpPr>
        <p:spPr>
          <a:xfrm>
            <a:off x="8961120" y="1463040"/>
            <a:ext cx="1143000" cy="1143000"/>
          </a:xfrm>
          <a:prstGeom prst="ellipse">
            <a:avLst/>
          </a:prstGeom>
          <a:solidFill>
            <a:schemeClr val="accent1"/>
          </a:solidFill>
          <a:ln/>
        </p:spPr>
      </p:sp>
      <p:sp>
        <p:nvSpPr>
          <p:cNvPr id="11" name="Text 9"/>
          <p:cNvSpPr txBox="1"/>
          <p:nvPr/>
        </p:nvSpPr>
        <p:spPr>
          <a:xfrm>
            <a:off x="8961120" y="1463040"/>
            <a:ext cx="1143000" cy="1143000"/>
          </a:xfrm>
          <a:prstGeom prst="rect">
            <a:avLst/>
          </a:prstGeom>
          <a:noFill/>
          <a:ln/>
        </p:spPr>
        <p:txBody>
          <a:bodyPr wrap="square" lIns="0" tIns="0" rIns="0" bIns="0" rtlCol="0" anchor="ctr"/>
          <a:lstStyle/>
          <a:p>
            <a:pPr algn="ctr" indent="0" marL="0">
              <a:buNone/>
            </a:pPr>
            <a:r>
              <a:rPr lang="en-US" sz="4000" b="1" dirty="0">
                <a:solidFill>
                  <a:schemeClr val="bg1"/>
                </a:solidFill>
              </a:rPr>
              <a:t>1</a:t>
            </a:r>
            <a:endParaRPr lang="en-US" sz="4000" dirty="0"/>
          </a:p>
        </p:txBody>
      </p:sp>
      <p:sp>
        <p:nvSpPr>
          <p:cNvPr id="12" name="Number circle"/>
          <p:cNvSpPr/>
          <p:nvPr/>
        </p:nvSpPr>
        <p:spPr>
          <a:xfrm>
            <a:off x="10378440" y="1463040"/>
            <a:ext cx="1143000" cy="1143000"/>
          </a:xfrm>
          <a:prstGeom prst="ellipse">
            <a:avLst/>
          </a:prstGeom>
          <a:solidFill>
            <a:schemeClr val="accent2"/>
          </a:solidFill>
          <a:ln/>
        </p:spPr>
      </p:sp>
      <p:sp>
        <p:nvSpPr>
          <p:cNvPr id="13" name="Text 11"/>
          <p:cNvSpPr txBox="1"/>
          <p:nvPr/>
        </p:nvSpPr>
        <p:spPr>
          <a:xfrm>
            <a:off x="10378440" y="1463040"/>
            <a:ext cx="1143000" cy="1143000"/>
          </a:xfrm>
          <a:prstGeom prst="rect">
            <a:avLst/>
          </a:prstGeom>
          <a:noFill/>
          <a:ln/>
        </p:spPr>
        <p:txBody>
          <a:bodyPr wrap="square" lIns="0" tIns="0" rIns="0" bIns="0" rtlCol="0" anchor="ctr"/>
          <a:lstStyle/>
          <a:p>
            <a:pPr algn="ctr" indent="0" marL="0">
              <a:buNone/>
            </a:pPr>
            <a:r>
              <a:rPr lang="en-US" sz="4000" b="1" dirty="0">
                <a:solidFill>
                  <a:schemeClr val="bg1"/>
                </a:solidFill>
              </a:rPr>
              <a:t>2</a:t>
            </a:r>
            <a:endParaRPr lang="en-US" sz="4000" dirty="0"/>
          </a:p>
        </p:txBody>
      </p:sp>
      <p:sp>
        <p:nvSpPr>
          <p:cNvPr id="14" name="Number circle"/>
          <p:cNvSpPr/>
          <p:nvPr/>
        </p:nvSpPr>
        <p:spPr>
          <a:xfrm>
            <a:off x="8961120" y="2880360"/>
            <a:ext cx="1143000" cy="1143000"/>
          </a:xfrm>
          <a:prstGeom prst="ellipse">
            <a:avLst/>
          </a:prstGeom>
          <a:solidFill>
            <a:schemeClr val="accent3"/>
          </a:solidFill>
          <a:ln/>
        </p:spPr>
      </p:sp>
      <p:sp>
        <p:nvSpPr>
          <p:cNvPr id="15" name="Text 13"/>
          <p:cNvSpPr txBox="1"/>
          <p:nvPr/>
        </p:nvSpPr>
        <p:spPr>
          <a:xfrm>
            <a:off x="8961120" y="2880360"/>
            <a:ext cx="1143000" cy="1143000"/>
          </a:xfrm>
          <a:prstGeom prst="rect">
            <a:avLst/>
          </a:prstGeom>
          <a:noFill/>
          <a:ln/>
        </p:spPr>
        <p:txBody>
          <a:bodyPr wrap="square" lIns="0" tIns="0" rIns="0" bIns="0" rtlCol="0" anchor="ctr"/>
          <a:lstStyle/>
          <a:p>
            <a:pPr algn="ctr" indent="0" marL="0">
              <a:buNone/>
            </a:pPr>
            <a:r>
              <a:rPr lang="en-US" sz="4000" b="1" dirty="0">
                <a:solidFill>
                  <a:schemeClr val="bg1"/>
                </a:solidFill>
              </a:rPr>
              <a:t>3</a:t>
            </a:r>
            <a:endParaRPr lang="en-US" sz="4000" dirty="0"/>
          </a:p>
        </p:txBody>
      </p:sp>
      <p:sp>
        <p:nvSpPr>
          <p:cNvPr id="16" name="Number circle"/>
          <p:cNvSpPr/>
          <p:nvPr/>
        </p:nvSpPr>
        <p:spPr>
          <a:xfrm>
            <a:off x="10378440" y="2880360"/>
            <a:ext cx="1143000" cy="1143000"/>
          </a:xfrm>
          <a:prstGeom prst="ellipse">
            <a:avLst/>
          </a:prstGeom>
          <a:solidFill>
            <a:schemeClr val="accent4"/>
          </a:solidFill>
          <a:ln/>
        </p:spPr>
      </p:sp>
      <p:sp>
        <p:nvSpPr>
          <p:cNvPr id="17" name="Text 15"/>
          <p:cNvSpPr txBox="1"/>
          <p:nvPr/>
        </p:nvSpPr>
        <p:spPr>
          <a:xfrm>
            <a:off x="10378440" y="2880360"/>
            <a:ext cx="1143000" cy="1143000"/>
          </a:xfrm>
          <a:prstGeom prst="rect">
            <a:avLst/>
          </a:prstGeom>
          <a:noFill/>
          <a:ln/>
        </p:spPr>
        <p:txBody>
          <a:bodyPr wrap="square" lIns="0" tIns="0" rIns="0" bIns="0" rtlCol="0" anchor="ctr"/>
          <a:lstStyle/>
          <a:p>
            <a:pPr algn="ctr" indent="0" marL="0">
              <a:buNone/>
            </a:pPr>
            <a:r>
              <a:rPr lang="en-US" sz="4000" b="1" dirty="0">
                <a:solidFill>
                  <a:schemeClr val="bg1"/>
                </a:solidFill>
              </a:rPr>
              <a:t>4</a:t>
            </a:r>
            <a:endParaRPr lang="en-US" sz="4000" dirty="0"/>
          </a:p>
        </p:txBody>
      </p:sp>
      <p:sp>
        <p:nvSpPr>
          <p:cNvPr id="18" name="Number circle"/>
          <p:cNvSpPr/>
          <p:nvPr/>
        </p:nvSpPr>
        <p:spPr>
          <a:xfrm>
            <a:off x="9674352" y="4297680"/>
            <a:ext cx="1143000" cy="1143000"/>
          </a:xfrm>
          <a:prstGeom prst="ellipse">
            <a:avLst/>
          </a:prstGeom>
          <a:solidFill>
            <a:schemeClr val="accent5"/>
          </a:solidFill>
          <a:ln/>
        </p:spPr>
      </p:sp>
      <p:sp>
        <p:nvSpPr>
          <p:cNvPr id="19" name="Text 17"/>
          <p:cNvSpPr txBox="1"/>
          <p:nvPr/>
        </p:nvSpPr>
        <p:spPr>
          <a:xfrm>
            <a:off x="9674352" y="4297680"/>
            <a:ext cx="1143000" cy="1143000"/>
          </a:xfrm>
          <a:prstGeom prst="rect">
            <a:avLst/>
          </a:prstGeom>
          <a:noFill/>
          <a:ln/>
        </p:spPr>
        <p:txBody>
          <a:bodyPr wrap="square" lIns="0" tIns="0" rIns="0" bIns="0" rtlCol="0" anchor="ctr"/>
          <a:lstStyle/>
          <a:p>
            <a:pPr algn="ctr" indent="0" marL="0">
              <a:buNone/>
            </a:pPr>
            <a:r>
              <a:rPr lang="en-US" sz="4000" b="1" dirty="0">
                <a:solidFill>
                  <a:schemeClr val="bg1"/>
                </a:solidFill>
              </a:rPr>
              <a:t>5</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418320" cy="868680"/>
          </a:xfrm>
          <a:prstGeom prst="rect">
            <a:avLst/>
          </a:prstGeom>
          <a:noFill/>
          <a:ln/>
        </p:spPr>
        <p:txBody>
          <a:bodyPr wrap="square" lIns="0" tIns="0" rIns="0" bIns="0" rtlCol="0" anchor="ctr"/>
          <a:lstStyle/>
          <a:p>
            <a:pPr algn="l" indent="0" marL="0">
              <a:buNone/>
            </a:pPr>
            <a:r>
              <a:rPr lang="en-US" sz="3000" b="1" dirty="0">
                <a:solidFill>
                  <a:schemeClr val="tx1"/>
                </a:solidFill>
              </a:rPr>
              <a:t>We learned the math. So what?</a:t>
            </a:r>
            <a:endParaRPr lang="en-US" sz="3000" dirty="0"/>
          </a:p>
        </p:txBody>
      </p:sp>
      <p:sp>
        <p:nvSpPr>
          <p:cNvPr id="3" name="Card"/>
          <p:cNvSpPr/>
          <p:nvPr/>
        </p:nvSpPr>
        <p:spPr>
          <a:xfrm>
            <a:off x="548640" y="1508760"/>
            <a:ext cx="5120640" cy="3566160"/>
          </a:xfrm>
          <a:prstGeom prst="roundRect">
            <a:avLst>
              <a:gd name="adj" fmla="val 3077"/>
            </a:avLst>
          </a:prstGeom>
          <a:solidFill>
            <a:schemeClr val="bg2"/>
          </a:solidFill>
          <a:ln/>
        </p:spPr>
      </p:sp>
      <p:sp>
        <p:nvSpPr>
          <p:cNvPr id="4" name="Card"/>
          <p:cNvSpPr/>
          <p:nvPr/>
        </p:nvSpPr>
        <p:spPr>
          <a:xfrm>
            <a:off x="6519672" y="1508760"/>
            <a:ext cx="5120640" cy="3566160"/>
          </a:xfrm>
          <a:prstGeom prst="roundRect">
            <a:avLst>
              <a:gd name="adj" fmla="val 3077"/>
            </a:avLst>
          </a:prstGeom>
          <a:solidFill>
            <a:schemeClr val="tx1"/>
          </a:solidFill>
          <a:ln/>
        </p:spPr>
      </p:sp>
      <p:sp>
        <p:nvSpPr>
          <p:cNvPr id="5" name="Text 3"/>
          <p:cNvSpPr txBox="1"/>
          <p:nvPr/>
        </p:nvSpPr>
        <p:spPr>
          <a:xfrm>
            <a:off x="914400" y="1783080"/>
            <a:ext cx="4389120" cy="365760"/>
          </a:xfrm>
          <a:prstGeom prst="rect">
            <a:avLst/>
          </a:prstGeom>
          <a:noFill/>
          <a:ln/>
        </p:spPr>
        <p:txBody>
          <a:bodyPr wrap="square" lIns="0" tIns="0" rIns="0" bIns="0" rtlCol="0" anchor="ctr"/>
          <a:lstStyle/>
          <a:p>
            <a:pPr indent="0" marL="0">
              <a:buNone/>
            </a:pPr>
            <a:r>
              <a:rPr lang="en-US" sz="1400" b="1" spc="300" kern="0" dirty="0">
                <a:solidFill>
                  <a:schemeClr val="tx2"/>
                </a:solidFill>
              </a:rPr>
              <a:t>UNDERSTANDING</a:t>
            </a:r>
            <a:endParaRPr lang="en-US" sz="1400" dirty="0"/>
          </a:p>
        </p:txBody>
      </p:sp>
      <p:sp>
        <p:nvSpPr>
          <p:cNvPr id="6" name="Text 4"/>
          <p:cNvSpPr txBox="1"/>
          <p:nvPr/>
        </p:nvSpPr>
        <p:spPr>
          <a:xfrm>
            <a:off x="914400" y="2194560"/>
            <a:ext cx="4389120" cy="91440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Explain and rebuild a mechanism</a:t>
            </a:r>
            <a:endParaRPr lang="en-US" sz="2600" dirty="0"/>
          </a:p>
        </p:txBody>
      </p:sp>
      <p:sp>
        <p:nvSpPr>
          <p:cNvPr id="7" name="Text 5"/>
          <p:cNvSpPr txBox="1"/>
          <p:nvPr/>
        </p:nvSpPr>
        <p:spPr>
          <a:xfrm>
            <a:off x="914400" y="3520440"/>
            <a:ext cx="4389120" cy="1188720"/>
          </a:xfrm>
          <a:prstGeom prst="rect">
            <a:avLst/>
          </a:prstGeom>
          <a:noFill/>
          <a:ln/>
        </p:spPr>
        <p:txBody>
          <a:bodyPr wrap="square" lIns="0" tIns="0" rIns="0" bIns="0" rtlCol="0" anchor="t"/>
          <a:lstStyle/>
          <a:p>
            <a:pPr indent="0" marL="0">
              <a:buNone/>
            </a:pPr>
            <a:r>
              <a:rPr lang="en-US" sz="1600" i="1" dirty="0">
                <a:solidFill>
                  <a:schemeClr val="tx2"/>
                </a:solidFill>
              </a:rPr>
              <a:t>“I can derive online softmax and code FlashAttention's forward pass.”</a:t>
            </a:r>
            <a:endParaRPr lang="en-US" sz="1600" dirty="0"/>
          </a:p>
        </p:txBody>
      </p:sp>
      <p:sp>
        <p:nvSpPr>
          <p:cNvPr id="8" name="Text 6"/>
          <p:cNvSpPr txBox="1"/>
          <p:nvPr/>
        </p:nvSpPr>
        <p:spPr>
          <a:xfrm>
            <a:off x="6885432" y="1783080"/>
            <a:ext cx="4389120" cy="365760"/>
          </a:xfrm>
          <a:prstGeom prst="rect">
            <a:avLst/>
          </a:prstGeom>
          <a:noFill/>
          <a:ln/>
        </p:spPr>
        <p:txBody>
          <a:bodyPr wrap="square" lIns="0" tIns="0" rIns="0" bIns="0" rtlCol="0" anchor="ctr"/>
          <a:lstStyle/>
          <a:p>
            <a:pPr indent="0" marL="0">
              <a:buNone/>
            </a:pPr>
            <a:r>
              <a:rPr lang="en-US" sz="1400" b="1" spc="300" kern="0" dirty="0">
                <a:solidFill>
                  <a:schemeClr val="accent6"/>
                </a:solidFill>
              </a:rPr>
              <a:t>JUDGMENT</a:t>
            </a:r>
            <a:endParaRPr lang="en-US" sz="1400" dirty="0"/>
          </a:p>
        </p:txBody>
      </p:sp>
      <p:sp>
        <p:nvSpPr>
          <p:cNvPr id="9" name="Text 7"/>
          <p:cNvSpPr txBox="1"/>
          <p:nvPr/>
        </p:nvSpPr>
        <p:spPr>
          <a:xfrm>
            <a:off x="6885432" y="2194560"/>
            <a:ext cx="4389120" cy="1280160"/>
          </a:xfrm>
          <a:prstGeom prst="rect">
            <a:avLst/>
          </a:prstGeom>
          <a:noFill/>
          <a:ln/>
        </p:spPr>
        <p:txBody>
          <a:bodyPr wrap="square" lIns="0" tIns="0" rIns="0" bIns="0" rtlCol="0" anchor="t"/>
          <a:lstStyle/>
          <a:p>
            <a:pPr indent="0" marL="0">
              <a:buNone/>
            </a:pPr>
            <a:r>
              <a:rPr lang="en-US" sz="2600" b="1" dirty="0">
                <a:solidFill>
                  <a:schemeClr val="bg1"/>
                </a:solidFill>
                <a:latin typeface="Cambria" pitchFamily="34" charset="0"/>
                <a:ea typeface="Cambria" pitchFamily="34" charset="-122"/>
                <a:cs typeface="Cambria" pitchFamily="34" charset="-120"/>
              </a:rPr>
              <a:t>Pick a mechanism under constraints and predict the consequence</a:t>
            </a:r>
            <a:endParaRPr lang="en-US" sz="2600" dirty="0"/>
          </a:p>
        </p:txBody>
      </p:sp>
      <p:sp>
        <p:nvSpPr>
          <p:cNvPr id="10" name="Text 8"/>
          <p:cNvSpPr txBox="1"/>
          <p:nvPr/>
        </p:nvSpPr>
        <p:spPr>
          <a:xfrm>
            <a:off x="6885432" y="3520440"/>
            <a:ext cx="4389120" cy="1188720"/>
          </a:xfrm>
          <a:prstGeom prst="rect">
            <a:avLst/>
          </a:prstGeom>
          <a:noFill/>
          <a:ln/>
        </p:spPr>
        <p:txBody>
          <a:bodyPr wrap="square" lIns="0" tIns="0" rIns="0" bIns="0" rtlCol="0" anchor="t"/>
          <a:lstStyle/>
          <a:p>
            <a:pPr indent="0" marL="0">
              <a:buNone/>
            </a:pPr>
            <a:r>
              <a:rPr lang="en-US" sz="1600" i="1" dirty="0">
                <a:solidFill>
                  <a:schemeClr val="bg2"/>
                </a:solidFill>
              </a:rPr>
              <a:t>“Decode is memory-bound, so batching will help and a GPU with more FLOPs won't.”</a:t>
            </a:r>
            <a:endParaRPr lang="en-US" sz="1600" dirty="0"/>
          </a:p>
        </p:txBody>
      </p:sp>
      <p:sp>
        <p:nvSpPr>
          <p:cNvPr id="11" name="Arrow"/>
          <p:cNvSpPr/>
          <p:nvPr/>
        </p:nvSpPr>
        <p:spPr>
          <a:xfrm>
            <a:off x="5788152" y="3017520"/>
            <a:ext cx="640080" cy="548640"/>
          </a:xfrm>
          <a:prstGeom prst="rightArrow">
            <a:avLst/>
          </a:prstGeom>
          <a:solidFill>
            <a:schemeClr val="accent6"/>
          </a:solidFill>
          <a:ln/>
        </p:spPr>
      </p:sp>
      <p:sp>
        <p:nvSpPr>
          <p:cNvPr id="12" name="Text 10"/>
          <p:cNvSpPr txBox="1"/>
          <p:nvPr/>
        </p:nvSpPr>
        <p:spPr>
          <a:xfrm>
            <a:off x="548640" y="5349240"/>
            <a:ext cx="11064240" cy="731520"/>
          </a:xfrm>
          <a:prstGeom prst="rect">
            <a:avLst/>
          </a:prstGeom>
          <a:noFill/>
          <a:ln/>
        </p:spPr>
        <p:txBody>
          <a:bodyPr wrap="square" lIns="0" tIns="0" rIns="0" bIns="0" rtlCol="0" anchor="t"/>
          <a:lstStyle/>
          <a:p>
            <a:pPr indent="0" marL="0">
              <a:buNone/>
            </a:pPr>
            <a:r>
              <a:rPr lang="en-US" sz="1800" dirty="0">
                <a:solidFill>
                  <a:schemeClr val="tx1"/>
                </a:solidFill>
              </a:rPr>
              <a:t>Implementations are everywhere. Judgment is the missing piece, and it is what separates an engineer from a parrot.</a:t>
            </a:r>
            <a:endParaRPr lang="en-US" sz="18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418320" cy="868680"/>
          </a:xfrm>
          <a:prstGeom prst="rect">
            <a:avLst/>
          </a:prstGeom>
          <a:noFill/>
          <a:ln/>
        </p:spPr>
        <p:txBody>
          <a:bodyPr wrap="square" lIns="0" tIns="0" rIns="0" bIns="0" rtlCol="0" anchor="ctr"/>
          <a:lstStyle/>
          <a:p>
            <a:pPr algn="l" indent="0" marL="0">
              <a:buNone/>
            </a:pPr>
            <a:r>
              <a:rPr lang="en-US" sz="3000" b="1" dirty="0">
                <a:solidFill>
                  <a:schemeClr val="tx1"/>
                </a:solidFill>
              </a:rPr>
              <a:t>The goal: predict before you spend a GPU hour</a:t>
            </a:r>
            <a:endParaRPr lang="en-US" sz="3000" dirty="0"/>
          </a:p>
        </p:txBody>
      </p:sp>
      <p:sp>
        <p:nvSpPr>
          <p:cNvPr id="3" name="Card"/>
          <p:cNvSpPr/>
          <p:nvPr/>
        </p:nvSpPr>
        <p:spPr>
          <a:xfrm>
            <a:off x="548640" y="1600200"/>
            <a:ext cx="2514600" cy="3017520"/>
          </a:xfrm>
          <a:prstGeom prst="roundRect">
            <a:avLst>
              <a:gd name="adj" fmla="val 4364"/>
            </a:avLst>
          </a:prstGeom>
          <a:solidFill>
            <a:schemeClr val="bg2"/>
          </a:solidFill>
          <a:ln/>
        </p:spPr>
      </p:sp>
      <p:sp>
        <p:nvSpPr>
          <p:cNvPr id="4" name="Number circle"/>
          <p:cNvSpPr/>
          <p:nvPr/>
        </p:nvSpPr>
        <p:spPr>
          <a:xfrm>
            <a:off x="868680" y="1874520"/>
            <a:ext cx="548640" cy="548640"/>
          </a:xfrm>
          <a:prstGeom prst="ellipse">
            <a:avLst/>
          </a:prstGeom>
          <a:solidFill>
            <a:schemeClr val="tx1"/>
          </a:solidFill>
          <a:ln/>
        </p:spPr>
      </p:sp>
      <p:sp>
        <p:nvSpPr>
          <p:cNvPr id="5" name="Text 3"/>
          <p:cNvSpPr txBox="1"/>
          <p:nvPr/>
        </p:nvSpPr>
        <p:spPr>
          <a:xfrm>
            <a:off x="868680" y="18745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868680" y="2606040"/>
            <a:ext cx="1920240" cy="82296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How will it behave?</a:t>
            </a:r>
            <a:endParaRPr lang="en-US" sz="2200" dirty="0"/>
          </a:p>
        </p:txBody>
      </p:sp>
      <p:sp>
        <p:nvSpPr>
          <p:cNvPr id="7" name="Text 5"/>
          <p:cNvSpPr txBox="1"/>
          <p:nvPr/>
        </p:nvSpPr>
        <p:spPr>
          <a:xfrm>
            <a:off x="868680" y="3520440"/>
            <a:ext cx="1920240" cy="914400"/>
          </a:xfrm>
          <a:prstGeom prst="rect">
            <a:avLst/>
          </a:prstGeom>
          <a:noFill/>
          <a:ln/>
        </p:spPr>
        <p:txBody>
          <a:bodyPr wrap="square" lIns="0" tIns="0" rIns="0" bIns="0" rtlCol="0" anchor="t"/>
          <a:lstStyle/>
          <a:p>
            <a:pPr indent="0" marL="0">
              <a:buNone/>
            </a:pPr>
            <a:r>
              <a:rPr lang="en-US" sz="1400" dirty="0">
                <a:solidFill>
                  <a:schemeClr val="tx2"/>
                </a:solidFill>
              </a:rPr>
              <a:t>Training stability, what it learns, what it can and can't see</a:t>
            </a:r>
            <a:endParaRPr lang="en-US" sz="1400" dirty="0"/>
          </a:p>
        </p:txBody>
      </p:sp>
      <p:sp>
        <p:nvSpPr>
          <p:cNvPr id="8" name="Card"/>
          <p:cNvSpPr/>
          <p:nvPr/>
        </p:nvSpPr>
        <p:spPr>
          <a:xfrm>
            <a:off x="3246120" y="1600200"/>
            <a:ext cx="2514600" cy="3017520"/>
          </a:xfrm>
          <a:prstGeom prst="roundRect">
            <a:avLst>
              <a:gd name="adj" fmla="val 4364"/>
            </a:avLst>
          </a:prstGeom>
          <a:solidFill>
            <a:schemeClr val="bg2"/>
          </a:solidFill>
          <a:ln/>
        </p:spPr>
      </p:sp>
      <p:sp>
        <p:nvSpPr>
          <p:cNvPr id="9" name="Number circle"/>
          <p:cNvSpPr/>
          <p:nvPr/>
        </p:nvSpPr>
        <p:spPr>
          <a:xfrm>
            <a:off x="3566160" y="1874520"/>
            <a:ext cx="548640" cy="548640"/>
          </a:xfrm>
          <a:prstGeom prst="ellipse">
            <a:avLst/>
          </a:prstGeom>
          <a:solidFill>
            <a:schemeClr val="tx1"/>
          </a:solidFill>
          <a:ln/>
        </p:spPr>
      </p:sp>
      <p:sp>
        <p:nvSpPr>
          <p:cNvPr id="10" name="Text 8"/>
          <p:cNvSpPr txBox="1"/>
          <p:nvPr/>
        </p:nvSpPr>
        <p:spPr>
          <a:xfrm>
            <a:off x="3566160" y="18745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3566160" y="2606040"/>
            <a:ext cx="1920240" cy="82296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What will it cost?</a:t>
            </a:r>
            <a:endParaRPr lang="en-US" sz="2200" dirty="0"/>
          </a:p>
        </p:txBody>
      </p:sp>
      <p:sp>
        <p:nvSpPr>
          <p:cNvPr id="12" name="Text 10"/>
          <p:cNvSpPr txBox="1"/>
          <p:nvPr/>
        </p:nvSpPr>
        <p:spPr>
          <a:xfrm>
            <a:off x="3566160" y="3520440"/>
            <a:ext cx="1920240" cy="914400"/>
          </a:xfrm>
          <a:prstGeom prst="rect">
            <a:avLst/>
          </a:prstGeom>
          <a:noFill/>
          <a:ln/>
        </p:spPr>
        <p:txBody>
          <a:bodyPr wrap="square" lIns="0" tIns="0" rIns="0" bIns="0" rtlCol="0" anchor="t"/>
          <a:lstStyle/>
          <a:p>
            <a:pPr indent="0" marL="0">
              <a:buNone/>
            </a:pPr>
            <a:r>
              <a:rPr lang="en-US" sz="1400" dirty="0">
                <a:solidFill>
                  <a:schemeClr val="tx2"/>
                </a:solidFill>
              </a:rPr>
              <a:t>FLOPs, memory, tokens per second</a:t>
            </a:r>
            <a:endParaRPr lang="en-US" sz="1400" dirty="0"/>
          </a:p>
        </p:txBody>
      </p:sp>
      <p:sp>
        <p:nvSpPr>
          <p:cNvPr id="13" name="Card"/>
          <p:cNvSpPr/>
          <p:nvPr/>
        </p:nvSpPr>
        <p:spPr>
          <a:xfrm>
            <a:off x="5943600" y="1600200"/>
            <a:ext cx="2514600" cy="3017520"/>
          </a:xfrm>
          <a:prstGeom prst="roundRect">
            <a:avLst>
              <a:gd name="adj" fmla="val 4364"/>
            </a:avLst>
          </a:prstGeom>
          <a:solidFill>
            <a:schemeClr val="bg2"/>
          </a:solidFill>
          <a:ln/>
        </p:spPr>
      </p:sp>
      <p:sp>
        <p:nvSpPr>
          <p:cNvPr id="14" name="Number circle"/>
          <p:cNvSpPr/>
          <p:nvPr/>
        </p:nvSpPr>
        <p:spPr>
          <a:xfrm>
            <a:off x="6263640" y="1874520"/>
            <a:ext cx="548640" cy="548640"/>
          </a:xfrm>
          <a:prstGeom prst="ellipse">
            <a:avLst/>
          </a:prstGeom>
          <a:solidFill>
            <a:schemeClr val="tx1"/>
          </a:solidFill>
          <a:ln/>
        </p:spPr>
      </p:sp>
      <p:sp>
        <p:nvSpPr>
          <p:cNvPr id="15" name="Text 13"/>
          <p:cNvSpPr txBox="1"/>
          <p:nvPr/>
        </p:nvSpPr>
        <p:spPr>
          <a:xfrm>
            <a:off x="6263640" y="18745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4"/>
          <p:cNvSpPr txBox="1"/>
          <p:nvPr/>
        </p:nvSpPr>
        <p:spPr>
          <a:xfrm>
            <a:off x="6263640" y="2606040"/>
            <a:ext cx="1920240" cy="82296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Where will it break?</a:t>
            </a:r>
            <a:endParaRPr lang="en-US" sz="2200" dirty="0"/>
          </a:p>
        </p:txBody>
      </p:sp>
      <p:sp>
        <p:nvSpPr>
          <p:cNvPr id="17" name="Text 15"/>
          <p:cNvSpPr txBox="1"/>
          <p:nvPr/>
        </p:nvSpPr>
        <p:spPr>
          <a:xfrm>
            <a:off x="6263640" y="3520440"/>
            <a:ext cx="1920240" cy="914400"/>
          </a:xfrm>
          <a:prstGeom prst="rect">
            <a:avLst/>
          </a:prstGeom>
          <a:noFill/>
          <a:ln/>
        </p:spPr>
        <p:txBody>
          <a:bodyPr wrap="square" lIns="0" tIns="0" rIns="0" bIns="0" rtlCol="0" anchor="t"/>
          <a:lstStyle/>
          <a:p>
            <a:pPr indent="0" marL="0">
              <a:buNone/>
            </a:pPr>
            <a:r>
              <a:rPr lang="en-US" sz="1400" dirty="0">
                <a:solidFill>
                  <a:schemeClr val="tx2"/>
                </a:solidFill>
              </a:rPr>
              <a:t>Long context, small data, scale, production edge cases</a:t>
            </a:r>
            <a:endParaRPr lang="en-US" sz="1400" dirty="0"/>
          </a:p>
        </p:txBody>
      </p:sp>
      <p:sp>
        <p:nvSpPr>
          <p:cNvPr id="18" name="Arrow"/>
          <p:cNvSpPr/>
          <p:nvPr/>
        </p:nvSpPr>
        <p:spPr>
          <a:xfrm>
            <a:off x="8577072" y="2834640"/>
            <a:ext cx="457200" cy="548640"/>
          </a:xfrm>
          <a:prstGeom prst="rightArrow">
            <a:avLst/>
          </a:prstGeom>
          <a:solidFill>
            <a:schemeClr val="accent6"/>
          </a:solidFill>
          <a:ln/>
        </p:spPr>
      </p:sp>
      <p:sp>
        <p:nvSpPr>
          <p:cNvPr id="19" name="Card"/>
          <p:cNvSpPr/>
          <p:nvPr/>
        </p:nvSpPr>
        <p:spPr>
          <a:xfrm>
            <a:off x="9125712" y="1600200"/>
            <a:ext cx="2514600" cy="3017520"/>
          </a:xfrm>
          <a:prstGeom prst="roundRect">
            <a:avLst>
              <a:gd name="adj" fmla="val 4364"/>
            </a:avLst>
          </a:prstGeom>
          <a:solidFill>
            <a:schemeClr val="tx1"/>
          </a:solidFill>
          <a:ln/>
        </p:spPr>
      </p:sp>
      <p:sp>
        <p:nvSpPr>
          <p:cNvPr id="20" name="Text 18"/>
          <p:cNvSpPr txBox="1"/>
          <p:nvPr/>
        </p:nvSpPr>
        <p:spPr>
          <a:xfrm>
            <a:off x="9418320" y="1920240"/>
            <a:ext cx="1965960" cy="237744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Then design the experiment that checks it</a:t>
            </a:r>
            <a:endParaRPr lang="en-US" sz="2000" dirty="0"/>
          </a:p>
        </p:txBody>
      </p:sp>
      <p:sp>
        <p:nvSpPr>
          <p:cNvPr id="21" name="Text 19"/>
          <p:cNvSpPr txBox="1"/>
          <p:nvPr/>
        </p:nvSpPr>
        <p:spPr>
          <a:xfrm>
            <a:off x="548640" y="5120640"/>
            <a:ext cx="11064240" cy="548640"/>
          </a:xfrm>
          <a:prstGeom prst="rect">
            <a:avLst/>
          </a:prstGeom>
          <a:noFill/>
          <a:ln/>
        </p:spPr>
        <p:txBody>
          <a:bodyPr wrap="square" lIns="0" tIns="0" rIns="0" bIns="0" rtlCol="0" anchor="t"/>
          <a:lstStyle/>
          <a:p>
            <a:pPr indent="0" marL="0">
              <a:buNone/>
            </a:pPr>
            <a:r>
              <a:rPr lang="en-US" sz="2000" i="1" dirty="0">
                <a:solidFill>
                  <a:schemeClr val="tx2"/>
                </a:solidFill>
              </a:rPr>
              <a:t>Use research the way an engineer uses physics: to predict, then to measure.</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418320" cy="868680"/>
          </a:xfrm>
          <a:prstGeom prst="rect">
            <a:avLst/>
          </a:prstGeom>
          <a:noFill/>
          <a:ln/>
        </p:spPr>
        <p:txBody>
          <a:bodyPr wrap="square" lIns="0" tIns="0" rIns="0" bIns="0" rtlCol="0" anchor="ctr"/>
          <a:lstStyle/>
          <a:p>
            <a:pPr algn="l" indent="0" marL="0">
              <a:buNone/>
            </a:pPr>
            <a:r>
              <a:rPr lang="en-US" sz="3000" b="1" dirty="0">
                <a:solidFill>
                  <a:schemeClr val="tx1"/>
                </a:solidFill>
              </a:rPr>
              <a:t>Where we've been: the Papers Atlas</a:t>
            </a:r>
            <a:endParaRPr lang="en-US" sz="3000" dirty="0"/>
          </a:p>
        </p:txBody>
      </p:sp>
      <p:sp>
        <p:nvSpPr>
          <p:cNvPr id="3" name="Text 1"/>
          <p:cNvSpPr txBox="1"/>
          <p:nvPr/>
        </p:nvSpPr>
        <p:spPr>
          <a:xfrm>
            <a:off x="548640" y="1508760"/>
            <a:ext cx="4572000" cy="1645920"/>
          </a:xfrm>
          <a:prstGeom prst="rect">
            <a:avLst/>
          </a:prstGeom>
          <a:noFill/>
          <a:ln/>
        </p:spPr>
        <p:txBody>
          <a:bodyPr wrap="square" lIns="0" tIns="0" rIns="0" bIns="0" rtlCol="0" anchor="t"/>
          <a:lstStyle/>
          <a:p>
            <a:pPr indent="0" marL="0">
              <a:buNone/>
            </a:pPr>
            <a:r>
              <a:rPr lang="en-US" sz="1700" dirty="0">
                <a:solidFill>
                  <a:schemeClr val="tx1"/>
                </a:solidFill>
              </a:rPr>
              <a:t>An interactive family tree of the foundation papers. Click any paper to see its mechanism diagram, a worked example and the maths, with arrows showing which idea it inherited.</a:t>
            </a:r>
            <a:endParaRPr lang="en-US" sz="1700" dirty="0"/>
          </a:p>
        </p:txBody>
      </p:sp>
      <p:sp>
        <p:nvSpPr>
          <p:cNvPr id="4" name="Text 2"/>
          <p:cNvSpPr txBox="1"/>
          <p:nvPr/>
        </p:nvSpPr>
        <p:spPr>
          <a:xfrm>
            <a:off x="548640" y="3291840"/>
            <a:ext cx="4572000" cy="731520"/>
          </a:xfrm>
          <a:prstGeom prst="rect">
            <a:avLst/>
          </a:prstGeom>
          <a:noFill/>
          <a:ln/>
        </p:spPr>
        <p:txBody>
          <a:bodyPr wrap="square" lIns="0" tIns="0" rIns="0" bIns="0" rtlCol="0" anchor="t"/>
          <a:lstStyle/>
          <a:p>
            <a:pPr indent="0" marL="0">
              <a:buNone/>
            </a:pPr>
            <a:r>
              <a:rPr lang="en-US" sz="1500" i="1" dirty="0">
                <a:solidFill>
                  <a:schemeClr val="tx2"/>
                </a:solidFill>
              </a:rPr>
              <a:t>Live tip: click GPT-2, then Mamba, and compare their mechanism cards.</a:t>
            </a:r>
            <a:endParaRPr lang="en-US" sz="1500" dirty="0"/>
          </a:p>
        </p:txBody>
      </p:sp>
      <p:sp>
        <p:nvSpPr>
          <p:cNvPr id="5" name="Link button"/>
          <p:cNvSpPr/>
          <p:nvPr/>
        </p:nvSpPr>
        <p:spPr>
          <a:xfrm>
            <a:off x="548640" y="4206240"/>
            <a:ext cx="3108960" cy="457200"/>
          </a:xfrm>
          <a:prstGeom prst="roundRect">
            <a:avLst>
              <a:gd name="adj" fmla="val 50000"/>
            </a:avLst>
          </a:prstGeom>
          <a:solidFill>
            <a:schemeClr val="bg2"/>
          </a:solidFill>
          <a:ln/>
        </p:spPr>
      </p:sp>
      <p:sp>
        <p:nvSpPr>
          <p:cNvPr id="6" name="Text 4"/>
          <p:cNvSpPr txBox="1"/>
          <p:nvPr/>
        </p:nvSpPr>
        <p:spPr>
          <a:xfrm>
            <a:off x="548640" y="4206240"/>
            <a:ext cx="3108960" cy="457200"/>
          </a:xfrm>
          <a:prstGeom prst="rect">
            <a:avLst/>
          </a:prstGeom>
          <a:noFill/>
          <a:ln/>
        </p:spPr>
        <p:txBody>
          <a:bodyPr wrap="square" lIns="0" tIns="0" rIns="0" bIns="0" rtlCol="0" anchor="ctr"/>
          <a:lstStyle/>
          <a:p>
            <a:pPr algn="ctr" indent="0" marL="0">
              <a:buNone/>
            </a:pPr>
            <a:r>
              <a:rPr lang="en-US" sz="1400" b="1" u="sng" dirty="0">
                <a:solidFill>
                  <a:srgbClr val="000000"/>
                </a:solidFill>
                <a:hlinkClick r:id="rId1" invalidUrl="" action="" tgtFrame="" tooltip="Foundation_Papers_Atlas.html" history="1" highlightClick="0" endSnd="0">
                  <a:extLst>
                    <a:ext uri="{A12FA001-AC4F-418D-AE19-62706E023703}">
                      <ahyp:hlinkClr xmlns:ahyp="http://schemas.microsoft.com/office/drawing/2018/hyperlinkcolor" val="tx"/>
                    </a:ext>
                  </a:extLst>
                </a:hlinkClick>
              </a:rPr>
              <a:t>Open the Papers Atlas ↗</a:t>
            </a:r>
            <a:endParaRPr lang="en-US" sz="1400" dirty="0"/>
          </a:p>
        </p:txBody>
      </p:sp>
      <p:sp>
        <p:nvSpPr>
          <p:cNvPr id="7" name="Text 5"/>
          <p:cNvSpPr txBox="1"/>
          <p:nvPr/>
        </p:nvSpPr>
        <p:spPr>
          <a:xfrm>
            <a:off x="5669280" y="1417320"/>
            <a:ext cx="5943600" cy="365760"/>
          </a:xfrm>
          <a:prstGeom prst="rect">
            <a:avLst/>
          </a:prstGeom>
          <a:noFill/>
          <a:ln/>
        </p:spPr>
        <p:txBody>
          <a:bodyPr wrap="square" lIns="0" tIns="0" rIns="0" bIns="0" rtlCol="0" anchor="t"/>
          <a:lstStyle/>
          <a:p>
            <a:pPr indent="0" marL="0">
              <a:buNone/>
            </a:pPr>
            <a:r>
              <a:rPr lang="en-US" sz="1400" b="1" dirty="0">
                <a:solidFill>
                  <a:schemeClr val="tx2"/>
                </a:solidFill>
              </a:rPr>
              <a:t>The nine papers we studied in depth</a:t>
            </a:r>
            <a:endParaRPr lang="en-US" sz="1400" dirty="0"/>
          </a:p>
        </p:txBody>
      </p:sp>
      <p:sp>
        <p:nvSpPr>
          <p:cNvPr id="8" name="Card"/>
          <p:cNvSpPr/>
          <p:nvPr/>
        </p:nvSpPr>
        <p:spPr>
          <a:xfrm>
            <a:off x="5669280" y="1874520"/>
            <a:ext cx="1828800" cy="1051560"/>
          </a:xfrm>
          <a:prstGeom prst="roundRect">
            <a:avLst>
              <a:gd name="adj" fmla="val 10435"/>
            </a:avLst>
          </a:prstGeom>
          <a:solidFill>
            <a:schemeClr val="bg2"/>
          </a:solidFill>
          <a:ln/>
        </p:spPr>
      </p:sp>
      <p:sp>
        <p:nvSpPr>
          <p:cNvPr id="9" name="Text 7"/>
          <p:cNvSpPr txBox="1"/>
          <p:nvPr/>
        </p:nvSpPr>
        <p:spPr>
          <a:xfrm>
            <a:off x="5852160" y="2057400"/>
            <a:ext cx="1554480" cy="411480"/>
          </a:xfrm>
          <a:prstGeom prst="rect">
            <a:avLst/>
          </a:prstGeom>
          <a:noFill/>
          <a:ln/>
        </p:spPr>
        <p:txBody>
          <a:bodyPr wrap="square" lIns="0" tIns="0" rIns="0" bIns="0" rtlCol="0" anchor="ctr"/>
          <a:lstStyle/>
          <a:p>
            <a:pPr indent="0" marL="0">
              <a:buNone/>
            </a:pPr>
            <a:r>
              <a:rPr lang="en-US" sz="1700" b="1" dirty="0">
                <a:solidFill>
                  <a:schemeClr val="tx1"/>
                </a:solidFill>
              </a:rPr>
              <a:t>Transformer</a:t>
            </a:r>
            <a:endParaRPr lang="en-US" sz="1700" dirty="0"/>
          </a:p>
        </p:txBody>
      </p:sp>
      <p:sp>
        <p:nvSpPr>
          <p:cNvPr id="10" name="Text 8"/>
          <p:cNvSpPr txBox="1"/>
          <p:nvPr/>
        </p:nvSpPr>
        <p:spPr>
          <a:xfrm>
            <a:off x="5852160" y="2468880"/>
            <a:ext cx="1554480" cy="274320"/>
          </a:xfrm>
          <a:prstGeom prst="rect">
            <a:avLst/>
          </a:prstGeom>
          <a:noFill/>
          <a:ln/>
        </p:spPr>
        <p:txBody>
          <a:bodyPr wrap="square" lIns="0" tIns="0" rIns="0" bIns="0" rtlCol="0" anchor="ctr"/>
          <a:lstStyle/>
          <a:p>
            <a:pPr indent="0" marL="0">
              <a:buNone/>
            </a:pPr>
            <a:r>
              <a:rPr lang="en-US" sz="1300" dirty="0">
                <a:solidFill>
                  <a:schemeClr val="tx2"/>
                </a:solidFill>
              </a:rPr>
              <a:t>2017</a:t>
            </a:r>
            <a:endParaRPr lang="en-US" sz="1300" dirty="0"/>
          </a:p>
        </p:txBody>
      </p:sp>
      <p:sp>
        <p:nvSpPr>
          <p:cNvPr id="11" name="Card"/>
          <p:cNvSpPr/>
          <p:nvPr/>
        </p:nvSpPr>
        <p:spPr>
          <a:xfrm>
            <a:off x="7680960" y="1874520"/>
            <a:ext cx="1828800" cy="1051560"/>
          </a:xfrm>
          <a:prstGeom prst="roundRect">
            <a:avLst>
              <a:gd name="adj" fmla="val 10435"/>
            </a:avLst>
          </a:prstGeom>
          <a:solidFill>
            <a:schemeClr val="bg2"/>
          </a:solidFill>
          <a:ln/>
        </p:spPr>
      </p:sp>
      <p:sp>
        <p:nvSpPr>
          <p:cNvPr id="12" name="Text 10"/>
          <p:cNvSpPr txBox="1"/>
          <p:nvPr/>
        </p:nvSpPr>
        <p:spPr>
          <a:xfrm>
            <a:off x="7863840" y="2057400"/>
            <a:ext cx="1554480" cy="411480"/>
          </a:xfrm>
          <a:prstGeom prst="rect">
            <a:avLst/>
          </a:prstGeom>
          <a:noFill/>
          <a:ln/>
        </p:spPr>
        <p:txBody>
          <a:bodyPr wrap="square" lIns="0" tIns="0" rIns="0" bIns="0" rtlCol="0" anchor="ctr"/>
          <a:lstStyle/>
          <a:p>
            <a:pPr indent="0" marL="0">
              <a:buNone/>
            </a:pPr>
            <a:r>
              <a:rPr lang="en-US" sz="1700" b="1" dirty="0">
                <a:solidFill>
                  <a:schemeClr val="tx1"/>
                </a:solidFill>
              </a:rPr>
              <a:t>ResNet</a:t>
            </a:r>
            <a:endParaRPr lang="en-US" sz="1700" dirty="0"/>
          </a:p>
        </p:txBody>
      </p:sp>
      <p:sp>
        <p:nvSpPr>
          <p:cNvPr id="13" name="Text 11"/>
          <p:cNvSpPr txBox="1"/>
          <p:nvPr/>
        </p:nvSpPr>
        <p:spPr>
          <a:xfrm>
            <a:off x="7863840" y="2468880"/>
            <a:ext cx="1554480" cy="274320"/>
          </a:xfrm>
          <a:prstGeom prst="rect">
            <a:avLst/>
          </a:prstGeom>
          <a:noFill/>
          <a:ln/>
        </p:spPr>
        <p:txBody>
          <a:bodyPr wrap="square" lIns="0" tIns="0" rIns="0" bIns="0" rtlCol="0" anchor="ctr"/>
          <a:lstStyle/>
          <a:p>
            <a:pPr indent="0" marL="0">
              <a:buNone/>
            </a:pPr>
            <a:r>
              <a:rPr lang="en-US" sz="1300" dirty="0">
                <a:solidFill>
                  <a:schemeClr val="tx2"/>
                </a:solidFill>
              </a:rPr>
              <a:t>2015</a:t>
            </a:r>
            <a:endParaRPr lang="en-US" sz="1300" dirty="0"/>
          </a:p>
        </p:txBody>
      </p:sp>
      <p:sp>
        <p:nvSpPr>
          <p:cNvPr id="14" name="Card"/>
          <p:cNvSpPr/>
          <p:nvPr/>
        </p:nvSpPr>
        <p:spPr>
          <a:xfrm>
            <a:off x="9692640" y="1874520"/>
            <a:ext cx="1828800" cy="1051560"/>
          </a:xfrm>
          <a:prstGeom prst="roundRect">
            <a:avLst>
              <a:gd name="adj" fmla="val 10435"/>
            </a:avLst>
          </a:prstGeom>
          <a:solidFill>
            <a:schemeClr val="bg2"/>
          </a:solidFill>
          <a:ln/>
        </p:spPr>
      </p:sp>
      <p:sp>
        <p:nvSpPr>
          <p:cNvPr id="15" name="Text 13"/>
          <p:cNvSpPr txBox="1"/>
          <p:nvPr/>
        </p:nvSpPr>
        <p:spPr>
          <a:xfrm>
            <a:off x="9875520" y="2057400"/>
            <a:ext cx="1554480" cy="411480"/>
          </a:xfrm>
          <a:prstGeom prst="rect">
            <a:avLst/>
          </a:prstGeom>
          <a:noFill/>
          <a:ln/>
        </p:spPr>
        <p:txBody>
          <a:bodyPr wrap="square" lIns="0" tIns="0" rIns="0" bIns="0" rtlCol="0" anchor="ctr"/>
          <a:lstStyle/>
          <a:p>
            <a:pPr indent="0" marL="0">
              <a:buNone/>
            </a:pPr>
            <a:r>
              <a:rPr lang="en-US" sz="1700" b="1" dirty="0">
                <a:solidFill>
                  <a:schemeClr val="tx1"/>
                </a:solidFill>
              </a:rPr>
              <a:t>BERT</a:t>
            </a:r>
            <a:endParaRPr lang="en-US" sz="1700" dirty="0"/>
          </a:p>
        </p:txBody>
      </p:sp>
      <p:sp>
        <p:nvSpPr>
          <p:cNvPr id="16" name="Text 14"/>
          <p:cNvSpPr txBox="1"/>
          <p:nvPr/>
        </p:nvSpPr>
        <p:spPr>
          <a:xfrm>
            <a:off x="9875520" y="2468880"/>
            <a:ext cx="1554480" cy="274320"/>
          </a:xfrm>
          <a:prstGeom prst="rect">
            <a:avLst/>
          </a:prstGeom>
          <a:noFill/>
          <a:ln/>
        </p:spPr>
        <p:txBody>
          <a:bodyPr wrap="square" lIns="0" tIns="0" rIns="0" bIns="0" rtlCol="0" anchor="ctr"/>
          <a:lstStyle/>
          <a:p>
            <a:pPr indent="0" marL="0">
              <a:buNone/>
            </a:pPr>
            <a:r>
              <a:rPr lang="en-US" sz="1300" dirty="0">
                <a:solidFill>
                  <a:schemeClr val="tx2"/>
                </a:solidFill>
              </a:rPr>
              <a:t>2018</a:t>
            </a:r>
            <a:endParaRPr lang="en-US" sz="1300" dirty="0"/>
          </a:p>
        </p:txBody>
      </p:sp>
      <p:sp>
        <p:nvSpPr>
          <p:cNvPr id="17" name="Card"/>
          <p:cNvSpPr/>
          <p:nvPr/>
        </p:nvSpPr>
        <p:spPr>
          <a:xfrm>
            <a:off x="5669280" y="3108960"/>
            <a:ext cx="1828800" cy="1051560"/>
          </a:xfrm>
          <a:prstGeom prst="roundRect">
            <a:avLst>
              <a:gd name="adj" fmla="val 10435"/>
            </a:avLst>
          </a:prstGeom>
          <a:solidFill>
            <a:schemeClr val="bg2"/>
          </a:solidFill>
          <a:ln/>
        </p:spPr>
      </p:sp>
      <p:sp>
        <p:nvSpPr>
          <p:cNvPr id="18" name="Text 16"/>
          <p:cNvSpPr txBox="1"/>
          <p:nvPr/>
        </p:nvSpPr>
        <p:spPr>
          <a:xfrm>
            <a:off x="5852160" y="3291840"/>
            <a:ext cx="1554480" cy="411480"/>
          </a:xfrm>
          <a:prstGeom prst="rect">
            <a:avLst/>
          </a:prstGeom>
          <a:noFill/>
          <a:ln/>
        </p:spPr>
        <p:txBody>
          <a:bodyPr wrap="square" lIns="0" tIns="0" rIns="0" bIns="0" rtlCol="0" anchor="ctr"/>
          <a:lstStyle/>
          <a:p>
            <a:pPr indent="0" marL="0">
              <a:buNone/>
            </a:pPr>
            <a:r>
              <a:rPr lang="en-US" sz="1700" b="1" dirty="0">
                <a:solidFill>
                  <a:schemeClr val="tx1"/>
                </a:solidFill>
              </a:rPr>
              <a:t>GPT-2</a:t>
            </a:r>
            <a:endParaRPr lang="en-US" sz="1700" dirty="0"/>
          </a:p>
        </p:txBody>
      </p:sp>
      <p:sp>
        <p:nvSpPr>
          <p:cNvPr id="19" name="Text 17"/>
          <p:cNvSpPr txBox="1"/>
          <p:nvPr/>
        </p:nvSpPr>
        <p:spPr>
          <a:xfrm>
            <a:off x="5852160" y="3703320"/>
            <a:ext cx="1554480" cy="274320"/>
          </a:xfrm>
          <a:prstGeom prst="rect">
            <a:avLst/>
          </a:prstGeom>
          <a:noFill/>
          <a:ln/>
        </p:spPr>
        <p:txBody>
          <a:bodyPr wrap="square" lIns="0" tIns="0" rIns="0" bIns="0" rtlCol="0" anchor="ctr"/>
          <a:lstStyle/>
          <a:p>
            <a:pPr indent="0" marL="0">
              <a:buNone/>
            </a:pPr>
            <a:r>
              <a:rPr lang="en-US" sz="1300" dirty="0">
                <a:solidFill>
                  <a:schemeClr val="tx2"/>
                </a:solidFill>
              </a:rPr>
              <a:t>2019</a:t>
            </a:r>
            <a:endParaRPr lang="en-US" sz="1300" dirty="0"/>
          </a:p>
        </p:txBody>
      </p:sp>
      <p:sp>
        <p:nvSpPr>
          <p:cNvPr id="20" name="Card"/>
          <p:cNvSpPr/>
          <p:nvPr/>
        </p:nvSpPr>
        <p:spPr>
          <a:xfrm>
            <a:off x="7680960" y="3108960"/>
            <a:ext cx="1828800" cy="1051560"/>
          </a:xfrm>
          <a:prstGeom prst="roundRect">
            <a:avLst>
              <a:gd name="adj" fmla="val 10435"/>
            </a:avLst>
          </a:prstGeom>
          <a:solidFill>
            <a:schemeClr val="bg2"/>
          </a:solidFill>
          <a:ln/>
        </p:spPr>
      </p:sp>
      <p:sp>
        <p:nvSpPr>
          <p:cNvPr id="21" name="Text 19"/>
          <p:cNvSpPr txBox="1"/>
          <p:nvPr/>
        </p:nvSpPr>
        <p:spPr>
          <a:xfrm>
            <a:off x="7863840" y="3291840"/>
            <a:ext cx="1554480" cy="411480"/>
          </a:xfrm>
          <a:prstGeom prst="rect">
            <a:avLst/>
          </a:prstGeom>
          <a:noFill/>
          <a:ln/>
        </p:spPr>
        <p:txBody>
          <a:bodyPr wrap="square" lIns="0" tIns="0" rIns="0" bIns="0" rtlCol="0" anchor="ctr"/>
          <a:lstStyle/>
          <a:p>
            <a:pPr indent="0" marL="0">
              <a:buNone/>
            </a:pPr>
            <a:r>
              <a:rPr lang="en-US" sz="1700" b="1" dirty="0">
                <a:solidFill>
                  <a:schemeClr val="tx1"/>
                </a:solidFill>
              </a:rPr>
              <a:t>ViT</a:t>
            </a:r>
            <a:endParaRPr lang="en-US" sz="1700" dirty="0"/>
          </a:p>
        </p:txBody>
      </p:sp>
      <p:sp>
        <p:nvSpPr>
          <p:cNvPr id="22" name="Text 20"/>
          <p:cNvSpPr txBox="1"/>
          <p:nvPr/>
        </p:nvSpPr>
        <p:spPr>
          <a:xfrm>
            <a:off x="7863840" y="3703320"/>
            <a:ext cx="1554480" cy="274320"/>
          </a:xfrm>
          <a:prstGeom prst="rect">
            <a:avLst/>
          </a:prstGeom>
          <a:noFill/>
          <a:ln/>
        </p:spPr>
        <p:txBody>
          <a:bodyPr wrap="square" lIns="0" tIns="0" rIns="0" bIns="0" rtlCol="0" anchor="ctr"/>
          <a:lstStyle/>
          <a:p>
            <a:pPr indent="0" marL="0">
              <a:buNone/>
            </a:pPr>
            <a:r>
              <a:rPr lang="en-US" sz="1300" dirty="0">
                <a:solidFill>
                  <a:schemeClr val="tx2"/>
                </a:solidFill>
              </a:rPr>
              <a:t>2020</a:t>
            </a:r>
            <a:endParaRPr lang="en-US" sz="1300" dirty="0"/>
          </a:p>
        </p:txBody>
      </p:sp>
      <p:sp>
        <p:nvSpPr>
          <p:cNvPr id="23" name="Card"/>
          <p:cNvSpPr/>
          <p:nvPr/>
        </p:nvSpPr>
        <p:spPr>
          <a:xfrm>
            <a:off x="9692640" y="3108960"/>
            <a:ext cx="1828800" cy="1051560"/>
          </a:xfrm>
          <a:prstGeom prst="roundRect">
            <a:avLst>
              <a:gd name="adj" fmla="val 10435"/>
            </a:avLst>
          </a:prstGeom>
          <a:solidFill>
            <a:schemeClr val="bg2"/>
          </a:solidFill>
          <a:ln/>
        </p:spPr>
      </p:sp>
      <p:sp>
        <p:nvSpPr>
          <p:cNvPr id="24" name="Text 22"/>
          <p:cNvSpPr txBox="1"/>
          <p:nvPr/>
        </p:nvSpPr>
        <p:spPr>
          <a:xfrm>
            <a:off x="9875520" y="3291840"/>
            <a:ext cx="1554480" cy="411480"/>
          </a:xfrm>
          <a:prstGeom prst="rect">
            <a:avLst/>
          </a:prstGeom>
          <a:noFill/>
          <a:ln/>
        </p:spPr>
        <p:txBody>
          <a:bodyPr wrap="square" lIns="0" tIns="0" rIns="0" bIns="0" rtlCol="0" anchor="ctr"/>
          <a:lstStyle/>
          <a:p>
            <a:pPr indent="0" marL="0">
              <a:buNone/>
            </a:pPr>
            <a:r>
              <a:rPr lang="en-US" sz="1700" b="1" dirty="0">
                <a:solidFill>
                  <a:schemeClr val="tx1"/>
                </a:solidFill>
              </a:rPr>
              <a:t>Scaling laws</a:t>
            </a:r>
            <a:endParaRPr lang="en-US" sz="1700" dirty="0"/>
          </a:p>
        </p:txBody>
      </p:sp>
      <p:sp>
        <p:nvSpPr>
          <p:cNvPr id="25" name="Text 23"/>
          <p:cNvSpPr txBox="1"/>
          <p:nvPr/>
        </p:nvSpPr>
        <p:spPr>
          <a:xfrm>
            <a:off x="9875520" y="3703320"/>
            <a:ext cx="1554480" cy="274320"/>
          </a:xfrm>
          <a:prstGeom prst="rect">
            <a:avLst/>
          </a:prstGeom>
          <a:noFill/>
          <a:ln/>
        </p:spPr>
        <p:txBody>
          <a:bodyPr wrap="square" lIns="0" tIns="0" rIns="0" bIns="0" rtlCol="0" anchor="ctr"/>
          <a:lstStyle/>
          <a:p>
            <a:pPr indent="0" marL="0">
              <a:buNone/>
            </a:pPr>
            <a:r>
              <a:rPr lang="en-US" sz="1300" dirty="0">
                <a:solidFill>
                  <a:schemeClr val="tx2"/>
                </a:solidFill>
              </a:rPr>
              <a:t>2020</a:t>
            </a:r>
            <a:endParaRPr lang="en-US" sz="1300" dirty="0"/>
          </a:p>
        </p:txBody>
      </p:sp>
      <p:sp>
        <p:nvSpPr>
          <p:cNvPr id="26" name="Card"/>
          <p:cNvSpPr/>
          <p:nvPr/>
        </p:nvSpPr>
        <p:spPr>
          <a:xfrm>
            <a:off x="5669280" y="4343400"/>
            <a:ext cx="1828800" cy="1051560"/>
          </a:xfrm>
          <a:prstGeom prst="roundRect">
            <a:avLst>
              <a:gd name="adj" fmla="val 10435"/>
            </a:avLst>
          </a:prstGeom>
          <a:solidFill>
            <a:schemeClr val="bg2"/>
          </a:solidFill>
          <a:ln/>
        </p:spPr>
      </p:sp>
      <p:sp>
        <p:nvSpPr>
          <p:cNvPr id="27" name="Text 25"/>
          <p:cNvSpPr txBox="1"/>
          <p:nvPr/>
        </p:nvSpPr>
        <p:spPr>
          <a:xfrm>
            <a:off x="5852160" y="4526280"/>
            <a:ext cx="1554480" cy="411480"/>
          </a:xfrm>
          <a:prstGeom prst="rect">
            <a:avLst/>
          </a:prstGeom>
          <a:noFill/>
          <a:ln/>
        </p:spPr>
        <p:txBody>
          <a:bodyPr wrap="square" lIns="0" tIns="0" rIns="0" bIns="0" rtlCol="0" anchor="ctr"/>
          <a:lstStyle/>
          <a:p>
            <a:pPr indent="0" marL="0">
              <a:buNone/>
            </a:pPr>
            <a:r>
              <a:rPr lang="en-US" sz="1700" b="1" dirty="0">
                <a:solidFill>
                  <a:schemeClr val="tx1"/>
                </a:solidFill>
              </a:rPr>
              <a:t>MoE</a:t>
            </a:r>
            <a:endParaRPr lang="en-US" sz="1700" dirty="0"/>
          </a:p>
        </p:txBody>
      </p:sp>
      <p:sp>
        <p:nvSpPr>
          <p:cNvPr id="28" name="Text 26"/>
          <p:cNvSpPr txBox="1"/>
          <p:nvPr/>
        </p:nvSpPr>
        <p:spPr>
          <a:xfrm>
            <a:off x="5852160" y="4937760"/>
            <a:ext cx="1554480" cy="274320"/>
          </a:xfrm>
          <a:prstGeom prst="rect">
            <a:avLst/>
          </a:prstGeom>
          <a:noFill/>
          <a:ln/>
        </p:spPr>
        <p:txBody>
          <a:bodyPr wrap="square" lIns="0" tIns="0" rIns="0" bIns="0" rtlCol="0" anchor="ctr"/>
          <a:lstStyle/>
          <a:p>
            <a:pPr indent="0" marL="0">
              <a:buNone/>
            </a:pPr>
            <a:r>
              <a:rPr lang="en-US" sz="1300" dirty="0">
                <a:solidFill>
                  <a:schemeClr val="tx2"/>
                </a:solidFill>
              </a:rPr>
              <a:t>2017</a:t>
            </a:r>
            <a:endParaRPr lang="en-US" sz="1300" dirty="0"/>
          </a:p>
        </p:txBody>
      </p:sp>
      <p:sp>
        <p:nvSpPr>
          <p:cNvPr id="29" name="Card"/>
          <p:cNvSpPr/>
          <p:nvPr/>
        </p:nvSpPr>
        <p:spPr>
          <a:xfrm>
            <a:off x="7680960" y="4343400"/>
            <a:ext cx="1828800" cy="1051560"/>
          </a:xfrm>
          <a:prstGeom prst="roundRect">
            <a:avLst>
              <a:gd name="adj" fmla="val 10435"/>
            </a:avLst>
          </a:prstGeom>
          <a:solidFill>
            <a:schemeClr val="bg2"/>
          </a:solidFill>
          <a:ln/>
        </p:spPr>
      </p:sp>
      <p:sp>
        <p:nvSpPr>
          <p:cNvPr id="30" name="Text 28"/>
          <p:cNvSpPr txBox="1"/>
          <p:nvPr/>
        </p:nvSpPr>
        <p:spPr>
          <a:xfrm>
            <a:off x="7863840" y="4526280"/>
            <a:ext cx="1554480" cy="411480"/>
          </a:xfrm>
          <a:prstGeom prst="rect">
            <a:avLst/>
          </a:prstGeom>
          <a:noFill/>
          <a:ln/>
        </p:spPr>
        <p:txBody>
          <a:bodyPr wrap="square" lIns="0" tIns="0" rIns="0" bIns="0" rtlCol="0" anchor="ctr"/>
          <a:lstStyle/>
          <a:p>
            <a:pPr indent="0" marL="0">
              <a:buNone/>
            </a:pPr>
            <a:r>
              <a:rPr lang="en-US" sz="1700" b="1" dirty="0">
                <a:solidFill>
                  <a:schemeClr val="tx1"/>
                </a:solidFill>
              </a:rPr>
              <a:t>FlashAttention</a:t>
            </a:r>
            <a:endParaRPr lang="en-US" sz="1700" dirty="0"/>
          </a:p>
        </p:txBody>
      </p:sp>
      <p:sp>
        <p:nvSpPr>
          <p:cNvPr id="31" name="Text 29"/>
          <p:cNvSpPr txBox="1"/>
          <p:nvPr/>
        </p:nvSpPr>
        <p:spPr>
          <a:xfrm>
            <a:off x="7863840" y="4937760"/>
            <a:ext cx="1554480" cy="274320"/>
          </a:xfrm>
          <a:prstGeom prst="rect">
            <a:avLst/>
          </a:prstGeom>
          <a:noFill/>
          <a:ln/>
        </p:spPr>
        <p:txBody>
          <a:bodyPr wrap="square" lIns="0" tIns="0" rIns="0" bIns="0" rtlCol="0" anchor="ctr"/>
          <a:lstStyle/>
          <a:p>
            <a:pPr indent="0" marL="0">
              <a:buNone/>
            </a:pPr>
            <a:r>
              <a:rPr lang="en-US" sz="1300" dirty="0">
                <a:solidFill>
                  <a:schemeClr val="tx2"/>
                </a:solidFill>
              </a:rPr>
              <a:t>2022</a:t>
            </a:r>
            <a:endParaRPr lang="en-US" sz="1300" dirty="0"/>
          </a:p>
        </p:txBody>
      </p:sp>
      <p:sp>
        <p:nvSpPr>
          <p:cNvPr id="32" name="Card"/>
          <p:cNvSpPr/>
          <p:nvPr/>
        </p:nvSpPr>
        <p:spPr>
          <a:xfrm>
            <a:off x="9692640" y="4343400"/>
            <a:ext cx="1828800" cy="1051560"/>
          </a:xfrm>
          <a:prstGeom prst="roundRect">
            <a:avLst>
              <a:gd name="adj" fmla="val 10435"/>
            </a:avLst>
          </a:prstGeom>
          <a:solidFill>
            <a:schemeClr val="bg2"/>
          </a:solidFill>
          <a:ln/>
        </p:spPr>
      </p:sp>
      <p:sp>
        <p:nvSpPr>
          <p:cNvPr id="33" name="Text 31"/>
          <p:cNvSpPr txBox="1"/>
          <p:nvPr/>
        </p:nvSpPr>
        <p:spPr>
          <a:xfrm>
            <a:off x="9875520" y="4526280"/>
            <a:ext cx="1554480" cy="411480"/>
          </a:xfrm>
          <a:prstGeom prst="rect">
            <a:avLst/>
          </a:prstGeom>
          <a:noFill/>
          <a:ln/>
        </p:spPr>
        <p:txBody>
          <a:bodyPr wrap="square" lIns="0" tIns="0" rIns="0" bIns="0" rtlCol="0" anchor="ctr"/>
          <a:lstStyle/>
          <a:p>
            <a:pPr indent="0" marL="0">
              <a:buNone/>
            </a:pPr>
            <a:r>
              <a:rPr lang="en-US" sz="1700" b="1" dirty="0">
                <a:solidFill>
                  <a:schemeClr val="tx1"/>
                </a:solidFill>
              </a:rPr>
              <a:t>Mamba</a:t>
            </a:r>
            <a:endParaRPr lang="en-US" sz="1700" dirty="0"/>
          </a:p>
        </p:txBody>
      </p:sp>
      <p:sp>
        <p:nvSpPr>
          <p:cNvPr id="34" name="Text 32"/>
          <p:cNvSpPr txBox="1"/>
          <p:nvPr/>
        </p:nvSpPr>
        <p:spPr>
          <a:xfrm>
            <a:off x="9875520" y="4937760"/>
            <a:ext cx="1554480" cy="274320"/>
          </a:xfrm>
          <a:prstGeom prst="rect">
            <a:avLst/>
          </a:prstGeom>
          <a:noFill/>
          <a:ln/>
        </p:spPr>
        <p:txBody>
          <a:bodyPr wrap="square" lIns="0" tIns="0" rIns="0" bIns="0" rtlCol="0" anchor="ctr"/>
          <a:lstStyle/>
          <a:p>
            <a:pPr indent="0" marL="0">
              <a:buNone/>
            </a:pPr>
            <a:r>
              <a:rPr lang="en-US" sz="1300" dirty="0">
                <a:solidFill>
                  <a:schemeClr val="tx2"/>
                </a:solidFill>
              </a:rPr>
              <a:t>2023</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418320" cy="868680"/>
          </a:xfrm>
          <a:prstGeom prst="rect">
            <a:avLst/>
          </a:prstGeom>
          <a:noFill/>
          <a:ln/>
        </p:spPr>
        <p:txBody>
          <a:bodyPr wrap="square" lIns="0" tIns="0" rIns="0" bIns="0" rtlCol="0" anchor="ctr"/>
          <a:lstStyle/>
          <a:p>
            <a:pPr algn="l" indent="0" marL="0">
              <a:buNone/>
            </a:pPr>
            <a:r>
              <a:rPr lang="en-US" sz="3000" b="1" dirty="0">
                <a:solidFill>
                  <a:schemeClr val="tx1"/>
                </a:solidFill>
              </a:rPr>
              <a:t>Nine papers, five ideas</a:t>
            </a:r>
            <a:endParaRPr lang="en-US" sz="3000" dirty="0"/>
          </a:p>
        </p:txBody>
      </p:sp>
      <p:pic>
        <p:nvPicPr>
          <p:cNvPr id="3" name="Diagram five_ideas_map" descr="Grid of nine papers against five ideas, showing which papers answer which problem">    </p:cNvPr>
          <p:cNvPicPr>
            <a:picLocks noChangeAspect="1"/>
          </p:cNvPicPr>
          <p:nvPr/>
        </p:nvPicPr>
        <p:blipFill>
          <a:blip r:embed="rId1"/>
          <a:stretch>
            <a:fillRect/>
          </a:stretch>
        </p:blipFill>
        <p:spPr>
          <a:xfrm>
            <a:off x="1069848" y="1234440"/>
            <a:ext cx="10058400" cy="5029200"/>
          </a:xfrm>
          <a:prstGeom prst="rect">
            <a:avLst/>
          </a:prstGeom>
        </p:spPr>
      </p:pic>
      <p:sp>
        <p:nvSpPr>
          <p:cNvPr id="4" name="Text 1"/>
          <p:cNvSpPr txBox="1"/>
          <p:nvPr/>
        </p:nvSpPr>
        <p:spPr>
          <a:xfrm>
            <a:off x="6583680" y="6400800"/>
            <a:ext cx="4389120" cy="274320"/>
          </a:xfrm>
          <a:prstGeom prst="rect">
            <a:avLst/>
          </a:prstGeom>
          <a:noFill/>
          <a:ln/>
        </p:spPr>
        <p:txBody>
          <a:bodyPr wrap="square" lIns="0" tIns="0" rIns="0" bIns="0" rtlCol="0" anchor="ctr"/>
          <a:lstStyle/>
          <a:p>
            <a:pPr algn="r" indent="0" marL="0">
              <a:buNone/>
            </a:pPr>
            <a:r>
              <a:rPr lang="en-US" sz="1000" u="sng" dirty="0">
                <a:solidFill>
                  <a:srgbClr val="000000"/>
                </a:solidFill>
                <a:hlinkClick r:id="rId2" invalidUrl="" action="" tgtFrame="" tooltip="Open this section of the summary page" history="1" highlightClick="0" endSnd="0">
                  <a:extLst>
                    <a:ext uri="{A12FA001-AC4F-418D-AE19-62706E023703}">
                      <ahyp:hlinkClr xmlns:ahyp="http://schemas.microsoft.com/office/drawing/2018/hyperlinkcolor" val="tx"/>
                    </a:ext>
                  </a:extLst>
                </a:hlinkClick>
              </a:rPr>
              <a:t>In the summary: the map ↗</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418320" cy="868680"/>
          </a:xfrm>
          <a:prstGeom prst="rect">
            <a:avLst/>
          </a:prstGeom>
          <a:noFill/>
          <a:ln/>
        </p:spPr>
        <p:txBody>
          <a:bodyPr wrap="square" lIns="0" tIns="0" rIns="0" bIns="0" rtlCol="0" anchor="ctr"/>
          <a:lstStyle/>
          <a:p>
            <a:pPr algn="l" indent="0" marL="0">
              <a:buNone/>
            </a:pPr>
            <a:r>
              <a:rPr lang="en-US" sz="3000" b="1" dirty="0">
                <a:solidFill>
                  <a:schemeClr val="tx1"/>
                </a:solidFill>
              </a:rPr>
              <a:t>Five problems every model has to solve</a:t>
            </a:r>
            <a:endParaRPr lang="en-US" sz="3000" dirty="0"/>
          </a:p>
        </p:txBody>
      </p:sp>
      <p:sp>
        <p:nvSpPr>
          <p:cNvPr id="3" name="Card"/>
          <p:cNvSpPr/>
          <p:nvPr/>
        </p:nvSpPr>
        <p:spPr>
          <a:xfrm>
            <a:off x="548640" y="1417320"/>
            <a:ext cx="11091672" cy="804672"/>
          </a:xfrm>
          <a:prstGeom prst="roundRect">
            <a:avLst>
              <a:gd name="adj" fmla="val 13636"/>
            </a:avLst>
          </a:prstGeom>
          <a:solidFill>
            <a:schemeClr val="bg2"/>
          </a:solidFill>
          <a:ln/>
        </p:spPr>
      </p:sp>
      <p:sp>
        <p:nvSpPr>
          <p:cNvPr id="4" name="Number circle"/>
          <p:cNvSpPr/>
          <p:nvPr/>
        </p:nvSpPr>
        <p:spPr>
          <a:xfrm>
            <a:off x="731520" y="1563624"/>
            <a:ext cx="512064" cy="512064"/>
          </a:xfrm>
          <a:prstGeom prst="ellipse">
            <a:avLst/>
          </a:prstGeom>
          <a:solidFill>
            <a:schemeClr val="accent1"/>
          </a:solidFill>
          <a:ln/>
        </p:spPr>
      </p:sp>
      <p:sp>
        <p:nvSpPr>
          <p:cNvPr id="5" name="Text 3"/>
          <p:cNvSpPr txBox="1"/>
          <p:nvPr/>
        </p:nvSpPr>
        <p:spPr>
          <a:xfrm>
            <a:off x="731520" y="1563624"/>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463040" y="1417320"/>
            <a:ext cx="4023360" cy="804672"/>
          </a:xfrm>
          <a:prstGeom prst="rect">
            <a:avLst/>
          </a:prstGeom>
          <a:noFill/>
          <a:ln/>
        </p:spPr>
        <p:txBody>
          <a:bodyPr wrap="square" lIns="0" tIns="0" rIns="0" bIns="0" rtlCol="0" anchor="ctr"/>
          <a:lstStyle/>
          <a:p>
            <a:pPr indent="0" marL="0">
              <a:buNone/>
            </a:pPr>
            <a:r>
              <a:rPr lang="en-US" sz="1700" b="1" dirty="0">
                <a:solidFill>
                  <a:schemeClr val="tx1"/>
                </a:solidFill>
              </a:rPr>
              <a:t>Keep the signal alive through depth</a:t>
            </a:r>
            <a:endParaRPr lang="en-US" sz="1700" dirty="0"/>
          </a:p>
        </p:txBody>
      </p:sp>
      <p:sp>
        <p:nvSpPr>
          <p:cNvPr id="7" name="Text 5"/>
          <p:cNvSpPr txBox="1"/>
          <p:nvPr/>
        </p:nvSpPr>
        <p:spPr>
          <a:xfrm>
            <a:off x="5577840" y="1417320"/>
            <a:ext cx="5852160" cy="804672"/>
          </a:xfrm>
          <a:prstGeom prst="rect">
            <a:avLst/>
          </a:prstGeom>
          <a:noFill/>
          <a:ln/>
        </p:spPr>
        <p:txBody>
          <a:bodyPr wrap="square" lIns="0" tIns="0" rIns="0" bIns="0" rtlCol="0" anchor="ctr"/>
          <a:lstStyle/>
          <a:p>
            <a:pPr indent="0" marL="0">
              <a:buNone/>
            </a:pPr>
            <a:r>
              <a:rPr lang="en-US" sz="1500" i="1" dirty="0">
                <a:solidFill>
                  <a:schemeClr val="tx2"/>
                </a:solidFill>
              </a:rPr>
              <a:t>What keeps activations and gradients at a sane scale as the model gets deeper?</a:t>
            </a:r>
            <a:endParaRPr lang="en-US" sz="1500" dirty="0"/>
          </a:p>
        </p:txBody>
      </p:sp>
      <p:sp>
        <p:nvSpPr>
          <p:cNvPr id="8" name="Card"/>
          <p:cNvSpPr/>
          <p:nvPr/>
        </p:nvSpPr>
        <p:spPr>
          <a:xfrm>
            <a:off x="548640" y="2359152"/>
            <a:ext cx="11091672" cy="804672"/>
          </a:xfrm>
          <a:prstGeom prst="roundRect">
            <a:avLst>
              <a:gd name="adj" fmla="val 13636"/>
            </a:avLst>
          </a:prstGeom>
          <a:solidFill>
            <a:schemeClr val="bg2"/>
          </a:solidFill>
          <a:ln/>
        </p:spPr>
      </p:sp>
      <p:sp>
        <p:nvSpPr>
          <p:cNvPr id="9" name="Number circle"/>
          <p:cNvSpPr/>
          <p:nvPr/>
        </p:nvSpPr>
        <p:spPr>
          <a:xfrm>
            <a:off x="731520" y="2505456"/>
            <a:ext cx="512064" cy="512064"/>
          </a:xfrm>
          <a:prstGeom prst="ellipse">
            <a:avLst/>
          </a:prstGeom>
          <a:solidFill>
            <a:schemeClr val="accent2"/>
          </a:solidFill>
          <a:ln/>
        </p:spPr>
      </p:sp>
      <p:sp>
        <p:nvSpPr>
          <p:cNvPr id="10" name="Text 8"/>
          <p:cNvSpPr txBox="1"/>
          <p:nvPr/>
        </p:nvSpPr>
        <p:spPr>
          <a:xfrm>
            <a:off x="731520" y="2505456"/>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1463040" y="2359152"/>
            <a:ext cx="4023360" cy="804672"/>
          </a:xfrm>
          <a:prstGeom prst="rect">
            <a:avLst/>
          </a:prstGeom>
          <a:noFill/>
          <a:ln/>
        </p:spPr>
        <p:txBody>
          <a:bodyPr wrap="square" lIns="0" tIns="0" rIns="0" bIns="0" rtlCol="0" anchor="ctr"/>
          <a:lstStyle/>
          <a:p>
            <a:pPr indent="0" marL="0">
              <a:buNone/>
            </a:pPr>
            <a:r>
              <a:rPr lang="en-US" sz="1700" b="1" dirty="0">
                <a:solidFill>
                  <a:schemeClr val="tx1"/>
                </a:solidFill>
              </a:rPr>
              <a:t>The objective shapes the model</a:t>
            </a:r>
            <a:endParaRPr lang="en-US" sz="1700" dirty="0"/>
          </a:p>
        </p:txBody>
      </p:sp>
      <p:sp>
        <p:nvSpPr>
          <p:cNvPr id="12" name="Text 10"/>
          <p:cNvSpPr txBox="1"/>
          <p:nvPr/>
        </p:nvSpPr>
        <p:spPr>
          <a:xfrm>
            <a:off x="5577840" y="2359152"/>
            <a:ext cx="5852160" cy="804672"/>
          </a:xfrm>
          <a:prstGeom prst="rect">
            <a:avLst/>
          </a:prstGeom>
          <a:noFill/>
          <a:ln/>
        </p:spPr>
        <p:txBody>
          <a:bodyPr wrap="square" lIns="0" tIns="0" rIns="0" bIns="0" rtlCol="0" anchor="ctr"/>
          <a:lstStyle/>
          <a:p>
            <a:pPr indent="0" marL="0">
              <a:buNone/>
            </a:pPr>
            <a:r>
              <a:rPr lang="en-US" sz="1500" i="1" dirty="0">
                <a:solidFill>
                  <a:schemeClr val="tx2"/>
                </a:solidFill>
              </a:rPr>
              <a:t>What exactly does the loss reward, and what behaviour will follow?</a:t>
            </a:r>
            <a:endParaRPr lang="en-US" sz="1500" dirty="0"/>
          </a:p>
        </p:txBody>
      </p:sp>
      <p:sp>
        <p:nvSpPr>
          <p:cNvPr id="13" name="Card"/>
          <p:cNvSpPr/>
          <p:nvPr/>
        </p:nvSpPr>
        <p:spPr>
          <a:xfrm>
            <a:off x="548640" y="3300984"/>
            <a:ext cx="11091672" cy="804672"/>
          </a:xfrm>
          <a:prstGeom prst="roundRect">
            <a:avLst>
              <a:gd name="adj" fmla="val 13636"/>
            </a:avLst>
          </a:prstGeom>
          <a:solidFill>
            <a:schemeClr val="bg2"/>
          </a:solidFill>
          <a:ln/>
        </p:spPr>
      </p:sp>
      <p:sp>
        <p:nvSpPr>
          <p:cNvPr id="14" name="Number circle"/>
          <p:cNvSpPr/>
          <p:nvPr/>
        </p:nvSpPr>
        <p:spPr>
          <a:xfrm>
            <a:off x="731520" y="3447288"/>
            <a:ext cx="512064" cy="512064"/>
          </a:xfrm>
          <a:prstGeom prst="ellipse">
            <a:avLst/>
          </a:prstGeom>
          <a:solidFill>
            <a:schemeClr val="accent3"/>
          </a:solidFill>
          <a:ln/>
        </p:spPr>
      </p:sp>
      <p:sp>
        <p:nvSpPr>
          <p:cNvPr id="15" name="Text 13"/>
          <p:cNvSpPr txBox="1"/>
          <p:nvPr/>
        </p:nvSpPr>
        <p:spPr>
          <a:xfrm>
            <a:off x="731520" y="3447288"/>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4"/>
          <p:cNvSpPr txBox="1"/>
          <p:nvPr/>
        </p:nvSpPr>
        <p:spPr>
          <a:xfrm>
            <a:off x="1463040" y="3300984"/>
            <a:ext cx="4023360" cy="804672"/>
          </a:xfrm>
          <a:prstGeom prst="rect">
            <a:avLst/>
          </a:prstGeom>
          <a:noFill/>
          <a:ln/>
        </p:spPr>
        <p:txBody>
          <a:bodyPr wrap="square" lIns="0" tIns="0" rIns="0" bIns="0" rtlCol="0" anchor="ctr"/>
          <a:lstStyle/>
          <a:p>
            <a:pPr indent="0" marL="0">
              <a:buNone/>
            </a:pPr>
            <a:r>
              <a:rPr lang="en-US" sz="1700" b="1" dirty="0">
                <a:solidFill>
                  <a:schemeClr val="tx1"/>
                </a:solidFill>
              </a:rPr>
              <a:t>Built-in assumptions vs data</a:t>
            </a:r>
            <a:endParaRPr lang="en-US" sz="1700" dirty="0"/>
          </a:p>
        </p:txBody>
      </p:sp>
      <p:sp>
        <p:nvSpPr>
          <p:cNvPr id="17" name="Text 15"/>
          <p:cNvSpPr txBox="1"/>
          <p:nvPr/>
        </p:nvSpPr>
        <p:spPr>
          <a:xfrm>
            <a:off x="5577840" y="3300984"/>
            <a:ext cx="5852160" cy="804672"/>
          </a:xfrm>
          <a:prstGeom prst="rect">
            <a:avLst/>
          </a:prstGeom>
          <a:noFill/>
          <a:ln/>
        </p:spPr>
        <p:txBody>
          <a:bodyPr wrap="square" lIns="0" tIns="0" rIns="0" bIns="0" rtlCol="0" anchor="ctr"/>
          <a:lstStyle/>
          <a:p>
            <a:pPr indent="0" marL="0">
              <a:buNone/>
            </a:pPr>
            <a:r>
              <a:rPr lang="en-US" sz="1500" i="1" dirty="0">
                <a:solidFill>
                  <a:schemeClr val="tx2"/>
                </a:solidFill>
              </a:rPr>
              <a:t>What does this model assume, and do I have enough data to not need it?</a:t>
            </a:r>
            <a:endParaRPr lang="en-US" sz="1500" dirty="0"/>
          </a:p>
        </p:txBody>
      </p:sp>
      <p:sp>
        <p:nvSpPr>
          <p:cNvPr id="18" name="Card"/>
          <p:cNvSpPr/>
          <p:nvPr/>
        </p:nvSpPr>
        <p:spPr>
          <a:xfrm>
            <a:off x="548640" y="4242816"/>
            <a:ext cx="11091672" cy="804672"/>
          </a:xfrm>
          <a:prstGeom prst="roundRect">
            <a:avLst>
              <a:gd name="adj" fmla="val 13636"/>
            </a:avLst>
          </a:prstGeom>
          <a:solidFill>
            <a:schemeClr val="bg2"/>
          </a:solidFill>
          <a:ln/>
        </p:spPr>
      </p:sp>
      <p:sp>
        <p:nvSpPr>
          <p:cNvPr id="19" name="Number circle"/>
          <p:cNvSpPr/>
          <p:nvPr/>
        </p:nvSpPr>
        <p:spPr>
          <a:xfrm>
            <a:off x="731520" y="4389120"/>
            <a:ext cx="512064" cy="512064"/>
          </a:xfrm>
          <a:prstGeom prst="ellipse">
            <a:avLst/>
          </a:prstGeom>
          <a:solidFill>
            <a:schemeClr val="accent4"/>
          </a:solidFill>
          <a:ln/>
        </p:spPr>
      </p:sp>
      <p:sp>
        <p:nvSpPr>
          <p:cNvPr id="20" name="Text 18"/>
          <p:cNvSpPr txBox="1"/>
          <p:nvPr/>
        </p:nvSpPr>
        <p:spPr>
          <a:xfrm>
            <a:off x="731520" y="4389120"/>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 19"/>
          <p:cNvSpPr txBox="1"/>
          <p:nvPr/>
        </p:nvSpPr>
        <p:spPr>
          <a:xfrm>
            <a:off x="1463040" y="4242816"/>
            <a:ext cx="4023360" cy="804672"/>
          </a:xfrm>
          <a:prstGeom prst="rect">
            <a:avLst/>
          </a:prstGeom>
          <a:noFill/>
          <a:ln/>
        </p:spPr>
        <p:txBody>
          <a:bodyPr wrap="square" lIns="0" tIns="0" rIns="0" bIns="0" rtlCol="0" anchor="ctr"/>
          <a:lstStyle/>
          <a:p>
            <a:pPr indent="0" marL="0">
              <a:buNone/>
            </a:pPr>
            <a:r>
              <a:rPr lang="en-US" sz="1700" b="1" dirty="0">
                <a:solidFill>
                  <a:schemeClr val="tx1"/>
                </a:solidFill>
              </a:rPr>
              <a:t>How a model remembers context</a:t>
            </a:r>
            <a:endParaRPr lang="en-US" sz="1700" dirty="0"/>
          </a:p>
        </p:txBody>
      </p:sp>
      <p:sp>
        <p:nvSpPr>
          <p:cNvPr id="22" name="Text 20"/>
          <p:cNvSpPr txBox="1"/>
          <p:nvPr/>
        </p:nvSpPr>
        <p:spPr>
          <a:xfrm>
            <a:off x="5577840" y="4242816"/>
            <a:ext cx="5852160" cy="804672"/>
          </a:xfrm>
          <a:prstGeom prst="rect">
            <a:avLst/>
          </a:prstGeom>
          <a:noFill/>
          <a:ln/>
        </p:spPr>
        <p:txBody>
          <a:bodyPr wrap="square" lIns="0" tIns="0" rIns="0" bIns="0" rtlCol="0" anchor="ctr"/>
          <a:lstStyle/>
          <a:p>
            <a:pPr indent="0" marL="0">
              <a:buNone/>
            </a:pPr>
            <a:r>
              <a:rPr lang="en-US" sz="1500" i="1" dirty="0">
                <a:solidFill>
                  <a:schemeClr val="tx2"/>
                </a:solidFill>
              </a:rPr>
              <a:t>How much state does it keep per token of history, and what does reading it cost?</a:t>
            </a:r>
            <a:endParaRPr lang="en-US" sz="1500" dirty="0"/>
          </a:p>
        </p:txBody>
      </p:sp>
      <p:sp>
        <p:nvSpPr>
          <p:cNvPr id="23" name="Card"/>
          <p:cNvSpPr/>
          <p:nvPr/>
        </p:nvSpPr>
        <p:spPr>
          <a:xfrm>
            <a:off x="548640" y="5184648"/>
            <a:ext cx="11091672" cy="804672"/>
          </a:xfrm>
          <a:prstGeom prst="roundRect">
            <a:avLst>
              <a:gd name="adj" fmla="val 13636"/>
            </a:avLst>
          </a:prstGeom>
          <a:solidFill>
            <a:schemeClr val="bg2"/>
          </a:solidFill>
          <a:ln/>
        </p:spPr>
      </p:sp>
      <p:sp>
        <p:nvSpPr>
          <p:cNvPr id="24" name="Number circle"/>
          <p:cNvSpPr/>
          <p:nvPr/>
        </p:nvSpPr>
        <p:spPr>
          <a:xfrm>
            <a:off x="731520" y="5330952"/>
            <a:ext cx="512064" cy="512064"/>
          </a:xfrm>
          <a:prstGeom prst="ellipse">
            <a:avLst/>
          </a:prstGeom>
          <a:solidFill>
            <a:schemeClr val="accent5"/>
          </a:solidFill>
          <a:ln/>
        </p:spPr>
      </p:sp>
      <p:sp>
        <p:nvSpPr>
          <p:cNvPr id="25" name="Text 23"/>
          <p:cNvSpPr txBox="1"/>
          <p:nvPr/>
        </p:nvSpPr>
        <p:spPr>
          <a:xfrm>
            <a:off x="731520" y="5330952"/>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6" name="Text 24"/>
          <p:cNvSpPr txBox="1"/>
          <p:nvPr/>
        </p:nvSpPr>
        <p:spPr>
          <a:xfrm>
            <a:off x="1463040" y="5184648"/>
            <a:ext cx="4023360" cy="804672"/>
          </a:xfrm>
          <a:prstGeom prst="rect">
            <a:avLst/>
          </a:prstGeom>
          <a:noFill/>
          <a:ln/>
        </p:spPr>
        <p:txBody>
          <a:bodyPr wrap="square" lIns="0" tIns="0" rIns="0" bIns="0" rtlCol="0" anchor="ctr"/>
          <a:lstStyle/>
          <a:p>
            <a:pPr indent="0" marL="0">
              <a:buNone/>
            </a:pPr>
            <a:r>
              <a:rPr lang="en-US" sz="1700" b="1" dirty="0">
                <a:solidFill>
                  <a:schemeClr val="tx1"/>
                </a:solidFill>
              </a:rPr>
              <a:t>Compute is the real currency</a:t>
            </a:r>
            <a:endParaRPr lang="en-US" sz="1700" dirty="0"/>
          </a:p>
        </p:txBody>
      </p:sp>
      <p:sp>
        <p:nvSpPr>
          <p:cNvPr id="27" name="Text 25"/>
          <p:cNvSpPr txBox="1"/>
          <p:nvPr/>
        </p:nvSpPr>
        <p:spPr>
          <a:xfrm>
            <a:off x="5577840" y="5184648"/>
            <a:ext cx="5852160" cy="804672"/>
          </a:xfrm>
          <a:prstGeom prst="rect">
            <a:avLst/>
          </a:prstGeom>
          <a:noFill/>
          <a:ln/>
        </p:spPr>
        <p:txBody>
          <a:bodyPr wrap="square" lIns="0" tIns="0" rIns="0" bIns="0" rtlCol="0" anchor="ctr"/>
          <a:lstStyle/>
          <a:p>
            <a:pPr indent="0" marL="0">
              <a:buNone/>
            </a:pPr>
            <a:r>
              <a:rPr lang="en-US" sz="1500" i="1" dirty="0">
                <a:solidFill>
                  <a:schemeClr val="tx2"/>
                </a:solidFill>
              </a:rPr>
              <a:t>Is this limited by compute or by memory bandwidth?</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418320" cy="868680"/>
          </a:xfrm>
          <a:prstGeom prst="rect">
            <a:avLst/>
          </a:prstGeom>
          <a:noFill/>
          <a:ln/>
        </p:spPr>
        <p:txBody>
          <a:bodyPr wrap="square" lIns="0" tIns="0" rIns="0" bIns="0" rtlCol="0" anchor="ctr"/>
          <a:lstStyle/>
          <a:p>
            <a:pPr algn="l" indent="0" marL="0">
              <a:buNone/>
            </a:pPr>
            <a:r>
              <a:rPr lang="en-US" sz="3000" b="1" dirty="0">
                <a:solidFill>
                  <a:schemeClr val="tx1"/>
                </a:solidFill>
              </a:rPr>
              <a:t>Inside the ideas, five motifs keep coming back</a:t>
            </a:r>
            <a:endParaRPr lang="en-US" sz="3000" dirty="0"/>
          </a:p>
        </p:txBody>
      </p:sp>
      <p:sp>
        <p:nvSpPr>
          <p:cNvPr id="3" name="Card"/>
          <p:cNvSpPr/>
          <p:nvPr/>
        </p:nvSpPr>
        <p:spPr>
          <a:xfrm>
            <a:off x="548640" y="1554480"/>
            <a:ext cx="3520440" cy="1965960"/>
          </a:xfrm>
          <a:prstGeom prst="roundRect">
            <a:avLst>
              <a:gd name="adj" fmla="val 5581"/>
            </a:avLst>
          </a:prstGeom>
          <a:solidFill>
            <a:schemeClr val="bg2"/>
          </a:solidFill>
          <a:ln/>
        </p:spPr>
      </p:sp>
      <p:sp>
        <p:nvSpPr>
          <p:cNvPr id="4" name="Motif dot"/>
          <p:cNvSpPr/>
          <p:nvPr/>
        </p:nvSpPr>
        <p:spPr>
          <a:xfrm>
            <a:off x="822960" y="1828800"/>
            <a:ext cx="320040" cy="320040"/>
          </a:xfrm>
          <a:prstGeom prst="ellipse">
            <a:avLst/>
          </a:prstGeom>
          <a:solidFill>
            <a:schemeClr val="accent6"/>
          </a:solidFill>
          <a:ln/>
        </p:spPr>
      </p:sp>
      <p:sp>
        <p:nvSpPr>
          <p:cNvPr id="5" name="Text 3"/>
          <p:cNvSpPr txBox="1"/>
          <p:nvPr/>
        </p:nvSpPr>
        <p:spPr>
          <a:xfrm>
            <a:off x="1280160" y="1755648"/>
            <a:ext cx="2651760" cy="457200"/>
          </a:xfrm>
          <a:prstGeom prst="rect">
            <a:avLst/>
          </a:prstGeom>
          <a:noFill/>
          <a:ln/>
        </p:spPr>
        <p:txBody>
          <a:bodyPr wrap="square" lIns="0" tIns="0" rIns="0" bIns="0" rtlCol="0" anchor="ctr"/>
          <a:lstStyle/>
          <a:p>
            <a:pPr indent="0" marL="0">
              <a:buNone/>
            </a:pPr>
            <a:r>
              <a:rPr lang="en-US" sz="1900" b="1" dirty="0">
                <a:solidFill>
                  <a:schemeClr val="tx1"/>
                </a:solidFill>
              </a:rPr>
              <a:t>Skip connection</a:t>
            </a:r>
            <a:endParaRPr lang="en-US" sz="1900" dirty="0"/>
          </a:p>
        </p:txBody>
      </p:sp>
      <p:sp>
        <p:nvSpPr>
          <p:cNvPr id="6" name="Text 4"/>
          <p:cNvSpPr txBox="1"/>
          <p:nvPr/>
        </p:nvSpPr>
        <p:spPr>
          <a:xfrm>
            <a:off x="822960" y="2377440"/>
            <a:ext cx="3017520" cy="1005840"/>
          </a:xfrm>
          <a:prstGeom prst="rect">
            <a:avLst/>
          </a:prstGeom>
          <a:noFill/>
          <a:ln/>
        </p:spPr>
        <p:txBody>
          <a:bodyPr wrap="square" lIns="0" tIns="0" rIns="0" bIns="0" rtlCol="0" anchor="t"/>
          <a:lstStyle/>
          <a:p>
            <a:pPr indent="0" marL="0">
              <a:buNone/>
            </a:pPr>
            <a:r>
              <a:rPr lang="en-US" sz="1500" dirty="0">
                <a:solidFill>
                  <a:schemeClr val="tx2"/>
                </a:solidFill>
              </a:rPr>
              <a:t>ResNet, LSTM cell state, Pre-LN, the residual stream</a:t>
            </a:r>
            <a:endParaRPr lang="en-US" sz="1500" dirty="0"/>
          </a:p>
        </p:txBody>
      </p:sp>
      <p:sp>
        <p:nvSpPr>
          <p:cNvPr id="7" name="Card"/>
          <p:cNvSpPr/>
          <p:nvPr/>
        </p:nvSpPr>
        <p:spPr>
          <a:xfrm>
            <a:off x="4297680" y="1554480"/>
            <a:ext cx="3520440" cy="1965960"/>
          </a:xfrm>
          <a:prstGeom prst="roundRect">
            <a:avLst>
              <a:gd name="adj" fmla="val 5581"/>
            </a:avLst>
          </a:prstGeom>
          <a:solidFill>
            <a:schemeClr val="bg2"/>
          </a:solidFill>
          <a:ln/>
        </p:spPr>
      </p:sp>
      <p:sp>
        <p:nvSpPr>
          <p:cNvPr id="8" name="Motif dot"/>
          <p:cNvSpPr/>
          <p:nvPr/>
        </p:nvSpPr>
        <p:spPr>
          <a:xfrm>
            <a:off x="4572000" y="1828800"/>
            <a:ext cx="320040" cy="320040"/>
          </a:xfrm>
          <a:prstGeom prst="ellipse">
            <a:avLst/>
          </a:prstGeom>
          <a:solidFill>
            <a:schemeClr val="accent6"/>
          </a:solidFill>
          <a:ln/>
        </p:spPr>
      </p:sp>
      <p:sp>
        <p:nvSpPr>
          <p:cNvPr id="9" name="Text 7"/>
          <p:cNvSpPr txBox="1"/>
          <p:nvPr/>
        </p:nvSpPr>
        <p:spPr>
          <a:xfrm>
            <a:off x="5029200" y="1755648"/>
            <a:ext cx="2651760" cy="457200"/>
          </a:xfrm>
          <a:prstGeom prst="rect">
            <a:avLst/>
          </a:prstGeom>
          <a:noFill/>
          <a:ln/>
        </p:spPr>
        <p:txBody>
          <a:bodyPr wrap="square" lIns="0" tIns="0" rIns="0" bIns="0" rtlCol="0" anchor="ctr"/>
          <a:lstStyle/>
          <a:p>
            <a:pPr indent="0" marL="0">
              <a:buNone/>
            </a:pPr>
            <a:r>
              <a:rPr lang="en-US" sz="1900" b="1" dirty="0">
                <a:solidFill>
                  <a:schemeClr val="tx1"/>
                </a:solidFill>
              </a:rPr>
              <a:t>Gating</a:t>
            </a:r>
            <a:endParaRPr lang="en-US" sz="1900" dirty="0"/>
          </a:p>
        </p:txBody>
      </p:sp>
      <p:sp>
        <p:nvSpPr>
          <p:cNvPr id="10" name="Text 8"/>
          <p:cNvSpPr txBox="1"/>
          <p:nvPr/>
        </p:nvSpPr>
        <p:spPr>
          <a:xfrm>
            <a:off x="4572000" y="2377440"/>
            <a:ext cx="3017520" cy="1005840"/>
          </a:xfrm>
          <a:prstGeom prst="rect">
            <a:avLst/>
          </a:prstGeom>
          <a:noFill/>
          <a:ln/>
        </p:spPr>
        <p:txBody>
          <a:bodyPr wrap="square" lIns="0" tIns="0" rIns="0" bIns="0" rtlCol="0" anchor="t"/>
          <a:lstStyle/>
          <a:p>
            <a:pPr indent="0" marL="0">
              <a:buNone/>
            </a:pPr>
            <a:r>
              <a:rPr lang="en-US" sz="1500" dirty="0">
                <a:solidFill>
                  <a:schemeClr val="tx2"/>
                </a:solidFill>
              </a:rPr>
              <a:t>LSTM gates, SwiGLU, Mamba's gate branch, the MoE router</a:t>
            </a:r>
            <a:endParaRPr lang="en-US" sz="1500" dirty="0"/>
          </a:p>
        </p:txBody>
      </p:sp>
      <p:sp>
        <p:nvSpPr>
          <p:cNvPr id="11" name="Card"/>
          <p:cNvSpPr/>
          <p:nvPr/>
        </p:nvSpPr>
        <p:spPr>
          <a:xfrm>
            <a:off x="8046720" y="1554480"/>
            <a:ext cx="3520440" cy="1965960"/>
          </a:xfrm>
          <a:prstGeom prst="roundRect">
            <a:avLst>
              <a:gd name="adj" fmla="val 5581"/>
            </a:avLst>
          </a:prstGeom>
          <a:solidFill>
            <a:schemeClr val="bg2"/>
          </a:solidFill>
          <a:ln/>
        </p:spPr>
      </p:sp>
      <p:sp>
        <p:nvSpPr>
          <p:cNvPr id="12" name="Motif dot"/>
          <p:cNvSpPr/>
          <p:nvPr/>
        </p:nvSpPr>
        <p:spPr>
          <a:xfrm>
            <a:off x="8321040" y="1828800"/>
            <a:ext cx="320040" cy="320040"/>
          </a:xfrm>
          <a:prstGeom prst="ellipse">
            <a:avLst/>
          </a:prstGeom>
          <a:solidFill>
            <a:schemeClr val="accent6"/>
          </a:solidFill>
          <a:ln/>
        </p:spPr>
      </p:sp>
      <p:sp>
        <p:nvSpPr>
          <p:cNvPr id="13" name="Text 11"/>
          <p:cNvSpPr txBox="1"/>
          <p:nvPr/>
        </p:nvSpPr>
        <p:spPr>
          <a:xfrm>
            <a:off x="8778240" y="1755648"/>
            <a:ext cx="2651760" cy="457200"/>
          </a:xfrm>
          <a:prstGeom prst="rect">
            <a:avLst/>
          </a:prstGeom>
          <a:noFill/>
          <a:ln/>
        </p:spPr>
        <p:txBody>
          <a:bodyPr wrap="square" lIns="0" tIns="0" rIns="0" bIns="0" rtlCol="0" anchor="ctr"/>
          <a:lstStyle/>
          <a:p>
            <a:pPr indent="0" marL="0">
              <a:buNone/>
            </a:pPr>
            <a:r>
              <a:rPr lang="en-US" sz="1900" b="1" dirty="0">
                <a:solidFill>
                  <a:schemeClr val="tx1"/>
                </a:solidFill>
              </a:rPr>
              <a:t>Store vs recompute</a:t>
            </a:r>
            <a:endParaRPr lang="en-US" sz="1900" dirty="0"/>
          </a:p>
        </p:txBody>
      </p:sp>
      <p:sp>
        <p:nvSpPr>
          <p:cNvPr id="14" name="Text 12"/>
          <p:cNvSpPr txBox="1"/>
          <p:nvPr/>
        </p:nvSpPr>
        <p:spPr>
          <a:xfrm>
            <a:off x="8321040" y="2377440"/>
            <a:ext cx="3017520" cy="1005840"/>
          </a:xfrm>
          <a:prstGeom prst="rect">
            <a:avLst/>
          </a:prstGeom>
          <a:noFill/>
          <a:ln/>
        </p:spPr>
        <p:txBody>
          <a:bodyPr wrap="square" lIns="0" tIns="0" rIns="0" bIns="0" rtlCol="0" anchor="t"/>
          <a:lstStyle/>
          <a:p>
            <a:pPr indent="0" marL="0">
              <a:buNone/>
            </a:pPr>
            <a:r>
              <a:rPr lang="en-US" sz="1500" dirty="0">
                <a:solidFill>
                  <a:schemeClr val="tx2"/>
                </a:solidFill>
              </a:rPr>
              <a:t>Gradient checkpointing, FlashAttention backward, Mamba's scan</a:t>
            </a:r>
            <a:endParaRPr lang="en-US" sz="1500" dirty="0"/>
          </a:p>
        </p:txBody>
      </p:sp>
      <p:sp>
        <p:nvSpPr>
          <p:cNvPr id="15" name="Card"/>
          <p:cNvSpPr/>
          <p:nvPr/>
        </p:nvSpPr>
        <p:spPr>
          <a:xfrm>
            <a:off x="2423160" y="3794760"/>
            <a:ext cx="3520440" cy="1965960"/>
          </a:xfrm>
          <a:prstGeom prst="roundRect">
            <a:avLst>
              <a:gd name="adj" fmla="val 5581"/>
            </a:avLst>
          </a:prstGeom>
          <a:solidFill>
            <a:schemeClr val="bg2"/>
          </a:solidFill>
          <a:ln/>
        </p:spPr>
      </p:sp>
      <p:sp>
        <p:nvSpPr>
          <p:cNvPr id="16" name="Motif dot"/>
          <p:cNvSpPr/>
          <p:nvPr/>
        </p:nvSpPr>
        <p:spPr>
          <a:xfrm>
            <a:off x="2697480" y="4069080"/>
            <a:ext cx="320040" cy="320040"/>
          </a:xfrm>
          <a:prstGeom prst="ellipse">
            <a:avLst/>
          </a:prstGeom>
          <a:solidFill>
            <a:schemeClr val="accent6"/>
          </a:solidFill>
          <a:ln/>
        </p:spPr>
      </p:sp>
      <p:sp>
        <p:nvSpPr>
          <p:cNvPr id="17" name="Text 15"/>
          <p:cNvSpPr txBox="1"/>
          <p:nvPr/>
        </p:nvSpPr>
        <p:spPr>
          <a:xfrm>
            <a:off x="3154680" y="3995928"/>
            <a:ext cx="2651760" cy="457200"/>
          </a:xfrm>
          <a:prstGeom prst="rect">
            <a:avLst/>
          </a:prstGeom>
          <a:noFill/>
          <a:ln/>
        </p:spPr>
        <p:txBody>
          <a:bodyPr wrap="square" lIns="0" tIns="0" rIns="0" bIns="0" rtlCol="0" anchor="ctr"/>
          <a:lstStyle/>
          <a:p>
            <a:pPr indent="0" marL="0">
              <a:buNone/>
            </a:pPr>
            <a:r>
              <a:rPr lang="en-US" sz="1900" b="1" dirty="0">
                <a:solidFill>
                  <a:schemeClr val="tx1"/>
                </a:solidFill>
              </a:rPr>
              <a:t>Conditional computation</a:t>
            </a:r>
            <a:endParaRPr lang="en-US" sz="1900" dirty="0"/>
          </a:p>
        </p:txBody>
      </p:sp>
      <p:sp>
        <p:nvSpPr>
          <p:cNvPr id="18" name="Text 16"/>
          <p:cNvSpPr txBox="1"/>
          <p:nvPr/>
        </p:nvSpPr>
        <p:spPr>
          <a:xfrm>
            <a:off x="2697480" y="4617720"/>
            <a:ext cx="3017520" cy="1005840"/>
          </a:xfrm>
          <a:prstGeom prst="rect">
            <a:avLst/>
          </a:prstGeom>
          <a:noFill/>
          <a:ln/>
        </p:spPr>
        <p:txBody>
          <a:bodyPr wrap="square" lIns="0" tIns="0" rIns="0" bIns="0" rtlCol="0" anchor="t"/>
          <a:lstStyle/>
          <a:p>
            <a:pPr indent="0" marL="0">
              <a:buNone/>
            </a:pPr>
            <a:r>
              <a:rPr lang="en-US" sz="1500" dirty="0">
                <a:solidFill>
                  <a:schemeClr val="tx2"/>
                </a:solidFill>
              </a:rPr>
              <a:t>MoE, sparse attention, Mamba's input-dependent selection</a:t>
            </a:r>
            <a:endParaRPr lang="en-US" sz="1500" dirty="0"/>
          </a:p>
        </p:txBody>
      </p:sp>
      <p:sp>
        <p:nvSpPr>
          <p:cNvPr id="19" name="Card"/>
          <p:cNvSpPr/>
          <p:nvPr/>
        </p:nvSpPr>
        <p:spPr>
          <a:xfrm>
            <a:off x="6172200" y="3794760"/>
            <a:ext cx="3520440" cy="1965960"/>
          </a:xfrm>
          <a:prstGeom prst="roundRect">
            <a:avLst>
              <a:gd name="adj" fmla="val 5581"/>
            </a:avLst>
          </a:prstGeom>
          <a:solidFill>
            <a:schemeClr val="bg2"/>
          </a:solidFill>
          <a:ln/>
        </p:spPr>
      </p:sp>
      <p:sp>
        <p:nvSpPr>
          <p:cNvPr id="20" name="Motif dot"/>
          <p:cNvSpPr/>
          <p:nvPr/>
        </p:nvSpPr>
        <p:spPr>
          <a:xfrm>
            <a:off x="6446520" y="4069080"/>
            <a:ext cx="320040" cy="320040"/>
          </a:xfrm>
          <a:prstGeom prst="ellipse">
            <a:avLst/>
          </a:prstGeom>
          <a:solidFill>
            <a:schemeClr val="accent6"/>
          </a:solidFill>
          <a:ln/>
        </p:spPr>
      </p:sp>
      <p:sp>
        <p:nvSpPr>
          <p:cNvPr id="21" name="Text 19"/>
          <p:cNvSpPr txBox="1"/>
          <p:nvPr/>
        </p:nvSpPr>
        <p:spPr>
          <a:xfrm>
            <a:off x="6903720" y="3995928"/>
            <a:ext cx="2651760" cy="457200"/>
          </a:xfrm>
          <a:prstGeom prst="rect">
            <a:avLst/>
          </a:prstGeom>
          <a:noFill/>
          <a:ln/>
        </p:spPr>
        <p:txBody>
          <a:bodyPr wrap="square" lIns="0" tIns="0" rIns="0" bIns="0" rtlCol="0" anchor="ctr"/>
          <a:lstStyle/>
          <a:p>
            <a:pPr indent="0" marL="0">
              <a:buNone/>
            </a:pPr>
            <a:r>
              <a:rPr lang="en-US" sz="1900" b="1" dirty="0">
                <a:solidFill>
                  <a:schemeClr val="tx1"/>
                </a:solidFill>
              </a:rPr>
              <a:t>Normalising scale</a:t>
            </a:r>
            <a:endParaRPr lang="en-US" sz="1900" dirty="0"/>
          </a:p>
        </p:txBody>
      </p:sp>
      <p:sp>
        <p:nvSpPr>
          <p:cNvPr id="22" name="Text 20"/>
          <p:cNvSpPr txBox="1"/>
          <p:nvPr/>
        </p:nvSpPr>
        <p:spPr>
          <a:xfrm>
            <a:off x="6446520" y="4617720"/>
            <a:ext cx="3017520" cy="1005840"/>
          </a:xfrm>
          <a:prstGeom prst="rect">
            <a:avLst/>
          </a:prstGeom>
          <a:noFill/>
          <a:ln/>
        </p:spPr>
        <p:txBody>
          <a:bodyPr wrap="square" lIns="0" tIns="0" rIns="0" bIns="0" rtlCol="0" anchor="t"/>
          <a:lstStyle/>
          <a:p>
            <a:pPr indent="0" marL="0">
              <a:buNone/>
            </a:pPr>
            <a:r>
              <a:rPr lang="en-US" sz="1500" dirty="0">
                <a:solidFill>
                  <a:schemeClr val="tx2"/>
                </a:solidFill>
              </a:rPr>
              <a:t>BatchNorm, LayerNorm, RMSNorm, QK-norm</a:t>
            </a:r>
            <a:endParaRPr lang="en-US" sz="1500" dirty="0"/>
          </a:p>
        </p:txBody>
      </p:sp>
      <p:sp>
        <p:nvSpPr>
          <p:cNvPr id="23" name="Text 21"/>
          <p:cNvSpPr txBox="1"/>
          <p:nvPr/>
        </p:nvSpPr>
        <p:spPr>
          <a:xfrm>
            <a:off x="548640" y="5897880"/>
            <a:ext cx="11064240" cy="365760"/>
          </a:xfrm>
          <a:prstGeom prst="rect">
            <a:avLst/>
          </a:prstGeom>
          <a:noFill/>
          <a:ln/>
        </p:spPr>
        <p:txBody>
          <a:bodyPr wrap="square" lIns="0" tIns="0" rIns="0" bIns="0" rtlCol="0" anchor="t"/>
          <a:lstStyle/>
          <a:p>
            <a:pPr indent="0" marL="0">
              <a:buNone/>
            </a:pPr>
            <a:r>
              <a:rPr lang="en-US" sz="1600" i="1" dirty="0">
                <a:solidFill>
                  <a:schemeClr val="tx2"/>
                </a:solidFill>
              </a:rPr>
              <a:t>When a paper looks new, it is often one of these in a new place.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Number circle"/>
          <p:cNvSpPr/>
          <p:nvPr/>
        </p:nvSpPr>
        <p:spPr>
          <a:xfrm>
            <a:off x="548640" y="1554480"/>
            <a:ext cx="1188720" cy="1188720"/>
          </a:xfrm>
          <a:prstGeom prst="ellipse">
            <a:avLst/>
          </a:prstGeom>
          <a:solidFill>
            <a:schemeClr val="accent1"/>
          </a:solidFill>
          <a:ln/>
        </p:spPr>
      </p:sp>
      <p:sp>
        <p:nvSpPr>
          <p:cNvPr id="3" name="Text 1"/>
          <p:cNvSpPr txBox="1"/>
          <p:nvPr/>
        </p:nvSpPr>
        <p:spPr>
          <a:xfrm>
            <a:off x="548640" y="1554480"/>
            <a:ext cx="1188720" cy="1188720"/>
          </a:xfrm>
          <a:prstGeom prst="rect">
            <a:avLst/>
          </a:prstGeom>
          <a:noFill/>
          <a:ln/>
        </p:spPr>
        <p:txBody>
          <a:bodyPr wrap="square" lIns="0" tIns="0" rIns="0" bIns="0" rtlCol="0" anchor="ctr"/>
          <a:lstStyle/>
          <a:p>
            <a:pPr algn="ctr" indent="0" marL="0">
              <a:buNone/>
            </a:pPr>
            <a:r>
              <a:rPr lang="en-US" sz="5400" b="1" dirty="0">
                <a:solidFill>
                  <a:schemeClr val="bg1"/>
                </a:solidFill>
              </a:rPr>
              <a:t>1</a:t>
            </a:r>
            <a:endParaRPr lang="en-US" sz="5400" dirty="0"/>
          </a:p>
        </p:txBody>
      </p:sp>
      <p:sp>
        <p:nvSpPr>
          <p:cNvPr id="4" name="Text 2"/>
          <p:cNvSpPr txBox="1"/>
          <p:nvPr/>
        </p:nvSpPr>
        <p:spPr>
          <a:xfrm>
            <a:off x="2057400" y="1600200"/>
            <a:ext cx="8229600" cy="365760"/>
          </a:xfrm>
          <a:prstGeom prst="rect">
            <a:avLst/>
          </a:prstGeom>
          <a:noFill/>
          <a:ln/>
        </p:spPr>
        <p:txBody>
          <a:bodyPr wrap="square" lIns="0" tIns="0" rIns="0" bIns="0" rtlCol="0" anchor="ctr"/>
          <a:lstStyle/>
          <a:p>
            <a:pPr indent="0" marL="0">
              <a:buNone/>
            </a:pPr>
            <a:r>
              <a:rPr lang="en-US" sz="1600" b="1" spc="300" kern="0" dirty="0">
                <a:solidFill>
                  <a:schemeClr val="accent6"/>
                </a:solidFill>
              </a:rPr>
              <a:t>IDEA 1</a:t>
            </a:r>
            <a:endParaRPr lang="en-US" sz="1600" dirty="0"/>
          </a:p>
        </p:txBody>
      </p:sp>
      <p:sp>
        <p:nvSpPr>
          <p:cNvPr id="5" name="Text 3"/>
          <p:cNvSpPr txBox="1"/>
          <p:nvPr/>
        </p:nvSpPr>
        <p:spPr>
          <a:xfrm>
            <a:off x="2057400" y="2011680"/>
            <a:ext cx="9509760" cy="137160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Keep the signal alive through depth</a:t>
            </a:r>
            <a:endParaRPr lang="en-US" sz="4000" dirty="0"/>
          </a:p>
        </p:txBody>
      </p:sp>
      <p:sp>
        <p:nvSpPr>
          <p:cNvPr id="6" name="Text 4"/>
          <p:cNvSpPr txBox="1"/>
          <p:nvPr/>
        </p:nvSpPr>
        <p:spPr>
          <a:xfrm>
            <a:off x="2057400" y="3566160"/>
            <a:ext cx="8961120" cy="1097280"/>
          </a:xfrm>
          <a:prstGeom prst="rect">
            <a:avLst/>
          </a:prstGeom>
          <a:noFill/>
          <a:ln/>
        </p:spPr>
        <p:txBody>
          <a:bodyPr wrap="square" lIns="0" tIns="0" rIns="0" bIns="0" rtlCol="0" anchor="t"/>
          <a:lstStyle/>
          <a:p>
            <a:pPr indent="0" marL="0">
              <a:buNone/>
            </a:pPr>
            <a:r>
              <a:rPr lang="en-US" sz="2200" b="1" i="1" dirty="0">
                <a:solidFill>
                  <a:schemeClr val="accent6"/>
                </a:solidFill>
              </a:rPr>
              <a:t>The question to ask: </a:t>
            </a:r>
            <a:pPr indent="0" marL="0">
              <a:buNone/>
            </a:pPr>
            <a:r>
              <a:rPr lang="en-US" sz="2200" i="1" dirty="0">
                <a:solidFill>
                  <a:schemeClr val="bg1"/>
                </a:solidFill>
              </a:rPr>
              <a:t>What keeps activations and gradients at a sane scale as the model gets deeper?</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418320" cy="868680"/>
          </a:xfrm>
          <a:prstGeom prst="rect">
            <a:avLst/>
          </a:prstGeom>
          <a:noFill/>
          <a:ln/>
        </p:spPr>
        <p:txBody>
          <a:bodyPr wrap="square" lIns="0" tIns="0" rIns="0" bIns="0" rtlCol="0" anchor="ctr"/>
          <a:lstStyle/>
          <a:p>
            <a:pPr algn="l" indent="0" marL="0">
              <a:buNone/>
            </a:pPr>
            <a:r>
              <a:rPr lang="en-US" sz="3000" b="1" dirty="0">
                <a:solidFill>
                  <a:schemeClr val="tx1"/>
                </a:solidFill>
              </a:rPr>
              <a:t>Small scale errors compound over 48 layers</a:t>
            </a:r>
            <a:endParaRPr lang="en-US" sz="3000" dirty="0"/>
          </a:p>
        </p:txBody>
      </p:sp>
      <p:sp>
        <p:nvSpPr>
          <p:cNvPr id="3" name="Idea chip"/>
          <p:cNvSpPr/>
          <p:nvPr/>
        </p:nvSpPr>
        <p:spPr>
          <a:xfrm>
            <a:off x="10378440" y="548640"/>
            <a:ext cx="1261872" cy="384048"/>
          </a:xfrm>
          <a:prstGeom prst="roundRect">
            <a:avLst>
              <a:gd name="adj" fmla="val 50000"/>
            </a:avLst>
          </a:prstGeom>
          <a:solidFill>
            <a:schemeClr val="accent1"/>
          </a:solidFill>
          <a:ln/>
        </p:spPr>
      </p:sp>
      <p:sp>
        <p:nvSpPr>
          <p:cNvPr id="4" name="Text 2"/>
          <p:cNvSpPr txBox="1"/>
          <p:nvPr/>
        </p:nvSpPr>
        <p:spPr>
          <a:xfrm>
            <a:off x="10378440" y="548640"/>
            <a:ext cx="1261872" cy="384048"/>
          </a:xfrm>
          <a:prstGeom prst="rect">
            <a:avLst/>
          </a:prstGeom>
          <a:noFill/>
          <a:ln/>
        </p:spPr>
        <p:txBody>
          <a:bodyPr wrap="square" lIns="0" tIns="0" rIns="0" bIns="0" rtlCol="0" anchor="ctr"/>
          <a:lstStyle/>
          <a:p>
            <a:pPr algn="ctr" indent="0" marL="0">
              <a:buNone/>
            </a:pPr>
            <a:r>
              <a:rPr lang="en-US" sz="1300" b="1" spc="200" kern="0" dirty="0">
                <a:solidFill>
                  <a:schemeClr val="bg1"/>
                </a:solidFill>
              </a:rPr>
              <a:t>IDEA 1</a:t>
            </a:r>
            <a:endParaRPr lang="en-US" sz="1300" dirty="0"/>
          </a:p>
        </p:txBody>
      </p:sp>
      <p:sp>
        <p:nvSpPr>
          <p:cNvPr id="5" name="Card"/>
          <p:cNvSpPr/>
          <p:nvPr/>
        </p:nvSpPr>
        <p:spPr>
          <a:xfrm>
            <a:off x="548640" y="1508760"/>
            <a:ext cx="3291840" cy="2103120"/>
          </a:xfrm>
          <a:prstGeom prst="roundRect">
            <a:avLst>
              <a:gd name="adj" fmla="val 5217"/>
            </a:avLst>
          </a:prstGeom>
          <a:solidFill>
            <a:schemeClr val="bg2"/>
          </a:solidFill>
          <a:ln/>
        </p:spPr>
      </p:sp>
      <p:sp>
        <p:nvSpPr>
          <p:cNvPr id="6" name="Text 4"/>
          <p:cNvSpPr txBox="1"/>
          <p:nvPr/>
        </p:nvSpPr>
        <p:spPr>
          <a:xfrm>
            <a:off x="822960" y="1691640"/>
            <a:ext cx="2834640" cy="914400"/>
          </a:xfrm>
          <a:prstGeom prst="rect">
            <a:avLst/>
          </a:prstGeom>
          <a:noFill/>
          <a:ln/>
        </p:spPr>
        <p:txBody>
          <a:bodyPr wrap="square" lIns="0" tIns="0" rIns="0" bIns="0" rtlCol="0" anchor="ctr"/>
          <a:lstStyle/>
          <a:p>
            <a:pPr indent="0" marL="0">
              <a:buNone/>
            </a:pPr>
            <a:r>
              <a:rPr lang="en-US" sz="3200" b="1" dirty="0">
                <a:solidFill>
                  <a:schemeClr val="accent4"/>
                </a:solidFill>
                <a:latin typeface="Cambria" pitchFamily="34" charset="0"/>
                <a:ea typeface="Cambria" pitchFamily="34" charset="-122"/>
                <a:cs typeface="Cambria" pitchFamily="34" charset="-120"/>
              </a:rPr>
              <a:t>1.1⁴⁸ ≈ 97×</a:t>
            </a:r>
            <a:endParaRPr lang="en-US" sz="3200" dirty="0"/>
          </a:p>
        </p:txBody>
      </p:sp>
      <p:sp>
        <p:nvSpPr>
          <p:cNvPr id="7" name="Text 5"/>
          <p:cNvSpPr txBox="1"/>
          <p:nvPr/>
        </p:nvSpPr>
        <p:spPr>
          <a:xfrm>
            <a:off x="822960" y="2697480"/>
            <a:ext cx="2834640" cy="731520"/>
          </a:xfrm>
          <a:prstGeom prst="rect">
            <a:avLst/>
          </a:prstGeom>
          <a:noFill/>
          <a:ln/>
        </p:spPr>
        <p:txBody>
          <a:bodyPr wrap="square" lIns="0" tIns="0" rIns="0" bIns="0" rtlCol="0" anchor="t"/>
          <a:lstStyle/>
          <a:p>
            <a:pPr indent="0" marL="0">
              <a:buNone/>
            </a:pPr>
            <a:r>
              <a:rPr lang="en-US" sz="1400" dirty="0">
                <a:solidFill>
                  <a:schemeClr val="tx2"/>
                </a:solidFill>
              </a:rPr>
              <a:t>10% growth per layer: activations explode</a:t>
            </a:r>
            <a:endParaRPr lang="en-US" sz="1400" dirty="0"/>
          </a:p>
        </p:txBody>
      </p:sp>
      <p:sp>
        <p:nvSpPr>
          <p:cNvPr id="8" name="Card"/>
          <p:cNvSpPr/>
          <p:nvPr/>
        </p:nvSpPr>
        <p:spPr>
          <a:xfrm>
            <a:off x="548640" y="3794760"/>
            <a:ext cx="3291840" cy="2103120"/>
          </a:xfrm>
          <a:prstGeom prst="roundRect">
            <a:avLst>
              <a:gd name="adj" fmla="val 5217"/>
            </a:avLst>
          </a:prstGeom>
          <a:solidFill>
            <a:schemeClr val="bg2"/>
          </a:solidFill>
          <a:ln/>
        </p:spPr>
      </p:sp>
      <p:sp>
        <p:nvSpPr>
          <p:cNvPr id="9" name="Text 7"/>
          <p:cNvSpPr txBox="1"/>
          <p:nvPr/>
        </p:nvSpPr>
        <p:spPr>
          <a:xfrm>
            <a:off x="822960" y="3977640"/>
            <a:ext cx="2834640" cy="914400"/>
          </a:xfrm>
          <a:prstGeom prst="rect">
            <a:avLst/>
          </a:prstGeom>
          <a:noFill/>
          <a:ln/>
        </p:spPr>
        <p:txBody>
          <a:bodyPr wrap="square" lIns="0" tIns="0" rIns="0" bIns="0" rtlCol="0" anchor="ctr"/>
          <a:lstStyle/>
          <a:p>
            <a:pPr indent="0" marL="0">
              <a:buNone/>
            </a:pPr>
            <a:r>
              <a:rPr lang="en-US" sz="3200" b="1" dirty="0">
                <a:solidFill>
                  <a:schemeClr val="accent5"/>
                </a:solidFill>
                <a:latin typeface="Cambria" pitchFamily="34" charset="0"/>
                <a:ea typeface="Cambria" pitchFamily="34" charset="-122"/>
                <a:cs typeface="Cambria" pitchFamily="34" charset="-120"/>
              </a:rPr>
              <a:t>0.9⁴⁸ ≈ 0.006</a:t>
            </a:r>
            <a:endParaRPr lang="en-US" sz="3200" dirty="0"/>
          </a:p>
        </p:txBody>
      </p:sp>
      <p:sp>
        <p:nvSpPr>
          <p:cNvPr id="10" name="Text 8"/>
          <p:cNvSpPr txBox="1"/>
          <p:nvPr/>
        </p:nvSpPr>
        <p:spPr>
          <a:xfrm>
            <a:off x="822960" y="4983480"/>
            <a:ext cx="2834640" cy="731520"/>
          </a:xfrm>
          <a:prstGeom prst="rect">
            <a:avLst/>
          </a:prstGeom>
          <a:noFill/>
          <a:ln/>
        </p:spPr>
        <p:txBody>
          <a:bodyPr wrap="square" lIns="0" tIns="0" rIns="0" bIns="0" rtlCol="0" anchor="t"/>
          <a:lstStyle/>
          <a:p>
            <a:pPr indent="0" marL="0">
              <a:buNone/>
            </a:pPr>
            <a:r>
              <a:rPr lang="en-US" sz="1400" dirty="0">
                <a:solidFill>
                  <a:schemeClr val="tx2"/>
                </a:solidFill>
              </a:rPr>
              <a:t>10% shrink per layer: gradients vanish</a:t>
            </a:r>
            <a:endParaRPr lang="en-US" sz="1400" dirty="0"/>
          </a:p>
        </p:txBody>
      </p:sp>
      <p:sp>
        <p:nvSpPr>
          <p:cNvPr id="11" name="Card"/>
          <p:cNvSpPr/>
          <p:nvPr/>
        </p:nvSpPr>
        <p:spPr>
          <a:xfrm>
            <a:off x="4114800" y="1508760"/>
            <a:ext cx="7525512" cy="4389120"/>
          </a:xfrm>
          <a:prstGeom prst="roundRect">
            <a:avLst>
              <a:gd name="adj" fmla="val 2500"/>
            </a:avLst>
          </a:prstGeom>
          <a:solidFill>
            <a:schemeClr val="tx1"/>
          </a:solidFill>
          <a:ln/>
        </p:spPr>
      </p:sp>
      <p:sp>
        <p:nvSpPr>
          <p:cNvPr id="12" name="Text 10"/>
          <p:cNvSpPr txBox="1"/>
          <p:nvPr/>
        </p:nvSpPr>
        <p:spPr>
          <a:xfrm>
            <a:off x="4480560" y="1783080"/>
            <a:ext cx="6766560" cy="365760"/>
          </a:xfrm>
          <a:prstGeom prst="rect">
            <a:avLst/>
          </a:prstGeom>
          <a:noFill/>
          <a:ln/>
        </p:spPr>
        <p:txBody>
          <a:bodyPr wrap="square" lIns="0" tIns="0" rIns="0" bIns="0" rtlCol="0" anchor="ctr"/>
          <a:lstStyle/>
          <a:p>
            <a:pPr indent="0" marL="0">
              <a:buNone/>
            </a:pPr>
            <a:r>
              <a:rPr lang="en-US" sz="1400" b="1" spc="300" kern="0" dirty="0">
                <a:solidFill>
                  <a:schemeClr val="accent6"/>
                </a:solidFill>
              </a:rPr>
              <a:t>THE FIX: SKIP CONNECTIONS</a:t>
            </a:r>
            <a:endParaRPr lang="en-US" sz="1400" dirty="0"/>
          </a:p>
        </p:txBody>
      </p:sp>
      <p:sp>
        <p:nvSpPr>
          <p:cNvPr id="13" name="Text 11"/>
          <p:cNvSpPr txBox="1"/>
          <p:nvPr/>
        </p:nvSpPr>
        <p:spPr>
          <a:xfrm>
            <a:off x="4480560" y="2286000"/>
            <a:ext cx="6766560" cy="91440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x₃ = x₀ + F₁ + F₂ + F₃</a:t>
            </a:r>
            <a:endParaRPr lang="en-US" sz="4000" dirty="0"/>
          </a:p>
        </p:txBody>
      </p:sp>
      <p:sp>
        <p:nvSpPr>
          <p:cNvPr id="14" name="Text 12"/>
          <p:cNvSpPr txBox="1"/>
          <p:nvPr/>
        </p:nvSpPr>
        <p:spPr>
          <a:xfrm>
            <a:off x="4480560" y="3383280"/>
            <a:ext cx="6766560" cy="22860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bg1"/>
                </a:solidFill>
              </a:rPr>
              <a:t>Each block adds to the residual stream instead of overwriting it.</a:t>
            </a:r>
            <a:endParaRPr lang="en-US" sz="1700" dirty="0"/>
          </a:p>
          <a:p>
            <a:pPr marL="342900" indent="-342900">
              <a:spcAft>
                <a:spcPts val="800"/>
              </a:spcAft>
              <a:buSzPct val="100000"/>
              <a:buChar char="•"/>
            </a:pPr>
            <a:r>
              <a:rPr lang="en-US" sz="1700" dirty="0">
                <a:solidFill>
                  <a:schemeClr val="bg1"/>
                </a:solidFill>
              </a:rPr>
              <a:t>The original input is still in the output, untouched.</a:t>
            </a:r>
            <a:endParaRPr lang="en-US" sz="1700" dirty="0"/>
          </a:p>
          <a:p>
            <a:pPr marL="342900" indent="-342900">
              <a:spcAft>
                <a:spcPts val="800"/>
              </a:spcAft>
              <a:buSzPct val="100000"/>
              <a:buChar char="•"/>
            </a:pPr>
            <a:r>
              <a:rPr lang="en-US" sz="1700" dirty="0">
                <a:solidFill>
                  <a:schemeClr val="bg1"/>
                </a:solidFill>
              </a:rPr>
              <a:t>The gradient flows back through the skips without being multiplied, so it reaches layer 1 at full strength.</a:t>
            </a:r>
            <a:endParaRPr lang="en-US" sz="1700" dirty="0"/>
          </a:p>
        </p:txBody>
      </p:sp>
      <p:sp>
        <p:nvSpPr>
          <p:cNvPr id="15" name="Text 13"/>
          <p:cNvSpPr txBox="1"/>
          <p:nvPr/>
        </p:nvSpPr>
        <p:spPr>
          <a:xfrm>
            <a:off x="6583680" y="6400800"/>
            <a:ext cx="4389120" cy="274320"/>
          </a:xfrm>
          <a:prstGeom prst="rect">
            <a:avLst/>
          </a:prstGeom>
          <a:noFill/>
          <a:ln/>
        </p:spPr>
        <p:txBody>
          <a:bodyPr wrap="square" lIns="0" tIns="0" rIns="0" bIns="0" rtlCol="0" anchor="ctr"/>
          <a:lstStyle/>
          <a:p>
            <a:pPr algn="r" indent="0" marL="0">
              <a:buNone/>
            </a:pPr>
            <a:r>
              <a:rPr lang="en-US" sz="1000" u="sng" dirty="0">
                <a:solidFill>
                  <a:srgbClr val="000000"/>
                </a:solidFill>
                <a:hlinkClick r:id="rId1" invalidUrl="" action="" tgtFrame="" tooltip="Open this section of the summary page" history="1" highlightClick="0" endSnd="0">
                  <a:extLst>
                    <a:ext uri="{A12FA001-AC4F-418D-AE19-62706E023703}">
                      <ahyp:hlinkClr xmlns:ahyp="http://schemas.microsoft.com/office/drawing/2018/hyperlinkcolor" val="tx"/>
                    </a:ext>
                  </a:extLst>
                </a:hlinkClick>
              </a:rPr>
              <a:t>In the summary: §1 LayerNorm ↗</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418320" cy="868680"/>
          </a:xfrm>
          <a:prstGeom prst="rect">
            <a:avLst/>
          </a:prstGeom>
          <a:noFill/>
          <a:ln/>
        </p:spPr>
        <p:txBody>
          <a:bodyPr wrap="square" lIns="0" tIns="0" rIns="0" bIns="0" rtlCol="0" anchor="ctr"/>
          <a:lstStyle/>
          <a:p>
            <a:pPr algn="l" indent="0" marL="0">
              <a:buNone/>
            </a:pPr>
            <a:r>
              <a:rPr lang="en-US" sz="3000" b="1" dirty="0">
                <a:solidFill>
                  <a:schemeClr val="tx1"/>
                </a:solidFill>
              </a:rPr>
              <a:t>Where the norm sits decides how a model trains</a:t>
            </a:r>
            <a:endParaRPr lang="en-US" sz="3000" dirty="0"/>
          </a:p>
        </p:txBody>
      </p:sp>
      <p:sp>
        <p:nvSpPr>
          <p:cNvPr id="3" name="Idea chip"/>
          <p:cNvSpPr/>
          <p:nvPr/>
        </p:nvSpPr>
        <p:spPr>
          <a:xfrm>
            <a:off x="10378440" y="548640"/>
            <a:ext cx="1261872" cy="384048"/>
          </a:xfrm>
          <a:prstGeom prst="roundRect">
            <a:avLst>
              <a:gd name="adj" fmla="val 50000"/>
            </a:avLst>
          </a:prstGeom>
          <a:solidFill>
            <a:schemeClr val="accent1"/>
          </a:solidFill>
          <a:ln/>
        </p:spPr>
      </p:sp>
      <p:sp>
        <p:nvSpPr>
          <p:cNvPr id="4" name="Text 2"/>
          <p:cNvSpPr txBox="1"/>
          <p:nvPr/>
        </p:nvSpPr>
        <p:spPr>
          <a:xfrm>
            <a:off x="10378440" y="548640"/>
            <a:ext cx="1261872" cy="384048"/>
          </a:xfrm>
          <a:prstGeom prst="rect">
            <a:avLst/>
          </a:prstGeom>
          <a:noFill/>
          <a:ln/>
        </p:spPr>
        <p:txBody>
          <a:bodyPr wrap="square" lIns="0" tIns="0" rIns="0" bIns="0" rtlCol="0" anchor="ctr"/>
          <a:lstStyle/>
          <a:p>
            <a:pPr algn="ctr" indent="0" marL="0">
              <a:buNone/>
            </a:pPr>
            <a:r>
              <a:rPr lang="en-US" sz="1300" b="1" spc="200" kern="0" dirty="0">
                <a:solidFill>
                  <a:schemeClr val="bg1"/>
                </a:solidFill>
              </a:rPr>
              <a:t>IDEA 1</a:t>
            </a:r>
            <a:endParaRPr lang="en-US" sz="1300" dirty="0"/>
          </a:p>
        </p:txBody>
      </p:sp>
      <p:pic>
        <p:nvPicPr>
          <p:cNvPr id="5" name="Diagram layernorm_placement" descr="Post-LN, Pre-LN and Peri-LN block diagrams">    </p:cNvPr>
          <p:cNvPicPr>
            <a:picLocks noChangeAspect="1"/>
          </p:cNvPicPr>
          <p:nvPr/>
        </p:nvPicPr>
        <p:blipFill>
          <a:blip r:embed="rId1"/>
          <a:stretch>
            <a:fillRect/>
          </a:stretch>
        </p:blipFill>
        <p:spPr>
          <a:xfrm>
            <a:off x="457200" y="1325880"/>
            <a:ext cx="7589520" cy="3979870"/>
          </a:xfrm>
          <a:prstGeom prst="rect">
            <a:avLst/>
          </a:prstGeom>
        </p:spPr>
      </p:pic>
      <p:sp>
        <p:nvSpPr>
          <p:cNvPr id="6" name="Card"/>
          <p:cNvSpPr/>
          <p:nvPr/>
        </p:nvSpPr>
        <p:spPr>
          <a:xfrm>
            <a:off x="8092440" y="1463040"/>
            <a:ext cx="3547872" cy="1325880"/>
          </a:xfrm>
          <a:prstGeom prst="roundRect">
            <a:avLst>
              <a:gd name="adj" fmla="val 8276"/>
            </a:avLst>
          </a:prstGeom>
          <a:solidFill>
            <a:schemeClr val="bg2"/>
          </a:solidFill>
          <a:ln/>
        </p:spPr>
      </p:sp>
      <p:sp>
        <p:nvSpPr>
          <p:cNvPr id="7" name="Verdict dot"/>
          <p:cNvSpPr/>
          <p:nvPr/>
        </p:nvSpPr>
        <p:spPr>
          <a:xfrm>
            <a:off x="8321040" y="1719072"/>
            <a:ext cx="274320" cy="274320"/>
          </a:xfrm>
          <a:prstGeom prst="ellipse">
            <a:avLst/>
          </a:prstGeom>
          <a:solidFill>
            <a:schemeClr val="accent4"/>
          </a:solidFill>
          <a:ln/>
        </p:spPr>
      </p:sp>
      <p:sp>
        <p:nvSpPr>
          <p:cNvPr id="8" name="Text 5"/>
          <p:cNvSpPr txBox="1"/>
          <p:nvPr/>
        </p:nvSpPr>
        <p:spPr>
          <a:xfrm>
            <a:off x="8732520" y="1645920"/>
            <a:ext cx="2743200" cy="411480"/>
          </a:xfrm>
          <a:prstGeom prst="rect">
            <a:avLst/>
          </a:prstGeom>
          <a:noFill/>
          <a:ln/>
        </p:spPr>
        <p:txBody>
          <a:bodyPr wrap="square" lIns="0" tIns="0" rIns="0" bIns="0" rtlCol="0" anchor="ctr"/>
          <a:lstStyle/>
          <a:p>
            <a:pPr indent="0" marL="0">
              <a:buNone/>
            </a:pPr>
            <a:r>
              <a:rPr lang="en-US" sz="1800" b="1" dirty="0">
                <a:solidFill>
                  <a:schemeClr val="tx1"/>
                </a:solidFill>
              </a:rPr>
              <a:t>Post-LN</a:t>
            </a:r>
            <a:endParaRPr lang="en-US" sz="1800" dirty="0"/>
          </a:p>
        </p:txBody>
      </p:sp>
      <p:sp>
        <p:nvSpPr>
          <p:cNvPr id="9" name="Text 6"/>
          <p:cNvSpPr txBox="1"/>
          <p:nvPr/>
        </p:nvSpPr>
        <p:spPr>
          <a:xfrm>
            <a:off x="8321040" y="2103120"/>
            <a:ext cx="3154680" cy="640080"/>
          </a:xfrm>
          <a:prstGeom prst="rect">
            <a:avLst/>
          </a:prstGeom>
          <a:noFill/>
          <a:ln/>
        </p:spPr>
        <p:txBody>
          <a:bodyPr wrap="square" lIns="0" tIns="0" rIns="0" bIns="0" rtlCol="0" anchor="t"/>
          <a:lstStyle/>
          <a:p>
            <a:pPr indent="0" marL="0">
              <a:buNone/>
            </a:pPr>
            <a:r>
              <a:rPr lang="en-US" sz="1400" dirty="0">
                <a:solidFill>
                  <a:schemeClr val="tx2"/>
                </a:solidFill>
              </a:rPr>
              <a:t>Only to reproduce a BERT-era model. Needs warmup; fragile when deep.</a:t>
            </a:r>
            <a:endParaRPr lang="en-US" sz="1400" dirty="0"/>
          </a:p>
        </p:txBody>
      </p:sp>
      <p:sp>
        <p:nvSpPr>
          <p:cNvPr id="10" name="Card"/>
          <p:cNvSpPr/>
          <p:nvPr/>
        </p:nvSpPr>
        <p:spPr>
          <a:xfrm>
            <a:off x="8092440" y="2971800"/>
            <a:ext cx="3547872" cy="1325880"/>
          </a:xfrm>
          <a:prstGeom prst="roundRect">
            <a:avLst>
              <a:gd name="adj" fmla="val 8276"/>
            </a:avLst>
          </a:prstGeom>
          <a:solidFill>
            <a:schemeClr val="bg2"/>
          </a:solidFill>
          <a:ln/>
        </p:spPr>
      </p:sp>
      <p:sp>
        <p:nvSpPr>
          <p:cNvPr id="11" name="Verdict dot"/>
          <p:cNvSpPr/>
          <p:nvPr/>
        </p:nvSpPr>
        <p:spPr>
          <a:xfrm>
            <a:off x="8321040" y="3227832"/>
            <a:ext cx="274320" cy="274320"/>
          </a:xfrm>
          <a:prstGeom prst="ellipse">
            <a:avLst/>
          </a:prstGeom>
          <a:solidFill>
            <a:schemeClr val="accent1"/>
          </a:solidFill>
          <a:ln/>
        </p:spPr>
      </p:sp>
      <p:sp>
        <p:nvSpPr>
          <p:cNvPr id="12" name="Text 9"/>
          <p:cNvSpPr txBox="1"/>
          <p:nvPr/>
        </p:nvSpPr>
        <p:spPr>
          <a:xfrm>
            <a:off x="8732520" y="3154680"/>
            <a:ext cx="2743200" cy="411480"/>
          </a:xfrm>
          <a:prstGeom prst="rect">
            <a:avLst/>
          </a:prstGeom>
          <a:noFill/>
          <a:ln/>
        </p:spPr>
        <p:txBody>
          <a:bodyPr wrap="square" lIns="0" tIns="0" rIns="0" bIns="0" rtlCol="0" anchor="ctr"/>
          <a:lstStyle/>
          <a:p>
            <a:pPr indent="0" marL="0">
              <a:buNone/>
            </a:pPr>
            <a:r>
              <a:rPr lang="en-US" sz="1800" b="1" dirty="0">
                <a:solidFill>
                  <a:schemeClr val="tx1"/>
                </a:solidFill>
              </a:rPr>
              <a:t>Pre-LN</a:t>
            </a:r>
            <a:endParaRPr lang="en-US" sz="1800" dirty="0"/>
          </a:p>
        </p:txBody>
      </p:sp>
      <p:sp>
        <p:nvSpPr>
          <p:cNvPr id="13" name="Text 10"/>
          <p:cNvSpPr txBox="1"/>
          <p:nvPr/>
        </p:nvSpPr>
        <p:spPr>
          <a:xfrm>
            <a:off x="8321040" y="3611880"/>
            <a:ext cx="3154680" cy="640080"/>
          </a:xfrm>
          <a:prstGeom prst="rect">
            <a:avLst/>
          </a:prstGeom>
          <a:noFill/>
          <a:ln/>
        </p:spPr>
        <p:txBody>
          <a:bodyPr wrap="square" lIns="0" tIns="0" rIns="0" bIns="0" rtlCol="0" anchor="t"/>
          <a:lstStyle/>
          <a:p>
            <a:pPr indent="0" marL="0">
              <a:buNone/>
            </a:pPr>
            <a:r>
              <a:rPr lang="en-US" sz="1400" dirty="0">
                <a:solidFill>
                  <a:schemeClr val="tx2"/>
                </a:solidFill>
              </a:rPr>
              <a:t>The default, with RMSNorm. Stable from step 1.</a:t>
            </a:r>
            <a:endParaRPr lang="en-US" sz="1400" dirty="0"/>
          </a:p>
        </p:txBody>
      </p:sp>
      <p:sp>
        <p:nvSpPr>
          <p:cNvPr id="14" name="Card"/>
          <p:cNvSpPr/>
          <p:nvPr/>
        </p:nvSpPr>
        <p:spPr>
          <a:xfrm>
            <a:off x="8092440" y="4480560"/>
            <a:ext cx="3547872" cy="1325880"/>
          </a:xfrm>
          <a:prstGeom prst="roundRect">
            <a:avLst>
              <a:gd name="adj" fmla="val 8276"/>
            </a:avLst>
          </a:prstGeom>
          <a:solidFill>
            <a:schemeClr val="bg2"/>
          </a:solidFill>
          <a:ln/>
        </p:spPr>
      </p:sp>
      <p:sp>
        <p:nvSpPr>
          <p:cNvPr id="15" name="Verdict dot"/>
          <p:cNvSpPr/>
          <p:nvPr/>
        </p:nvSpPr>
        <p:spPr>
          <a:xfrm>
            <a:off x="8321040" y="4736592"/>
            <a:ext cx="274320" cy="274320"/>
          </a:xfrm>
          <a:prstGeom prst="ellipse">
            <a:avLst/>
          </a:prstGeom>
          <a:solidFill>
            <a:schemeClr val="accent5"/>
          </a:solidFill>
          <a:ln/>
        </p:spPr>
      </p:sp>
      <p:sp>
        <p:nvSpPr>
          <p:cNvPr id="16" name="Text 13"/>
          <p:cNvSpPr txBox="1"/>
          <p:nvPr/>
        </p:nvSpPr>
        <p:spPr>
          <a:xfrm>
            <a:off x="8732520" y="4663440"/>
            <a:ext cx="2743200" cy="411480"/>
          </a:xfrm>
          <a:prstGeom prst="rect">
            <a:avLst/>
          </a:prstGeom>
          <a:noFill/>
          <a:ln/>
        </p:spPr>
        <p:txBody>
          <a:bodyPr wrap="square" lIns="0" tIns="0" rIns="0" bIns="0" rtlCol="0" anchor="ctr"/>
          <a:lstStyle/>
          <a:p>
            <a:pPr indent="0" marL="0">
              <a:buNone/>
            </a:pPr>
            <a:r>
              <a:rPr lang="en-US" sz="1800" b="1" dirty="0">
                <a:solidFill>
                  <a:schemeClr val="tx1"/>
                </a:solidFill>
              </a:rPr>
              <a:t>Peri-LN</a:t>
            </a:r>
            <a:endParaRPr lang="en-US" sz="1800" dirty="0"/>
          </a:p>
        </p:txBody>
      </p:sp>
      <p:sp>
        <p:nvSpPr>
          <p:cNvPr id="17" name="Text 14"/>
          <p:cNvSpPr txBox="1"/>
          <p:nvPr/>
        </p:nvSpPr>
        <p:spPr>
          <a:xfrm>
            <a:off x="8321040" y="5120640"/>
            <a:ext cx="3154680" cy="640080"/>
          </a:xfrm>
          <a:prstGeom prst="rect">
            <a:avLst/>
          </a:prstGeom>
          <a:noFill/>
          <a:ln/>
        </p:spPr>
        <p:txBody>
          <a:bodyPr wrap="square" lIns="0" tIns="0" rIns="0" bIns="0" rtlCol="0" anchor="t"/>
          <a:lstStyle/>
          <a:p>
            <a:pPr indent="0" marL="0">
              <a:buNone/>
            </a:pPr>
            <a:r>
              <a:rPr lang="en-US" sz="1400" dirty="0">
                <a:solidFill>
                  <a:schemeClr val="tx2"/>
                </a:solidFill>
              </a:rPr>
              <a:t>When Pre-LN shows loss spikes at scale.</a:t>
            </a:r>
            <a:endParaRPr lang="en-US" sz="1400" dirty="0"/>
          </a:p>
        </p:txBody>
      </p:sp>
      <p:sp>
        <p:nvSpPr>
          <p:cNvPr id="18" name="Text 15"/>
          <p:cNvSpPr txBox="1"/>
          <p:nvPr/>
        </p:nvSpPr>
        <p:spPr>
          <a:xfrm>
            <a:off x="548640" y="5715000"/>
            <a:ext cx="7315200" cy="548640"/>
          </a:xfrm>
          <a:prstGeom prst="rect">
            <a:avLst/>
          </a:prstGeom>
          <a:noFill/>
          <a:ln/>
        </p:spPr>
        <p:txBody>
          <a:bodyPr wrap="square" lIns="0" tIns="0" rIns="0" bIns="0" rtlCol="0" anchor="t"/>
          <a:lstStyle/>
          <a:p>
            <a:pPr indent="0" marL="0">
              <a:buNone/>
            </a:pPr>
            <a:r>
              <a:rPr lang="en-US" sz="1500" i="1" dirty="0">
                <a:solidFill>
                  <a:schemeClr val="tx2"/>
                </a:solidFill>
              </a:rPr>
              <a:t>Look for one thing: does the plain x pass outside every norm? That is the clean gradient path.</a:t>
            </a:r>
            <a:endParaRPr lang="en-US" sz="1500" dirty="0"/>
          </a:p>
        </p:txBody>
      </p:sp>
      <p:sp>
        <p:nvSpPr>
          <p:cNvPr id="19" name="Text 16"/>
          <p:cNvSpPr txBox="1"/>
          <p:nvPr/>
        </p:nvSpPr>
        <p:spPr>
          <a:xfrm>
            <a:off x="6583680" y="6400800"/>
            <a:ext cx="4389120" cy="274320"/>
          </a:xfrm>
          <a:prstGeom prst="rect">
            <a:avLst/>
          </a:prstGeom>
          <a:noFill/>
          <a:ln/>
        </p:spPr>
        <p:txBody>
          <a:bodyPr wrap="square" lIns="0" tIns="0" rIns="0" bIns="0" rtlCol="0" anchor="ctr"/>
          <a:lstStyle/>
          <a:p>
            <a:pPr algn="r" indent="0" marL="0">
              <a:buNone/>
            </a:pPr>
            <a:r>
              <a:rPr lang="en-US" sz="1000" u="sng" dirty="0">
                <a:solidFill>
                  <a:srgbClr val="000000"/>
                </a:solidFill>
                <a:hlinkClick r:id="rId2" invalidUrl="" action="" tgtFrame="" tooltip="Open this section of the summary page" history="1" highlightClick="0" endSnd="0">
                  <a:extLst>
                    <a:ext uri="{A12FA001-AC4F-418D-AE19-62706E023703}">
                      <ahyp:hlinkClr xmlns:ahyp="http://schemas.microsoft.com/office/drawing/2018/hyperlinkcolor" val="tx"/>
                    </a:ext>
                  </a:extLst>
                </a:hlinkClick>
              </a:rPr>
              <a:t>In the summary: §1 LayerNorm ↗</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418320" cy="868680"/>
          </a:xfrm>
          <a:prstGeom prst="rect">
            <a:avLst/>
          </a:prstGeom>
          <a:noFill/>
          <a:ln/>
        </p:spPr>
        <p:txBody>
          <a:bodyPr wrap="square" lIns="0" tIns="0" rIns="0" bIns="0" rtlCol="0" anchor="ctr"/>
          <a:lstStyle/>
          <a:p>
            <a:pPr algn="l" indent="0" marL="0">
              <a:buNone/>
            </a:pPr>
            <a:r>
              <a:rPr lang="en-US" sz="3000" b="1" dirty="0">
                <a:solidFill>
                  <a:schemeClr val="tx1"/>
                </a:solidFill>
              </a:rPr>
              <a:t>Every paper answers Idea 1 its own way</a:t>
            </a:r>
            <a:endParaRPr lang="en-US" sz="3000" dirty="0"/>
          </a:p>
        </p:txBody>
      </p:sp>
      <p:sp>
        <p:nvSpPr>
          <p:cNvPr id="3" name="Idea chip"/>
          <p:cNvSpPr/>
          <p:nvPr/>
        </p:nvSpPr>
        <p:spPr>
          <a:xfrm>
            <a:off x="10378440" y="548640"/>
            <a:ext cx="1261872" cy="384048"/>
          </a:xfrm>
          <a:prstGeom prst="roundRect">
            <a:avLst>
              <a:gd name="adj" fmla="val 50000"/>
            </a:avLst>
          </a:prstGeom>
          <a:solidFill>
            <a:schemeClr val="accent1"/>
          </a:solidFill>
          <a:ln/>
        </p:spPr>
      </p:sp>
      <p:sp>
        <p:nvSpPr>
          <p:cNvPr id="4" name="Text 2"/>
          <p:cNvSpPr txBox="1"/>
          <p:nvPr/>
        </p:nvSpPr>
        <p:spPr>
          <a:xfrm>
            <a:off x="10378440" y="548640"/>
            <a:ext cx="1261872" cy="384048"/>
          </a:xfrm>
          <a:prstGeom prst="rect">
            <a:avLst/>
          </a:prstGeom>
          <a:noFill/>
          <a:ln/>
        </p:spPr>
        <p:txBody>
          <a:bodyPr wrap="square" lIns="0" tIns="0" rIns="0" bIns="0" rtlCol="0" anchor="ctr"/>
          <a:lstStyle/>
          <a:p>
            <a:pPr algn="ctr" indent="0" marL="0">
              <a:buNone/>
            </a:pPr>
            <a:r>
              <a:rPr lang="en-US" sz="1300" b="1" spc="200" kern="0" dirty="0">
                <a:solidFill>
                  <a:schemeClr val="bg1"/>
                </a:solidFill>
              </a:rPr>
              <a:t>IDEA 1</a:t>
            </a:r>
            <a:endParaRPr lang="en-US" sz="1300" dirty="0"/>
          </a:p>
        </p:txBody>
      </p:sp>
      <p:sp>
        <p:nvSpPr>
          <p:cNvPr id="5" name="Card"/>
          <p:cNvSpPr/>
          <p:nvPr/>
        </p:nvSpPr>
        <p:spPr>
          <a:xfrm>
            <a:off x="548640" y="1508760"/>
            <a:ext cx="5440680" cy="2011680"/>
          </a:xfrm>
          <a:prstGeom prst="roundRect">
            <a:avLst>
              <a:gd name="adj" fmla="val 5455"/>
            </a:avLst>
          </a:prstGeom>
          <a:solidFill>
            <a:schemeClr val="bg2"/>
          </a:solidFill>
          <a:ln/>
        </p:spPr>
      </p:sp>
      <p:sp>
        <p:nvSpPr>
          <p:cNvPr id="6" name="Text 4"/>
          <p:cNvSpPr txBox="1"/>
          <p:nvPr/>
        </p:nvSpPr>
        <p:spPr>
          <a:xfrm>
            <a:off x="868680" y="1737360"/>
            <a:ext cx="2194560" cy="411480"/>
          </a:xfrm>
          <a:prstGeom prst="rect">
            <a:avLst/>
          </a:prstGeom>
          <a:noFill/>
          <a:ln/>
        </p:spPr>
        <p:txBody>
          <a:bodyPr wrap="square" lIns="0" tIns="0" rIns="0" bIns="0" rtlCol="0" anchor="ctr"/>
          <a:lstStyle/>
          <a:p>
            <a:pPr indent="0" marL="0">
              <a:buNone/>
            </a:pPr>
            <a:r>
              <a:rPr lang="en-US" sz="1800" b="1" dirty="0">
                <a:solidFill>
                  <a:schemeClr val="accent1"/>
                </a:solidFill>
              </a:rPr>
              <a:t>ResNet</a:t>
            </a:r>
            <a:endParaRPr lang="en-US" sz="1800" dirty="0"/>
          </a:p>
        </p:txBody>
      </p:sp>
      <p:sp>
        <p:nvSpPr>
          <p:cNvPr id="7" name="Text 5"/>
          <p:cNvSpPr txBox="1"/>
          <p:nvPr/>
        </p:nvSpPr>
        <p:spPr>
          <a:xfrm>
            <a:off x="2926080" y="1691640"/>
            <a:ext cx="2834640" cy="502920"/>
          </a:xfrm>
          <a:prstGeom prst="rect">
            <a:avLst/>
          </a:prstGeom>
          <a:noFill/>
          <a:ln/>
        </p:spPr>
        <p:txBody>
          <a:bodyPr wrap="square" lIns="0" tIns="0" rIns="0" bIns="0" rtlCol="0" anchor="ctr"/>
          <a:lstStyle/>
          <a:p>
            <a:pPr algn="r" indent="0" marL="0">
              <a:buNone/>
            </a:pPr>
            <a:r>
              <a:rPr lang="en-US" sz="2000" b="1" dirty="0">
                <a:solidFill>
                  <a:schemeClr val="tx1"/>
                </a:solidFill>
                <a:latin typeface="Cambria" pitchFamily="34" charset="0"/>
                <a:ea typeface="Cambria" pitchFamily="34" charset="-122"/>
                <a:cs typeface="Cambria" pitchFamily="34" charset="-120"/>
              </a:rPr>
              <a:t>x + F(x)</a:t>
            </a:r>
            <a:endParaRPr lang="en-US" sz="2000" dirty="0"/>
          </a:p>
        </p:txBody>
      </p:sp>
      <p:sp>
        <p:nvSpPr>
          <p:cNvPr id="8" name="Text 6"/>
          <p:cNvSpPr txBox="1"/>
          <p:nvPr/>
        </p:nvSpPr>
        <p:spPr>
          <a:xfrm>
            <a:off x="868680" y="2377440"/>
            <a:ext cx="4846320" cy="914400"/>
          </a:xfrm>
          <a:prstGeom prst="rect">
            <a:avLst/>
          </a:prstGeom>
          <a:noFill/>
          <a:ln/>
        </p:spPr>
        <p:txBody>
          <a:bodyPr wrap="square" lIns="0" tIns="0" rIns="0" bIns="0" rtlCol="0" anchor="t"/>
          <a:lstStyle/>
          <a:p>
            <a:pPr indent="0" marL="0">
              <a:buNone/>
            </a:pPr>
            <a:r>
              <a:rPr lang="en-US" sz="1600" dirty="0">
                <a:solidFill>
                  <a:schemeClr val="tx2"/>
                </a:solidFill>
              </a:rPr>
              <a:t>Skip connections give the gradient a direct route to early layers.</a:t>
            </a:r>
            <a:endParaRPr lang="en-US" sz="1600" dirty="0"/>
          </a:p>
        </p:txBody>
      </p:sp>
      <p:sp>
        <p:nvSpPr>
          <p:cNvPr id="9" name="Card"/>
          <p:cNvSpPr/>
          <p:nvPr/>
        </p:nvSpPr>
        <p:spPr>
          <a:xfrm>
            <a:off x="6190488" y="1508760"/>
            <a:ext cx="5440680" cy="2011680"/>
          </a:xfrm>
          <a:prstGeom prst="roundRect">
            <a:avLst>
              <a:gd name="adj" fmla="val 5455"/>
            </a:avLst>
          </a:prstGeom>
          <a:solidFill>
            <a:schemeClr val="bg2"/>
          </a:solidFill>
          <a:ln/>
        </p:spPr>
      </p:sp>
      <p:sp>
        <p:nvSpPr>
          <p:cNvPr id="10" name="Text 8"/>
          <p:cNvSpPr txBox="1"/>
          <p:nvPr/>
        </p:nvSpPr>
        <p:spPr>
          <a:xfrm>
            <a:off x="6510528" y="1737360"/>
            <a:ext cx="2194560" cy="411480"/>
          </a:xfrm>
          <a:prstGeom prst="rect">
            <a:avLst/>
          </a:prstGeom>
          <a:noFill/>
          <a:ln/>
        </p:spPr>
        <p:txBody>
          <a:bodyPr wrap="square" lIns="0" tIns="0" rIns="0" bIns="0" rtlCol="0" anchor="ctr"/>
          <a:lstStyle/>
          <a:p>
            <a:pPr indent="0" marL="0">
              <a:buNone/>
            </a:pPr>
            <a:r>
              <a:rPr lang="en-US" sz="1800" b="1" dirty="0">
                <a:solidFill>
                  <a:schemeClr val="accent1"/>
                </a:solidFill>
              </a:rPr>
              <a:t>Transformer</a:t>
            </a:r>
            <a:endParaRPr lang="en-US" sz="1800" dirty="0"/>
          </a:p>
        </p:txBody>
      </p:sp>
      <p:sp>
        <p:nvSpPr>
          <p:cNvPr id="11" name="Text 9"/>
          <p:cNvSpPr txBox="1"/>
          <p:nvPr/>
        </p:nvSpPr>
        <p:spPr>
          <a:xfrm>
            <a:off x="8567928" y="1691640"/>
            <a:ext cx="2834640" cy="502920"/>
          </a:xfrm>
          <a:prstGeom prst="rect">
            <a:avLst/>
          </a:prstGeom>
          <a:noFill/>
          <a:ln/>
        </p:spPr>
        <p:txBody>
          <a:bodyPr wrap="square" lIns="0" tIns="0" rIns="0" bIns="0" rtlCol="0" anchor="ctr"/>
          <a:lstStyle/>
          <a:p>
            <a:pPr algn="r" indent="0" marL="0">
              <a:buNone/>
            </a:pPr>
            <a:r>
              <a:rPr lang="en-US" sz="2000" b="1" dirty="0">
                <a:solidFill>
                  <a:schemeClr val="tx1"/>
                </a:solidFill>
                <a:latin typeface="Cambria" pitchFamily="34" charset="0"/>
                <a:ea typeface="Cambria" pitchFamily="34" charset="-122"/>
                <a:cs typeface="Cambria" pitchFamily="34" charset="-120"/>
              </a:rPr>
              <a:t>QKᵀ / √dₖ</a:t>
            </a:r>
            <a:endParaRPr lang="en-US" sz="2000" dirty="0"/>
          </a:p>
        </p:txBody>
      </p:sp>
      <p:sp>
        <p:nvSpPr>
          <p:cNvPr id="12" name="Text 10"/>
          <p:cNvSpPr txBox="1"/>
          <p:nvPr/>
        </p:nvSpPr>
        <p:spPr>
          <a:xfrm>
            <a:off x="6510528" y="2377440"/>
            <a:ext cx="4846320" cy="914400"/>
          </a:xfrm>
          <a:prstGeom prst="rect">
            <a:avLst/>
          </a:prstGeom>
          <a:noFill/>
          <a:ln/>
        </p:spPr>
        <p:txBody>
          <a:bodyPr wrap="square" lIns="0" tIns="0" rIns="0" bIns="0" rtlCol="0" anchor="t"/>
          <a:lstStyle/>
          <a:p>
            <a:pPr indent="0" marL="0">
              <a:buNone/>
            </a:pPr>
            <a:r>
              <a:rPr lang="en-US" sz="1600" dirty="0">
                <a:solidFill>
                  <a:schemeClr val="tx2"/>
                </a:solidFill>
              </a:rPr>
              <a:t>Without it, scores have variance ≈ dₖ, softmax saturates and gradients die.</a:t>
            </a:r>
            <a:endParaRPr lang="en-US" sz="1600" dirty="0"/>
          </a:p>
        </p:txBody>
      </p:sp>
      <p:sp>
        <p:nvSpPr>
          <p:cNvPr id="13" name="Card"/>
          <p:cNvSpPr/>
          <p:nvPr/>
        </p:nvSpPr>
        <p:spPr>
          <a:xfrm>
            <a:off x="548640" y="3749040"/>
            <a:ext cx="5440680" cy="2011680"/>
          </a:xfrm>
          <a:prstGeom prst="roundRect">
            <a:avLst>
              <a:gd name="adj" fmla="val 5455"/>
            </a:avLst>
          </a:prstGeom>
          <a:solidFill>
            <a:schemeClr val="bg2"/>
          </a:solidFill>
          <a:ln/>
        </p:spPr>
      </p:sp>
      <p:sp>
        <p:nvSpPr>
          <p:cNvPr id="14" name="Text 12"/>
          <p:cNvSpPr txBox="1"/>
          <p:nvPr/>
        </p:nvSpPr>
        <p:spPr>
          <a:xfrm>
            <a:off x="868680" y="3977640"/>
            <a:ext cx="2194560" cy="411480"/>
          </a:xfrm>
          <a:prstGeom prst="rect">
            <a:avLst/>
          </a:prstGeom>
          <a:noFill/>
          <a:ln/>
        </p:spPr>
        <p:txBody>
          <a:bodyPr wrap="square" lIns="0" tIns="0" rIns="0" bIns="0" rtlCol="0" anchor="ctr"/>
          <a:lstStyle/>
          <a:p>
            <a:pPr indent="0" marL="0">
              <a:buNone/>
            </a:pPr>
            <a:r>
              <a:rPr lang="en-US" sz="1800" b="1" dirty="0">
                <a:solidFill>
                  <a:schemeClr val="accent1"/>
                </a:solidFill>
              </a:rPr>
              <a:t>GPT-2</a:t>
            </a:r>
            <a:endParaRPr lang="en-US" sz="1800" dirty="0"/>
          </a:p>
        </p:txBody>
      </p:sp>
      <p:sp>
        <p:nvSpPr>
          <p:cNvPr id="15" name="Text 13"/>
          <p:cNvSpPr txBox="1"/>
          <p:nvPr/>
        </p:nvSpPr>
        <p:spPr>
          <a:xfrm>
            <a:off x="2926080" y="3931920"/>
            <a:ext cx="2834640" cy="502920"/>
          </a:xfrm>
          <a:prstGeom prst="rect">
            <a:avLst/>
          </a:prstGeom>
          <a:noFill/>
          <a:ln/>
        </p:spPr>
        <p:txBody>
          <a:bodyPr wrap="square" lIns="0" tIns="0" rIns="0" bIns="0" rtlCol="0" anchor="ctr"/>
          <a:lstStyle/>
          <a:p>
            <a:pPr algn="r" indent="0" marL="0">
              <a:buNone/>
            </a:pPr>
            <a:r>
              <a:rPr lang="en-US" sz="2000" b="1" dirty="0">
                <a:solidFill>
                  <a:schemeClr val="tx1"/>
                </a:solidFill>
                <a:latin typeface="Cambria" pitchFamily="34" charset="0"/>
                <a:ea typeface="Cambria" pitchFamily="34" charset="-122"/>
                <a:cs typeface="Cambria" pitchFamily="34" charset="-120"/>
              </a:rPr>
              <a:t>Pre-LN + 1/√N init</a:t>
            </a:r>
            <a:endParaRPr lang="en-US" sz="2000" dirty="0"/>
          </a:p>
        </p:txBody>
      </p:sp>
      <p:sp>
        <p:nvSpPr>
          <p:cNvPr id="16" name="Text 14"/>
          <p:cNvSpPr txBox="1"/>
          <p:nvPr/>
        </p:nvSpPr>
        <p:spPr>
          <a:xfrm>
            <a:off x="868680" y="4617720"/>
            <a:ext cx="4846320" cy="914400"/>
          </a:xfrm>
          <a:prstGeom prst="rect">
            <a:avLst/>
          </a:prstGeom>
          <a:noFill/>
          <a:ln/>
        </p:spPr>
        <p:txBody>
          <a:bodyPr wrap="square" lIns="0" tIns="0" rIns="0" bIns="0" rtlCol="0" anchor="t"/>
          <a:lstStyle/>
          <a:p>
            <a:pPr indent="0" marL="0">
              <a:buNone/>
            </a:pPr>
            <a:r>
              <a:rPr lang="en-US" sz="1600" dirty="0">
                <a:solidFill>
                  <a:schemeClr val="tx2"/>
                </a:solidFill>
              </a:rPr>
              <a:t>Each of N blocks adds variance to the stream, so scale their output weights down.</a:t>
            </a:r>
            <a:endParaRPr lang="en-US" sz="1600" dirty="0"/>
          </a:p>
        </p:txBody>
      </p:sp>
      <p:sp>
        <p:nvSpPr>
          <p:cNvPr id="17" name="Card"/>
          <p:cNvSpPr/>
          <p:nvPr/>
        </p:nvSpPr>
        <p:spPr>
          <a:xfrm>
            <a:off x="6190488" y="3749040"/>
            <a:ext cx="5440680" cy="2011680"/>
          </a:xfrm>
          <a:prstGeom prst="roundRect">
            <a:avLst>
              <a:gd name="adj" fmla="val 5455"/>
            </a:avLst>
          </a:prstGeom>
          <a:solidFill>
            <a:schemeClr val="bg2"/>
          </a:solidFill>
          <a:ln/>
        </p:spPr>
      </p:sp>
      <p:sp>
        <p:nvSpPr>
          <p:cNvPr id="18" name="Text 16"/>
          <p:cNvSpPr txBox="1"/>
          <p:nvPr/>
        </p:nvSpPr>
        <p:spPr>
          <a:xfrm>
            <a:off x="6510528" y="3977640"/>
            <a:ext cx="2194560" cy="411480"/>
          </a:xfrm>
          <a:prstGeom prst="rect">
            <a:avLst/>
          </a:prstGeom>
          <a:noFill/>
          <a:ln/>
        </p:spPr>
        <p:txBody>
          <a:bodyPr wrap="square" lIns="0" tIns="0" rIns="0" bIns="0" rtlCol="0" anchor="ctr"/>
          <a:lstStyle/>
          <a:p>
            <a:pPr indent="0" marL="0">
              <a:buNone/>
            </a:pPr>
            <a:r>
              <a:rPr lang="en-US" sz="1800" b="1" dirty="0">
                <a:solidFill>
                  <a:schemeClr val="accent1"/>
                </a:solidFill>
              </a:rPr>
              <a:t>Mamba</a:t>
            </a:r>
            <a:endParaRPr lang="en-US" sz="1800" dirty="0"/>
          </a:p>
        </p:txBody>
      </p:sp>
      <p:sp>
        <p:nvSpPr>
          <p:cNvPr id="19" name="Text 17"/>
          <p:cNvSpPr txBox="1"/>
          <p:nvPr/>
        </p:nvSpPr>
        <p:spPr>
          <a:xfrm>
            <a:off x="8567928" y="3931920"/>
            <a:ext cx="2834640" cy="502920"/>
          </a:xfrm>
          <a:prstGeom prst="rect">
            <a:avLst/>
          </a:prstGeom>
          <a:noFill/>
          <a:ln/>
        </p:spPr>
        <p:txBody>
          <a:bodyPr wrap="square" lIns="0" tIns="0" rIns="0" bIns="0" rtlCol="0" anchor="ctr"/>
          <a:lstStyle/>
          <a:p>
            <a:pPr algn="r" indent="0" marL="0">
              <a:buNone/>
            </a:pPr>
            <a:r>
              <a:rPr lang="en-US" sz="2000" b="1" dirty="0">
                <a:solidFill>
                  <a:schemeClr val="tx1"/>
                </a:solidFill>
                <a:latin typeface="Cambria" pitchFamily="34" charset="0"/>
                <a:ea typeface="Cambria" pitchFamily="34" charset="-122"/>
                <a:cs typeface="Cambria" pitchFamily="34" charset="-120"/>
              </a:rPr>
              <a:t>Ā = exp(ΔA), A &lt; 0</a:t>
            </a:r>
            <a:endParaRPr lang="en-US" sz="2000" dirty="0"/>
          </a:p>
        </p:txBody>
      </p:sp>
      <p:sp>
        <p:nvSpPr>
          <p:cNvPr id="20" name="Text 18"/>
          <p:cNvSpPr txBox="1"/>
          <p:nvPr/>
        </p:nvSpPr>
        <p:spPr>
          <a:xfrm>
            <a:off x="6510528" y="4617720"/>
            <a:ext cx="4846320" cy="914400"/>
          </a:xfrm>
          <a:prstGeom prst="rect">
            <a:avLst/>
          </a:prstGeom>
          <a:noFill/>
          <a:ln/>
        </p:spPr>
        <p:txBody>
          <a:bodyPr wrap="square" lIns="0" tIns="0" rIns="0" bIns="0" rtlCol="0" anchor="t"/>
          <a:lstStyle/>
          <a:p>
            <a:pPr indent="0" marL="0">
              <a:buNone/>
            </a:pPr>
            <a:r>
              <a:rPr lang="en-US" sz="1600" dirty="0">
                <a:solidFill>
                  <a:schemeClr val="tx2"/>
                </a:solidFill>
              </a:rPr>
              <a:t>The decay always stays between 0 and 1, so the recurrence can't blow up.</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418320" cy="868680"/>
          </a:xfrm>
          <a:prstGeom prst="rect">
            <a:avLst/>
          </a:prstGeom>
          <a:noFill/>
          <a:ln/>
        </p:spPr>
        <p:txBody>
          <a:bodyPr wrap="square" lIns="0" tIns="0" rIns="0" bIns="0" rtlCol="0" anchor="ctr"/>
          <a:lstStyle/>
          <a:p>
            <a:pPr algn="l" indent="0" marL="0">
              <a:buNone/>
            </a:pPr>
            <a:r>
              <a:rPr lang="en-US" sz="3000" b="1" dirty="0">
                <a:solidFill>
                  <a:schemeClr val="tx1"/>
                </a:solidFill>
              </a:rPr>
              <a:t>Catch it in the per-layer logs, before the loss curve</a:t>
            </a:r>
            <a:endParaRPr lang="en-US" sz="3000" dirty="0"/>
          </a:p>
        </p:txBody>
      </p:sp>
      <p:sp>
        <p:nvSpPr>
          <p:cNvPr id="3" name="Idea chip"/>
          <p:cNvSpPr/>
          <p:nvPr/>
        </p:nvSpPr>
        <p:spPr>
          <a:xfrm>
            <a:off x="10378440" y="548640"/>
            <a:ext cx="1261872" cy="384048"/>
          </a:xfrm>
          <a:prstGeom prst="roundRect">
            <a:avLst>
              <a:gd name="adj" fmla="val 50000"/>
            </a:avLst>
          </a:prstGeom>
          <a:solidFill>
            <a:schemeClr val="accent1"/>
          </a:solidFill>
          <a:ln/>
        </p:spPr>
      </p:sp>
      <p:sp>
        <p:nvSpPr>
          <p:cNvPr id="4" name="Text 2"/>
          <p:cNvSpPr txBox="1"/>
          <p:nvPr/>
        </p:nvSpPr>
        <p:spPr>
          <a:xfrm>
            <a:off x="10378440" y="548640"/>
            <a:ext cx="1261872" cy="384048"/>
          </a:xfrm>
          <a:prstGeom prst="rect">
            <a:avLst/>
          </a:prstGeom>
          <a:noFill/>
          <a:ln/>
        </p:spPr>
        <p:txBody>
          <a:bodyPr wrap="square" lIns="0" tIns="0" rIns="0" bIns="0" rtlCol="0" anchor="ctr"/>
          <a:lstStyle/>
          <a:p>
            <a:pPr algn="ctr" indent="0" marL="0">
              <a:buNone/>
            </a:pPr>
            <a:r>
              <a:rPr lang="en-US" sz="1300" b="1" spc="200" kern="0" dirty="0">
                <a:solidFill>
                  <a:schemeClr val="bg1"/>
                </a:solidFill>
              </a:rPr>
              <a:t>IDEA 1</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766560" cy="914400"/>
        </p:xfrm>
        <a:graphic>
          <a:graphicData uri="http://schemas.openxmlformats.org/drawingml/2006/table">
            <a:tbl>
              <a:tblPr/>
              <a:tblGrid>
                <a:gridCol w="2286000"/>
                <a:gridCol w="4480560"/>
              </a:tblGrid>
              <a:tr h="685800">
                <a:tc>
                  <a:txBody>
                    <a:bodyPr/>
                    <a:lstStyle/>
                    <a:p>
                      <a:pPr indent="0" marL="0">
                        <a:buNone/>
                      </a:pPr>
                      <a:r>
                        <a:rPr lang="en-US" sz="1500" b="1" dirty="0">
                          <a:solidFill>
                            <a:schemeClr val="bg1"/>
                          </a:solidFill>
                        </a:rPr>
                        <a:t>Problem</a:t>
                      </a:r>
                      <a:endParaRPr lang="en-US" sz="1500" dirty="0"/>
                    </a:p>
                  </a:txBody>
                  <a:tcPr marL="109728" marR="109728" marT="109728" marB="109728"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500" b="1" dirty="0">
                          <a:solidFill>
                            <a:schemeClr val="bg1"/>
                          </a:solidFill>
                        </a:rPr>
                        <a:t>What you see in the per-layer logs</a:t>
                      </a:r>
                      <a:endParaRPr lang="en-US" sz="1500" dirty="0"/>
                    </a:p>
                  </a:txBody>
                  <a:tcPr marL="109728" marR="109728" marT="109728" marB="109728" anchor="ctr">
                    <a:lnL w="0" cap="flat" cmpd="sng" algn="ctr">
                      <a:noFill/>
                    </a:lnL>
                    <a:lnR w="0" cap="flat" cmpd="sng" algn="ctr">
                      <a:noFill/>
                    </a:lnR>
                    <a:lnT w="0" cap="flat" cmpd="sng" algn="ctr">
                      <a:noFill/>
                    </a:lnT>
                    <a:lnB w="0" cap="flat" cmpd="sng" algn="ctr">
                      <a:noFill/>
                    </a:lnB>
                    <a:solidFill>
                      <a:schemeClr val="tx1"/>
                    </a:solidFill>
                  </a:tcPr>
                </a:tc>
              </a:tr>
              <a:tr h="685800">
                <a:tc>
                  <a:txBody>
                    <a:bodyPr/>
                    <a:lstStyle/>
                    <a:p>
                      <a:pPr indent="0" marL="0">
                        <a:buNone/>
                      </a:pPr>
                      <a:r>
                        <a:rPr lang="en-US" sz="1500" dirty="0">
                          <a:solidFill>
                            <a:schemeClr val="tx1"/>
                          </a:solidFill>
                        </a:rPr>
                        <a:t>Post-LN blowing up</a:t>
                      </a:r>
                      <a:endParaRPr lang="en-US" sz="1500" dirty="0"/>
                    </a:p>
                  </a:txBody>
                  <a:tcPr marL="109728" marR="109728" marT="109728" marB="10972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Very large gradient norms in the top layers in the first few hundred steps</a:t>
                      </a:r>
                      <a:endParaRPr lang="en-US" sz="1500" dirty="0"/>
                    </a:p>
                  </a:txBody>
                  <a:tcPr marL="109728" marR="109728" marT="109728" marB="109728" anchor="ctr">
                    <a:lnL w="0" cap="flat" cmpd="sng" algn="ctr">
                      <a:noFill/>
                    </a:lnL>
                    <a:lnR w="0" cap="flat" cmpd="sng" algn="ctr">
                      <a:noFill/>
                    </a:lnR>
                    <a:lnT w="0" cap="flat" cmpd="sng" algn="ctr">
                      <a:noFill/>
                    </a:lnT>
                    <a:lnB w="0" cap="flat" cmpd="sng" algn="ctr">
                      <a:noFill/>
                    </a:lnB>
                    <a:solidFill>
                      <a:schemeClr val="bg2"/>
                    </a:solidFill>
                  </a:tcPr>
                </a:tc>
              </a:tr>
              <a:tr h="685800">
                <a:tc>
                  <a:txBody>
                    <a:bodyPr/>
                    <a:lstStyle/>
                    <a:p>
                      <a:pPr indent="0" marL="0">
                        <a:buNone/>
                      </a:pPr>
                      <a:r>
                        <a:rPr lang="en-US" sz="1500" dirty="0">
                          <a:solidFill>
                            <a:schemeClr val="tx1"/>
                          </a:solidFill>
                        </a:rPr>
                        <a:t>Pre-LN stream growing</a:t>
                      </a:r>
                      <a:endParaRPr lang="en-US" sz="1500" dirty="0"/>
                    </a:p>
                  </a:txBody>
                  <a:tcPr marL="109728" marR="109728" marT="109728" marB="10972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Activation norm climbing steadily with layer number</a:t>
                      </a:r>
                      <a:endParaRPr lang="en-US" sz="1500" dirty="0"/>
                    </a:p>
                  </a:txBody>
                  <a:tcPr marL="109728" marR="109728" marT="109728" marB="109728" anchor="ctr">
                    <a:lnL w="0" cap="flat" cmpd="sng" algn="ctr">
                      <a:noFill/>
                    </a:lnL>
                    <a:lnR w="0" cap="flat" cmpd="sng" algn="ctr">
                      <a:noFill/>
                    </a:lnR>
                    <a:lnT w="0" cap="flat" cmpd="sng" algn="ctr">
                      <a:noFill/>
                    </a:lnT>
                    <a:lnB w="0" cap="flat" cmpd="sng" algn="ctr">
                      <a:noFill/>
                    </a:lnB>
                    <a:solidFill>
                      <a:schemeClr val="bg1"/>
                    </a:solidFill>
                  </a:tcPr>
                </a:tc>
              </a:tr>
              <a:tr h="685800">
                <a:tc>
                  <a:txBody>
                    <a:bodyPr/>
                    <a:lstStyle/>
                    <a:p>
                      <a:pPr indent="0" marL="0">
                        <a:buNone/>
                      </a:pPr>
                      <a:r>
                        <a:rPr lang="en-US" sz="1500" dirty="0">
                          <a:solidFill>
                            <a:schemeClr val="tx1"/>
                          </a:solidFill>
                        </a:rPr>
                        <a:t>Loss spike coming</a:t>
                      </a:r>
                      <a:endParaRPr lang="en-US" sz="1500" dirty="0"/>
                    </a:p>
                  </a:txBody>
                  <a:tcPr marL="109728" marR="109728" marT="109728" marB="10972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One layer's activation norm suddenly jumping</a:t>
                      </a:r>
                      <a:endParaRPr lang="en-US" sz="1500" dirty="0"/>
                    </a:p>
                  </a:txBody>
                  <a:tcPr marL="109728" marR="109728" marT="109728" marB="109728"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Card"/>
          <p:cNvSpPr/>
          <p:nvPr/>
        </p:nvSpPr>
        <p:spPr>
          <a:xfrm>
            <a:off x="7635240" y="1508760"/>
            <a:ext cx="4005072" cy="4206240"/>
          </a:xfrm>
          <a:prstGeom prst="roundRect">
            <a:avLst>
              <a:gd name="adj" fmla="val 2740"/>
            </a:avLst>
          </a:prstGeom>
          <a:solidFill>
            <a:schemeClr val="tx1"/>
          </a:solidFill>
          <a:ln/>
        </p:spPr>
      </p:sp>
      <p:sp>
        <p:nvSpPr>
          <p:cNvPr id="7" name="Text 4"/>
          <p:cNvSpPr txBox="1"/>
          <p:nvPr/>
        </p:nvSpPr>
        <p:spPr>
          <a:xfrm>
            <a:off x="7909560" y="1737360"/>
            <a:ext cx="3566160" cy="365760"/>
          </a:xfrm>
          <a:prstGeom prst="rect">
            <a:avLst/>
          </a:prstGeom>
          <a:noFill/>
          <a:ln/>
        </p:spPr>
        <p:txBody>
          <a:bodyPr wrap="square" lIns="0" tIns="0" rIns="0" bIns="0" rtlCol="0" anchor="ctr"/>
          <a:lstStyle/>
          <a:p>
            <a:pPr indent="0" marL="0">
              <a:buNone/>
            </a:pPr>
            <a:r>
              <a:rPr lang="en-US" sz="1200" b="1" spc="200" kern="0" dirty="0">
                <a:solidFill>
                  <a:schemeClr val="accent6"/>
                </a:solidFill>
              </a:rPr>
              <a:t>ASK ABOUT ANY NEW ARCHITECTURE</a:t>
            </a:r>
            <a:endParaRPr lang="en-US" sz="1200" dirty="0"/>
          </a:p>
        </p:txBody>
      </p:sp>
      <p:sp>
        <p:nvSpPr>
          <p:cNvPr id="8" name="Text 5"/>
          <p:cNvSpPr txBox="1"/>
          <p:nvPr/>
        </p:nvSpPr>
        <p:spPr>
          <a:xfrm>
            <a:off x="7909560" y="2240280"/>
            <a:ext cx="3520440" cy="3291840"/>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Does x pass through untouched somewhere?</a:t>
            </a:r>
            <a:endParaRPr lang="en-US" sz="1700" dirty="0"/>
          </a:p>
          <a:p>
            <a:pPr indent="0" marL="0">
              <a:spcAft>
                <a:spcPts val="400"/>
              </a:spcAft>
              <a:buNone/>
            </a:pPr>
            <a:r>
              <a:rPr lang="en-US" sz="1700" dirty="0">
                <a:solidFill>
                  <a:schemeClr val="bg2"/>
                </a:solidFill>
              </a:rPr>
              <a:t>If a norm sits on the skip, expect warmup and fragility at depth.</a:t>
            </a:r>
            <a:endParaRPr lang="en-US" sz="1700" dirty="0"/>
          </a:p>
          <a:p>
            <a:pPr indent="0" marL="0">
              <a:spcAft>
                <a:spcPts val="400"/>
              </a:spcAft>
              <a:buNone/>
            </a:pPr>
            <a:r>
              <a:rPr lang="en-US" sz="800" dirty="0">
                <a:solidFill>
                  <a:schemeClr val="bg1"/>
                </a:solidFill>
              </a:rPr>
              <a:t> </a:t>
            </a:r>
            <a:endParaRPr lang="en-US" sz="1700" dirty="0"/>
          </a:p>
          <a:p>
            <a:pPr indent="0" marL="0">
              <a:spcAft>
                <a:spcPts val="400"/>
              </a:spcAft>
              <a:buNone/>
            </a:pPr>
            <a:r>
              <a:rPr lang="en-US" sz="1700" b="1" dirty="0">
                <a:solidFill>
                  <a:schemeClr val="bg1"/>
                </a:solidFill>
              </a:rPr>
              <a:t>What stops the residual stream growing?</a:t>
            </a:r>
            <a:endParaRPr lang="en-US" sz="1700" dirty="0"/>
          </a:p>
          <a:p>
            <a:pPr indent="0" marL="0">
              <a:spcAft>
                <a:spcPts val="400"/>
              </a:spcAft>
              <a:buNone/>
            </a:pPr>
            <a:r>
              <a:rPr lang="en-US" sz="1700" dirty="0">
                <a:solidFill>
                  <a:schemeClr val="bg2"/>
                </a:solidFill>
              </a:rPr>
              <a:t>If nothing does, expect lazy deep layers and loss spikes at scale.</a:t>
            </a:r>
            <a:endParaRPr lang="en-US" sz="1700" dirty="0"/>
          </a:p>
        </p:txBody>
      </p:sp>
      <p:sp>
        <p:nvSpPr>
          <p:cNvPr id="9" name="Text 6"/>
          <p:cNvSpPr txBox="1"/>
          <p:nvPr/>
        </p:nvSpPr>
        <p:spPr>
          <a:xfrm>
            <a:off x="548640" y="4572000"/>
            <a:ext cx="6766560" cy="914400"/>
          </a:xfrm>
          <a:prstGeom prst="rect">
            <a:avLst/>
          </a:prstGeom>
          <a:noFill/>
          <a:ln/>
        </p:spPr>
        <p:txBody>
          <a:bodyPr wrap="square" lIns="0" tIns="0" rIns="0" bIns="0" rtlCol="0" anchor="t"/>
          <a:lstStyle/>
          <a:p>
            <a:pPr indent="0" marL="0">
              <a:buNone/>
            </a:pPr>
            <a:r>
              <a:rPr lang="en-US" sz="1400" i="1" dirty="0">
                <a:solidFill>
                  <a:schemeClr val="tx2"/>
                </a:solidFill>
              </a:rPr>
              <a:t>Log activation and gradient norm per layer: a forward hook and a loop over named_parameters. The code is on the summary page.</a:t>
            </a:r>
            <a:endParaRPr lang="en-US" sz="1400" dirty="0"/>
          </a:p>
        </p:txBody>
      </p:sp>
      <p:sp>
        <p:nvSpPr>
          <p:cNvPr id="10" name="Text 7"/>
          <p:cNvSpPr txBox="1"/>
          <p:nvPr/>
        </p:nvSpPr>
        <p:spPr>
          <a:xfrm>
            <a:off x="6583680" y="6400800"/>
            <a:ext cx="4389120" cy="274320"/>
          </a:xfrm>
          <a:prstGeom prst="rect">
            <a:avLst/>
          </a:prstGeom>
          <a:noFill/>
          <a:ln/>
        </p:spPr>
        <p:txBody>
          <a:bodyPr wrap="square" lIns="0" tIns="0" rIns="0" bIns="0" rtlCol="0" anchor="ctr"/>
          <a:lstStyle/>
          <a:p>
            <a:pPr algn="r" indent="0" marL="0">
              <a:buNone/>
            </a:pPr>
            <a:r>
              <a:rPr lang="en-US" sz="1000" u="sng" dirty="0">
                <a:solidFill>
                  <a:srgbClr val="000000"/>
                </a:solidFill>
                <a:hlinkClick r:id="rId1" invalidUrl="" action="" tgtFrame="" tooltip="Open this section of the summary page" history="1" highlightClick="0" endSnd="0">
                  <a:extLst>
                    <a:ext uri="{A12FA001-AC4F-418D-AE19-62706E023703}">
                      <ahyp:hlinkClr xmlns:ahyp="http://schemas.microsoft.com/office/drawing/2018/hyperlinkcolor" val="tx"/>
                    </a:ext>
                  </a:extLst>
                </a:hlinkClick>
              </a:rPr>
              <a:t>In the summary: §1 logging code ↗</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Number circle"/>
          <p:cNvSpPr/>
          <p:nvPr/>
        </p:nvSpPr>
        <p:spPr>
          <a:xfrm>
            <a:off x="548640" y="1554480"/>
            <a:ext cx="1188720" cy="1188720"/>
          </a:xfrm>
          <a:prstGeom prst="ellipse">
            <a:avLst/>
          </a:prstGeom>
          <a:solidFill>
            <a:schemeClr val="accent5"/>
          </a:solidFill>
          <a:ln/>
        </p:spPr>
      </p:sp>
      <p:sp>
        <p:nvSpPr>
          <p:cNvPr id="3" name="Text 1"/>
          <p:cNvSpPr txBox="1"/>
          <p:nvPr/>
        </p:nvSpPr>
        <p:spPr>
          <a:xfrm>
            <a:off x="548640" y="1554480"/>
            <a:ext cx="1188720" cy="1188720"/>
          </a:xfrm>
          <a:prstGeom prst="rect">
            <a:avLst/>
          </a:prstGeom>
          <a:noFill/>
          <a:ln/>
        </p:spPr>
        <p:txBody>
          <a:bodyPr wrap="square" lIns="0" tIns="0" rIns="0" bIns="0" rtlCol="0" anchor="ctr"/>
          <a:lstStyle/>
          <a:p>
            <a:pPr algn="ctr" indent="0" marL="0">
              <a:buNone/>
            </a:pPr>
            <a:r>
              <a:rPr lang="en-US" sz="5400" b="1" dirty="0">
                <a:solidFill>
                  <a:schemeClr val="bg1"/>
                </a:solidFill>
              </a:rPr>
              <a:t>5</a:t>
            </a:r>
            <a:endParaRPr lang="en-US" sz="5400" dirty="0"/>
          </a:p>
        </p:txBody>
      </p:sp>
      <p:sp>
        <p:nvSpPr>
          <p:cNvPr id="4" name="Text 2"/>
          <p:cNvSpPr txBox="1"/>
          <p:nvPr/>
        </p:nvSpPr>
        <p:spPr>
          <a:xfrm>
            <a:off x="2057400" y="1600200"/>
            <a:ext cx="8229600" cy="365760"/>
          </a:xfrm>
          <a:prstGeom prst="rect">
            <a:avLst/>
          </a:prstGeom>
          <a:noFill/>
          <a:ln/>
        </p:spPr>
        <p:txBody>
          <a:bodyPr wrap="square" lIns="0" tIns="0" rIns="0" bIns="0" rtlCol="0" anchor="ctr"/>
          <a:lstStyle/>
          <a:p>
            <a:pPr indent="0" marL="0">
              <a:buNone/>
            </a:pPr>
            <a:r>
              <a:rPr lang="en-US" sz="1600" b="1" spc="300" kern="0" dirty="0">
                <a:solidFill>
                  <a:schemeClr val="accent6"/>
                </a:solidFill>
              </a:rPr>
              <a:t>IDEA 5</a:t>
            </a:r>
            <a:endParaRPr lang="en-US" sz="1600" dirty="0"/>
          </a:p>
        </p:txBody>
      </p:sp>
      <p:sp>
        <p:nvSpPr>
          <p:cNvPr id="5" name="Text 3"/>
          <p:cNvSpPr txBox="1"/>
          <p:nvPr/>
        </p:nvSpPr>
        <p:spPr>
          <a:xfrm>
            <a:off x="2057400" y="2011680"/>
            <a:ext cx="9509760" cy="137160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Compute is the real currency</a:t>
            </a:r>
            <a:endParaRPr lang="en-US" sz="4000" dirty="0"/>
          </a:p>
        </p:txBody>
      </p:sp>
      <p:sp>
        <p:nvSpPr>
          <p:cNvPr id="6" name="Text 4"/>
          <p:cNvSpPr txBox="1"/>
          <p:nvPr/>
        </p:nvSpPr>
        <p:spPr>
          <a:xfrm>
            <a:off x="2057400" y="3566160"/>
            <a:ext cx="8961120" cy="1097280"/>
          </a:xfrm>
          <a:prstGeom prst="rect">
            <a:avLst/>
          </a:prstGeom>
          <a:noFill/>
          <a:ln/>
        </p:spPr>
        <p:txBody>
          <a:bodyPr wrap="square" lIns="0" tIns="0" rIns="0" bIns="0" rtlCol="0" anchor="t"/>
          <a:lstStyle/>
          <a:p>
            <a:pPr indent="0" marL="0">
              <a:buNone/>
            </a:pPr>
            <a:r>
              <a:rPr lang="en-US" sz="2200" b="1" i="1" dirty="0">
                <a:solidFill>
                  <a:schemeClr val="accent6"/>
                </a:solidFill>
              </a:rPr>
              <a:t>The question to ask: </a:t>
            </a:r>
            <a:pPr indent="0" marL="0">
              <a:buNone/>
            </a:pPr>
            <a:r>
              <a:rPr lang="en-US" sz="2200" i="1" dirty="0">
                <a:solidFill>
                  <a:schemeClr val="bg1"/>
                </a:solidFill>
              </a:rPr>
              <a:t>Is this limited by compute or by memory bandwidth?</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418320" cy="868680"/>
          </a:xfrm>
          <a:prstGeom prst="rect">
            <a:avLst/>
          </a:prstGeom>
          <a:noFill/>
          <a:ln/>
        </p:spPr>
        <p:txBody>
          <a:bodyPr wrap="square" lIns="0" tIns="0" rIns="0" bIns="0" rtlCol="0" anchor="ctr"/>
          <a:lstStyle/>
          <a:p>
            <a:pPr algn="l" indent="0" marL="0">
              <a:buNone/>
            </a:pPr>
            <a:r>
              <a:rPr lang="en-US" sz="3000" b="1" dirty="0">
                <a:solidFill>
                  <a:schemeClr val="tx1"/>
                </a:solidFill>
              </a:rPr>
              <a:t>The GPU does 295 FLOPs in the time it reads 1 byte</a:t>
            </a:r>
            <a:endParaRPr lang="en-US" sz="3000" dirty="0"/>
          </a:p>
        </p:txBody>
      </p:sp>
      <p:sp>
        <p:nvSpPr>
          <p:cNvPr id="3" name="Idea chip"/>
          <p:cNvSpPr/>
          <p:nvPr/>
        </p:nvSpPr>
        <p:spPr>
          <a:xfrm>
            <a:off x="10378440" y="548640"/>
            <a:ext cx="1261872" cy="384048"/>
          </a:xfrm>
          <a:prstGeom prst="roundRect">
            <a:avLst>
              <a:gd name="adj" fmla="val 50000"/>
            </a:avLst>
          </a:prstGeom>
          <a:solidFill>
            <a:schemeClr val="accent5"/>
          </a:solidFill>
          <a:ln/>
        </p:spPr>
      </p:sp>
      <p:sp>
        <p:nvSpPr>
          <p:cNvPr id="4" name="Text 2"/>
          <p:cNvSpPr txBox="1"/>
          <p:nvPr/>
        </p:nvSpPr>
        <p:spPr>
          <a:xfrm>
            <a:off x="10378440" y="548640"/>
            <a:ext cx="1261872" cy="384048"/>
          </a:xfrm>
          <a:prstGeom prst="rect">
            <a:avLst/>
          </a:prstGeom>
          <a:noFill/>
          <a:ln/>
        </p:spPr>
        <p:txBody>
          <a:bodyPr wrap="square" lIns="0" tIns="0" rIns="0" bIns="0" rtlCol="0" anchor="ctr"/>
          <a:lstStyle/>
          <a:p>
            <a:pPr algn="ctr" indent="0" marL="0">
              <a:buNone/>
            </a:pPr>
            <a:r>
              <a:rPr lang="en-US" sz="1300" b="1" spc="200" kern="0" dirty="0">
                <a:solidFill>
                  <a:schemeClr val="bg1"/>
                </a:solidFill>
              </a:rPr>
              <a:t>IDEA 5</a:t>
            </a:r>
            <a:endParaRPr lang="en-US" sz="1300" dirty="0"/>
          </a:p>
        </p:txBody>
      </p:sp>
      <p:sp>
        <p:nvSpPr>
          <p:cNvPr id="5" name="Card"/>
          <p:cNvSpPr/>
          <p:nvPr/>
        </p:nvSpPr>
        <p:spPr>
          <a:xfrm>
            <a:off x="548640" y="1508760"/>
            <a:ext cx="3520440" cy="2377440"/>
          </a:xfrm>
          <a:prstGeom prst="roundRect">
            <a:avLst>
              <a:gd name="adj" fmla="val 4615"/>
            </a:avLst>
          </a:prstGeom>
          <a:solidFill>
            <a:schemeClr val="bg2"/>
          </a:solidFill>
          <a:ln/>
        </p:spPr>
      </p:sp>
      <p:sp>
        <p:nvSpPr>
          <p:cNvPr id="6" name="Text 4"/>
          <p:cNvSpPr txBox="1"/>
          <p:nvPr/>
        </p:nvSpPr>
        <p:spPr>
          <a:xfrm>
            <a:off x="822960" y="1737360"/>
            <a:ext cx="3108960" cy="1097280"/>
          </a:xfrm>
          <a:prstGeom prst="rect">
            <a:avLst/>
          </a:prstGeom>
          <a:noFill/>
          <a:ln/>
        </p:spPr>
        <p:txBody>
          <a:bodyPr wrap="square" lIns="0" tIns="0" rIns="0" bIns="0" rtlCol="0" anchor="ctr"/>
          <a:lstStyle/>
          <a:p>
            <a:pPr indent="0" marL="0">
              <a:buNone/>
            </a:pPr>
            <a:r>
              <a:rPr lang="en-US" sz="5400" b="1" dirty="0">
                <a:solidFill>
                  <a:schemeClr val="accent5"/>
                </a:solidFill>
                <a:latin typeface="Cambria" pitchFamily="34" charset="0"/>
                <a:ea typeface="Cambria" pitchFamily="34" charset="-122"/>
                <a:cs typeface="Cambria" pitchFamily="34" charset="-120"/>
              </a:rPr>
              <a:t>989</a:t>
            </a:r>
            <a:pPr indent="0" marL="0">
              <a:buNone/>
            </a:pPr>
            <a:r>
              <a:rPr lang="en-US" sz="1800" dirty="0">
                <a:solidFill>
                  <a:schemeClr val="accent5"/>
                </a:solidFill>
                <a:latin typeface="Cambria" pitchFamily="34" charset="0"/>
                <a:ea typeface="Cambria" pitchFamily="34" charset="-122"/>
                <a:cs typeface="Cambria" pitchFamily="34" charset="-120"/>
              </a:rPr>
              <a:t>  TFLOP/s</a:t>
            </a:r>
            <a:endParaRPr lang="en-US" sz="5400" dirty="0"/>
          </a:p>
        </p:txBody>
      </p:sp>
      <p:sp>
        <p:nvSpPr>
          <p:cNvPr id="7" name="Text 5"/>
          <p:cNvSpPr txBox="1"/>
          <p:nvPr/>
        </p:nvSpPr>
        <p:spPr>
          <a:xfrm>
            <a:off x="822960" y="2971800"/>
            <a:ext cx="3017520" cy="640080"/>
          </a:xfrm>
          <a:prstGeom prst="rect">
            <a:avLst/>
          </a:prstGeom>
          <a:noFill/>
          <a:ln/>
        </p:spPr>
        <p:txBody>
          <a:bodyPr wrap="square" lIns="0" tIns="0" rIns="0" bIns="0" rtlCol="0" anchor="t"/>
          <a:lstStyle/>
          <a:p>
            <a:pPr indent="0" marL="0">
              <a:buNone/>
            </a:pPr>
            <a:r>
              <a:rPr lang="en-US" sz="1500" dirty="0">
                <a:solidFill>
                  <a:schemeClr val="tx2"/>
                </a:solidFill>
              </a:rPr>
              <a:t>H100 dense BF16 compute</a:t>
            </a:r>
            <a:endParaRPr lang="en-US" sz="1500" dirty="0"/>
          </a:p>
        </p:txBody>
      </p:sp>
      <p:sp>
        <p:nvSpPr>
          <p:cNvPr id="8" name="Card"/>
          <p:cNvSpPr/>
          <p:nvPr/>
        </p:nvSpPr>
        <p:spPr>
          <a:xfrm>
            <a:off x="4297680" y="1508760"/>
            <a:ext cx="3520440" cy="2377440"/>
          </a:xfrm>
          <a:prstGeom prst="roundRect">
            <a:avLst>
              <a:gd name="adj" fmla="val 4615"/>
            </a:avLst>
          </a:prstGeom>
          <a:solidFill>
            <a:schemeClr val="bg2"/>
          </a:solidFill>
          <a:ln/>
        </p:spPr>
      </p:sp>
      <p:sp>
        <p:nvSpPr>
          <p:cNvPr id="9" name="Text 7"/>
          <p:cNvSpPr txBox="1"/>
          <p:nvPr/>
        </p:nvSpPr>
        <p:spPr>
          <a:xfrm>
            <a:off x="4572000" y="1737360"/>
            <a:ext cx="3108960" cy="1097280"/>
          </a:xfrm>
          <a:prstGeom prst="rect">
            <a:avLst/>
          </a:prstGeom>
          <a:noFill/>
          <a:ln/>
        </p:spPr>
        <p:txBody>
          <a:bodyPr wrap="square" lIns="0" tIns="0" rIns="0" bIns="0" rtlCol="0" anchor="ctr"/>
          <a:lstStyle/>
          <a:p>
            <a:pPr indent="0" marL="0">
              <a:buNone/>
            </a:pPr>
            <a:r>
              <a:rPr lang="en-US" sz="5400" b="1" dirty="0">
                <a:solidFill>
                  <a:schemeClr val="accent5"/>
                </a:solidFill>
                <a:latin typeface="Cambria" pitchFamily="34" charset="0"/>
                <a:ea typeface="Cambria" pitchFamily="34" charset="-122"/>
                <a:cs typeface="Cambria" pitchFamily="34" charset="-120"/>
              </a:rPr>
              <a:t>3.35</a:t>
            </a:r>
            <a:pPr indent="0" marL="0">
              <a:buNone/>
            </a:pPr>
            <a:r>
              <a:rPr lang="en-US" sz="1800" dirty="0">
                <a:solidFill>
                  <a:schemeClr val="accent5"/>
                </a:solidFill>
                <a:latin typeface="Cambria" pitchFamily="34" charset="0"/>
                <a:ea typeface="Cambria" pitchFamily="34" charset="-122"/>
                <a:cs typeface="Cambria" pitchFamily="34" charset="-120"/>
              </a:rPr>
              <a:t>  TB/s</a:t>
            </a:r>
            <a:endParaRPr lang="en-US" sz="5400" dirty="0"/>
          </a:p>
        </p:txBody>
      </p:sp>
      <p:sp>
        <p:nvSpPr>
          <p:cNvPr id="10" name="Text 8"/>
          <p:cNvSpPr txBox="1"/>
          <p:nvPr/>
        </p:nvSpPr>
        <p:spPr>
          <a:xfrm>
            <a:off x="4572000" y="2971800"/>
            <a:ext cx="3017520" cy="640080"/>
          </a:xfrm>
          <a:prstGeom prst="rect">
            <a:avLst/>
          </a:prstGeom>
          <a:noFill/>
          <a:ln/>
        </p:spPr>
        <p:txBody>
          <a:bodyPr wrap="square" lIns="0" tIns="0" rIns="0" bIns="0" rtlCol="0" anchor="t"/>
          <a:lstStyle/>
          <a:p>
            <a:pPr indent="0" marL="0">
              <a:buNone/>
            </a:pPr>
            <a:r>
              <a:rPr lang="en-US" sz="1500" dirty="0">
                <a:solidFill>
                  <a:schemeClr val="tx2"/>
                </a:solidFill>
              </a:rPr>
              <a:t>HBM memory bandwidth</a:t>
            </a:r>
            <a:endParaRPr lang="en-US" sz="1500" dirty="0"/>
          </a:p>
        </p:txBody>
      </p:sp>
      <p:sp>
        <p:nvSpPr>
          <p:cNvPr id="11" name="Card"/>
          <p:cNvSpPr/>
          <p:nvPr/>
        </p:nvSpPr>
        <p:spPr>
          <a:xfrm>
            <a:off x="8046720" y="1508760"/>
            <a:ext cx="3520440" cy="2377440"/>
          </a:xfrm>
          <a:prstGeom prst="roundRect">
            <a:avLst>
              <a:gd name="adj" fmla="val 4615"/>
            </a:avLst>
          </a:prstGeom>
          <a:solidFill>
            <a:schemeClr val="tx1"/>
          </a:solidFill>
          <a:ln/>
        </p:spPr>
      </p:sp>
      <p:sp>
        <p:nvSpPr>
          <p:cNvPr id="12" name="Text 10"/>
          <p:cNvSpPr txBox="1"/>
          <p:nvPr/>
        </p:nvSpPr>
        <p:spPr>
          <a:xfrm>
            <a:off x="8321040" y="1737360"/>
            <a:ext cx="3108960" cy="1097280"/>
          </a:xfrm>
          <a:prstGeom prst="rect">
            <a:avLst/>
          </a:prstGeom>
          <a:noFill/>
          <a:ln/>
        </p:spPr>
        <p:txBody>
          <a:bodyPr wrap="square" lIns="0" tIns="0" rIns="0" bIns="0" rtlCol="0" anchor="ctr"/>
          <a:lstStyle/>
          <a:p>
            <a:pPr indent="0" marL="0">
              <a:buNone/>
            </a:pPr>
            <a:r>
              <a:rPr lang="en-US" sz="5400" b="1" dirty="0">
                <a:solidFill>
                  <a:schemeClr val="accent6"/>
                </a:solidFill>
                <a:latin typeface="Cambria" pitchFamily="34" charset="0"/>
                <a:ea typeface="Cambria" pitchFamily="34" charset="-122"/>
                <a:cs typeface="Cambria" pitchFamily="34" charset="-120"/>
              </a:rPr>
              <a:t>295</a:t>
            </a:r>
            <a:pPr indent="0" marL="0">
              <a:buNone/>
            </a:pPr>
            <a:r>
              <a:rPr lang="en-US" sz="1800" dirty="0">
                <a:solidFill>
                  <a:schemeClr val="accent6"/>
                </a:solidFill>
                <a:latin typeface="Cambria" pitchFamily="34" charset="0"/>
                <a:ea typeface="Cambria" pitchFamily="34" charset="-122"/>
                <a:cs typeface="Cambria" pitchFamily="34" charset="-120"/>
              </a:rPr>
              <a:t>  FLOPs/byte</a:t>
            </a:r>
            <a:endParaRPr lang="en-US" sz="5400" dirty="0"/>
          </a:p>
        </p:txBody>
      </p:sp>
      <p:sp>
        <p:nvSpPr>
          <p:cNvPr id="13" name="Text 11"/>
          <p:cNvSpPr txBox="1"/>
          <p:nvPr/>
        </p:nvSpPr>
        <p:spPr>
          <a:xfrm>
            <a:off x="8321040" y="2971800"/>
            <a:ext cx="3017520" cy="640080"/>
          </a:xfrm>
          <a:prstGeom prst="rect">
            <a:avLst/>
          </a:prstGeom>
          <a:noFill/>
          <a:ln/>
        </p:spPr>
        <p:txBody>
          <a:bodyPr wrap="square" lIns="0" tIns="0" rIns="0" bIns="0" rtlCol="0" anchor="t"/>
          <a:lstStyle/>
          <a:p>
            <a:pPr indent="0" marL="0">
              <a:buNone/>
            </a:pPr>
            <a:r>
              <a:rPr lang="en-US" sz="1500" dirty="0">
                <a:solidFill>
                  <a:schemeClr val="bg1"/>
                </a:solidFill>
              </a:rPr>
              <a:t>the ridge point: compute ÷ bandwidth</a:t>
            </a:r>
            <a:endParaRPr lang="en-US" sz="1500" dirty="0"/>
          </a:p>
        </p:txBody>
      </p:sp>
      <p:sp>
        <p:nvSpPr>
          <p:cNvPr id="14" name="Card"/>
          <p:cNvSpPr/>
          <p:nvPr/>
        </p:nvSpPr>
        <p:spPr>
          <a:xfrm>
            <a:off x="548640" y="4160520"/>
            <a:ext cx="5440680" cy="1325880"/>
          </a:xfrm>
          <a:prstGeom prst="roundRect">
            <a:avLst>
              <a:gd name="adj" fmla="val 8276"/>
            </a:avLst>
          </a:prstGeom>
          <a:solidFill>
            <a:schemeClr val="bg2"/>
          </a:solidFill>
          <a:ln/>
        </p:spPr>
      </p:sp>
      <p:sp>
        <p:nvSpPr>
          <p:cNvPr id="15" name="Text 13"/>
          <p:cNvSpPr txBox="1"/>
          <p:nvPr/>
        </p:nvSpPr>
        <p:spPr>
          <a:xfrm>
            <a:off x="868680" y="4315968"/>
            <a:ext cx="4846320" cy="1051560"/>
          </a:xfrm>
          <a:prstGeom prst="rect">
            <a:avLst/>
          </a:prstGeom>
          <a:noFill/>
          <a:ln/>
        </p:spPr>
        <p:txBody>
          <a:bodyPr wrap="square" lIns="0" tIns="0" rIns="0" bIns="0" rtlCol="0" anchor="t"/>
          <a:lstStyle/>
          <a:p>
            <a:pPr indent="0" marL="0">
              <a:buNone/>
            </a:pPr>
            <a:r>
              <a:rPr lang="en-US" sz="1600" b="1" dirty="0">
                <a:solidFill>
                  <a:schemeClr val="accent5"/>
                </a:solidFill>
              </a:rPr>
              <a:t>Above 295 FLOPs/byte: compute-bound</a:t>
            </a:r>
            <a:endParaRPr lang="en-US" sz="1600" dirty="0"/>
          </a:p>
          <a:p>
            <a:pPr indent="0" marL="0">
              <a:buNone/>
            </a:pPr>
            <a:r>
              <a:rPr lang="en-US" sz="1600" dirty="0">
                <a:solidFill>
                  <a:schemeClr val="tx1"/>
                </a:solidFill>
              </a:rPr>
              <a:t>Only fewer or cheaper FLOPs help (FP8, smaller model).</a:t>
            </a:r>
            <a:endParaRPr lang="en-US" sz="1600" dirty="0"/>
          </a:p>
        </p:txBody>
      </p:sp>
      <p:sp>
        <p:nvSpPr>
          <p:cNvPr id="16" name="Card"/>
          <p:cNvSpPr/>
          <p:nvPr/>
        </p:nvSpPr>
        <p:spPr>
          <a:xfrm>
            <a:off x="6199632" y="4160520"/>
            <a:ext cx="5440680" cy="1325880"/>
          </a:xfrm>
          <a:prstGeom prst="roundRect">
            <a:avLst>
              <a:gd name="adj" fmla="val 8276"/>
            </a:avLst>
          </a:prstGeom>
          <a:solidFill>
            <a:schemeClr val="bg2"/>
          </a:solidFill>
          <a:ln/>
        </p:spPr>
      </p:sp>
      <p:sp>
        <p:nvSpPr>
          <p:cNvPr id="17" name="Text 15"/>
          <p:cNvSpPr txBox="1"/>
          <p:nvPr/>
        </p:nvSpPr>
        <p:spPr>
          <a:xfrm>
            <a:off x="6519672" y="4315968"/>
            <a:ext cx="4846320" cy="1051560"/>
          </a:xfrm>
          <a:prstGeom prst="rect">
            <a:avLst/>
          </a:prstGeom>
          <a:noFill/>
          <a:ln/>
        </p:spPr>
        <p:txBody>
          <a:bodyPr wrap="square" lIns="0" tIns="0" rIns="0" bIns="0" rtlCol="0" anchor="t"/>
          <a:lstStyle/>
          <a:p>
            <a:pPr indent="0" marL="0">
              <a:buNone/>
            </a:pPr>
            <a:r>
              <a:rPr lang="en-US" sz="1600" b="1" dirty="0">
                <a:solidFill>
                  <a:schemeClr val="accent4"/>
                </a:solidFill>
              </a:rPr>
              <a:t>Below: memory-bound</a:t>
            </a:r>
            <a:endParaRPr lang="en-US" sz="1600" dirty="0"/>
          </a:p>
          <a:p>
            <a:pPr indent="0" marL="0">
              <a:buNone/>
            </a:pPr>
            <a:r>
              <a:rPr lang="en-US" sz="1600" dirty="0">
                <a:solidFill>
                  <a:schemeClr val="tx1"/>
                </a:solidFill>
              </a:rPr>
              <a:t>Only moving fewer bytes helps. A GPU with more FLOPs but the same bandwidth won't speed it up.</a:t>
            </a:r>
            <a:endParaRPr lang="en-US" sz="1600" dirty="0"/>
          </a:p>
        </p:txBody>
      </p:sp>
      <p:sp>
        <p:nvSpPr>
          <p:cNvPr id="18" name="Text 16"/>
          <p:cNvSpPr txBox="1"/>
          <p:nvPr/>
        </p:nvSpPr>
        <p:spPr>
          <a:xfrm>
            <a:off x="6583680" y="6400800"/>
            <a:ext cx="4389120" cy="274320"/>
          </a:xfrm>
          <a:prstGeom prst="rect">
            <a:avLst/>
          </a:prstGeom>
          <a:noFill/>
          <a:ln/>
        </p:spPr>
        <p:txBody>
          <a:bodyPr wrap="square" lIns="0" tIns="0" rIns="0" bIns="0" rtlCol="0" anchor="ctr"/>
          <a:lstStyle/>
          <a:p>
            <a:pPr algn="r" indent="0" marL="0">
              <a:buNone/>
            </a:pPr>
            <a:r>
              <a:rPr lang="en-US" sz="1000" u="sng" dirty="0">
                <a:solidFill>
                  <a:srgbClr val="000000"/>
                </a:solidFill>
                <a:hlinkClick r:id="rId1" invalidUrl="" action="" tgtFrame="" tooltip="Open this section of the summary page" history="1" highlightClick="0" endSnd="0">
                  <a:extLst>
                    <a:ext uri="{A12FA001-AC4F-418D-AE19-62706E023703}">
                      <ahyp:hlinkClr xmlns:ahyp="http://schemas.microsoft.com/office/drawing/2018/hyperlinkcolor" val="tx"/>
                    </a:ext>
                  </a:extLst>
                </a:hlinkClick>
              </a:rPr>
              <a:t>In the summary: §2 HBM vs SRAM ↗</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418320" cy="868680"/>
          </a:xfrm>
          <a:prstGeom prst="rect">
            <a:avLst/>
          </a:prstGeom>
          <a:noFill/>
          <a:ln/>
        </p:spPr>
        <p:txBody>
          <a:bodyPr wrap="square" lIns="0" tIns="0" rIns="0" bIns="0" rtlCol="0" anchor="ctr"/>
          <a:lstStyle/>
          <a:p>
            <a:pPr algn="l" indent="0" marL="0">
              <a:buNone/>
            </a:pPr>
            <a:r>
              <a:rPr lang="en-US" sz="3000" b="1" dirty="0">
                <a:solidFill>
                  <a:schemeClr val="tx1"/>
                </a:solidFill>
              </a:rPr>
              <a:t>The roofline tells you which fix will work</a:t>
            </a:r>
            <a:endParaRPr lang="en-US" sz="3000" dirty="0"/>
          </a:p>
        </p:txBody>
      </p:sp>
      <p:sp>
        <p:nvSpPr>
          <p:cNvPr id="3" name="Idea chip"/>
          <p:cNvSpPr/>
          <p:nvPr/>
        </p:nvSpPr>
        <p:spPr>
          <a:xfrm>
            <a:off x="10378440" y="548640"/>
            <a:ext cx="1261872" cy="384048"/>
          </a:xfrm>
          <a:prstGeom prst="roundRect">
            <a:avLst>
              <a:gd name="adj" fmla="val 50000"/>
            </a:avLst>
          </a:prstGeom>
          <a:solidFill>
            <a:schemeClr val="accent5"/>
          </a:solidFill>
          <a:ln/>
        </p:spPr>
      </p:sp>
      <p:sp>
        <p:nvSpPr>
          <p:cNvPr id="4" name="Text 2"/>
          <p:cNvSpPr txBox="1"/>
          <p:nvPr/>
        </p:nvSpPr>
        <p:spPr>
          <a:xfrm>
            <a:off x="10378440" y="548640"/>
            <a:ext cx="1261872" cy="384048"/>
          </a:xfrm>
          <a:prstGeom prst="rect">
            <a:avLst/>
          </a:prstGeom>
          <a:noFill/>
          <a:ln/>
        </p:spPr>
        <p:txBody>
          <a:bodyPr wrap="square" lIns="0" tIns="0" rIns="0" bIns="0" rtlCol="0" anchor="ctr"/>
          <a:lstStyle/>
          <a:p>
            <a:pPr algn="ctr" indent="0" marL="0">
              <a:buNone/>
            </a:pPr>
            <a:r>
              <a:rPr lang="en-US" sz="1300" b="1" spc="200" kern="0" dirty="0">
                <a:solidFill>
                  <a:schemeClr val="bg1"/>
                </a:solidFill>
              </a:rPr>
              <a:t>IDEA 5</a:t>
            </a:r>
            <a:endParaRPr lang="en-US" sz="1300" dirty="0"/>
          </a:p>
        </p:txBody>
      </p:sp>
      <p:pic>
        <p:nvPicPr>
          <p:cNvPr id="5" name="Diagram roofline_h100" descr="Roofline chart for H100 with decode, elementwise and matmul operations plotted">    </p:cNvPr>
          <p:cNvPicPr>
            <a:picLocks noChangeAspect="1"/>
          </p:cNvPicPr>
          <p:nvPr/>
        </p:nvPicPr>
        <p:blipFill>
          <a:blip r:embed="rId1"/>
          <a:stretch>
            <a:fillRect/>
          </a:stretch>
        </p:blipFill>
        <p:spPr>
          <a:xfrm>
            <a:off x="457200" y="1280160"/>
            <a:ext cx="7680960" cy="3746810"/>
          </a:xfrm>
          <a:prstGeom prst="rect">
            <a:avLst/>
          </a:prstGeom>
        </p:spPr>
      </p:pic>
      <p:sp>
        <p:nvSpPr>
          <p:cNvPr id="6" name="Text 3"/>
          <p:cNvSpPr txBox="1"/>
          <p:nvPr/>
        </p:nvSpPr>
        <p:spPr>
          <a:xfrm>
            <a:off x="8001000" y="1417320"/>
            <a:ext cx="3657600" cy="1051560"/>
          </a:xfrm>
          <a:prstGeom prst="rect">
            <a:avLst/>
          </a:prstGeom>
          <a:noFill/>
          <a:ln/>
        </p:spPr>
        <p:txBody>
          <a:bodyPr wrap="square" lIns="0" tIns="0" rIns="0" bIns="0" rtlCol="0" anchor="t"/>
          <a:lstStyle/>
          <a:p>
            <a:pPr indent="0" marL="0">
              <a:buNone/>
            </a:pPr>
            <a:r>
              <a:rPr lang="en-US" sz="1400" b="1" dirty="0">
                <a:solidFill>
                  <a:schemeClr val="tx1"/>
                </a:solidFill>
              </a:rPr>
              <a:t>Low GPU utilisation?</a:t>
            </a:r>
            <a:endParaRPr lang="en-US" sz="1400" dirty="0"/>
          </a:p>
          <a:p>
            <a:pPr indent="0" marL="0">
              <a:buNone/>
            </a:pPr>
            <a:r>
              <a:rPr lang="en-US" sz="1400" dirty="0">
                <a:solidFill>
                  <a:schemeClr val="tx2"/>
                </a:solidFill>
              </a:rPr>
              <a:t>Ops are below the line: fuse, batch, move fewer bytes.</a:t>
            </a:r>
            <a:endParaRPr lang="en-US" sz="1400" dirty="0"/>
          </a:p>
        </p:txBody>
      </p:sp>
      <p:sp>
        <p:nvSpPr>
          <p:cNvPr id="7" name="Text 4"/>
          <p:cNvSpPr txBox="1"/>
          <p:nvPr/>
        </p:nvSpPr>
        <p:spPr>
          <a:xfrm>
            <a:off x="8001000" y="2587752"/>
            <a:ext cx="3657600" cy="1051560"/>
          </a:xfrm>
          <a:prstGeom prst="rect">
            <a:avLst/>
          </a:prstGeom>
          <a:noFill/>
          <a:ln/>
        </p:spPr>
        <p:txBody>
          <a:bodyPr wrap="square" lIns="0" tIns="0" rIns="0" bIns="0" rtlCol="0" anchor="t"/>
          <a:lstStyle/>
          <a:p>
            <a:pPr indent="0" marL="0">
              <a:buNone/>
            </a:pPr>
            <a:r>
              <a:rPr lang="en-US" sz="1400" b="1" dirty="0">
                <a:solidFill>
                  <a:schemeClr val="tx1"/>
                </a:solidFill>
              </a:rPr>
              <a:t>Faster inference?</a:t>
            </a:r>
            <a:endParaRPr lang="en-US" sz="1400" dirty="0"/>
          </a:p>
          <a:p>
            <a:pPr indent="0" marL="0">
              <a:buNone/>
            </a:pPr>
            <a:r>
              <a:rPr lang="en-US" sz="1400" dirty="0">
                <a:solidFill>
                  <a:schemeClr val="tx2"/>
                </a:solidFill>
              </a:rPr>
              <a:t>Decode is memory-bound: quantise and batch. Prefill is the opposite.</a:t>
            </a:r>
            <a:endParaRPr lang="en-US" sz="1400" dirty="0"/>
          </a:p>
        </p:txBody>
      </p:sp>
      <p:sp>
        <p:nvSpPr>
          <p:cNvPr id="8" name="Text 5"/>
          <p:cNvSpPr txBox="1"/>
          <p:nvPr/>
        </p:nvSpPr>
        <p:spPr>
          <a:xfrm>
            <a:off x="8001000" y="3758184"/>
            <a:ext cx="3657600" cy="1051560"/>
          </a:xfrm>
          <a:prstGeom prst="rect">
            <a:avLst/>
          </a:prstGeom>
          <a:noFill/>
          <a:ln/>
        </p:spPr>
        <p:txBody>
          <a:bodyPr wrap="square" lIns="0" tIns="0" rIns="0" bIns="0" rtlCol="0" anchor="t"/>
          <a:lstStyle/>
          <a:p>
            <a:pPr indent="0" marL="0">
              <a:buNone/>
            </a:pPr>
            <a:r>
              <a:rPr lang="en-US" sz="1400" b="1" dirty="0">
                <a:solidFill>
                  <a:schemeClr val="tx1"/>
                </a:solidFill>
              </a:rPr>
              <a:t>Picking a GPU?</a:t>
            </a:r>
            <a:endParaRPr lang="en-US" sz="1400" dirty="0"/>
          </a:p>
          <a:p>
            <a:pPr indent="0" marL="0">
              <a:buNone/>
            </a:pPr>
            <a:r>
              <a:rPr lang="en-US" sz="1400" dirty="0">
                <a:solidFill>
                  <a:schemeClr val="tx2"/>
                </a:solidFill>
              </a:rPr>
              <a:t>Serving: bandwidth first. Large-batch training: FLOPs.</a:t>
            </a:r>
            <a:endParaRPr lang="en-US" sz="1400" dirty="0"/>
          </a:p>
        </p:txBody>
      </p:sp>
      <p:sp>
        <p:nvSpPr>
          <p:cNvPr id="9" name="Text 6"/>
          <p:cNvSpPr txBox="1"/>
          <p:nvPr/>
        </p:nvSpPr>
        <p:spPr>
          <a:xfrm>
            <a:off x="8001000" y="4928616"/>
            <a:ext cx="3657600" cy="1051560"/>
          </a:xfrm>
          <a:prstGeom prst="rect">
            <a:avLst/>
          </a:prstGeom>
          <a:noFill/>
          <a:ln/>
        </p:spPr>
        <p:txBody>
          <a:bodyPr wrap="square" lIns="0" tIns="0" rIns="0" bIns="0" rtlCol="0" anchor="t"/>
          <a:lstStyle/>
          <a:p>
            <a:pPr indent="0" marL="0">
              <a:buNone/>
            </a:pPr>
            <a:r>
              <a:rPr lang="en-US" sz="1400" b="1" dirty="0">
                <a:solidFill>
                  <a:schemeClr val="tx1"/>
                </a:solidFill>
              </a:rPr>
              <a:t>Reading a paper?</a:t>
            </a:r>
            <a:endParaRPr lang="en-US" sz="1400" dirty="0"/>
          </a:p>
          <a:p>
            <a:pPr indent="0" marL="0">
              <a:buNone/>
            </a:pPr>
            <a:r>
              <a:rPr lang="en-US" sz="1400" dirty="0">
                <a:solidFill>
                  <a:schemeClr val="tx2"/>
                </a:solidFill>
              </a:rPr>
              <a:t>GQA, MLA, KV quantisation and fusion are about bytes, not FLOPs.</a:t>
            </a:r>
            <a:endParaRPr lang="en-US" sz="1400" dirty="0"/>
          </a:p>
        </p:txBody>
      </p:sp>
      <p:sp>
        <p:nvSpPr>
          <p:cNvPr id="10" name="Text 7"/>
          <p:cNvSpPr txBox="1"/>
          <p:nvPr/>
        </p:nvSpPr>
        <p:spPr>
          <a:xfrm>
            <a:off x="6583680" y="6400800"/>
            <a:ext cx="4389120" cy="274320"/>
          </a:xfrm>
          <a:prstGeom prst="rect">
            <a:avLst/>
          </a:prstGeom>
          <a:noFill/>
          <a:ln/>
        </p:spPr>
        <p:txBody>
          <a:bodyPr wrap="square" lIns="0" tIns="0" rIns="0" bIns="0" rtlCol="0" anchor="ctr"/>
          <a:lstStyle/>
          <a:p>
            <a:pPr algn="r" indent="0" marL="0">
              <a:buNone/>
            </a:pPr>
            <a:r>
              <a:rPr lang="en-US" sz="1000" u="sng" dirty="0">
                <a:solidFill>
                  <a:srgbClr val="000000"/>
                </a:solidFill>
                <a:hlinkClick r:id="rId2" invalidUrl="" action="" tgtFrame="" tooltip="Open this section of the summary page" history="1" highlightClick="0" endSnd="0">
                  <a:extLst>
                    <a:ext uri="{A12FA001-AC4F-418D-AE19-62706E023703}">
                      <ahyp:hlinkClr xmlns:ahyp="http://schemas.microsoft.com/office/drawing/2018/hyperlinkcolor" val="tx"/>
                    </a:ext>
                  </a:extLst>
                </a:hlinkClick>
              </a:rPr>
              <a:t>In the summary: §2 roofline ↗</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418320" cy="868680"/>
          </a:xfrm>
          <a:prstGeom prst="rect">
            <a:avLst/>
          </a:prstGeom>
          <a:noFill/>
          <a:ln/>
        </p:spPr>
        <p:txBody>
          <a:bodyPr wrap="square" lIns="0" tIns="0" rIns="0" bIns="0" rtlCol="0" anchor="ctr"/>
          <a:lstStyle/>
          <a:p>
            <a:pPr algn="l" indent="0" marL="0">
              <a:buNone/>
            </a:pPr>
            <a:r>
              <a:rPr lang="en-US" sz="3000" b="1" dirty="0">
                <a:solidFill>
                  <a:schemeClr val="tx1"/>
                </a:solidFill>
              </a:rPr>
              <a:t>Worked example: decoding Llama-2-7B at batch 1</a:t>
            </a:r>
            <a:endParaRPr lang="en-US" sz="3000" dirty="0"/>
          </a:p>
        </p:txBody>
      </p:sp>
      <p:sp>
        <p:nvSpPr>
          <p:cNvPr id="3" name="Idea chip"/>
          <p:cNvSpPr/>
          <p:nvPr/>
        </p:nvSpPr>
        <p:spPr>
          <a:xfrm>
            <a:off x="10378440" y="548640"/>
            <a:ext cx="1261872" cy="384048"/>
          </a:xfrm>
          <a:prstGeom prst="roundRect">
            <a:avLst>
              <a:gd name="adj" fmla="val 50000"/>
            </a:avLst>
          </a:prstGeom>
          <a:solidFill>
            <a:schemeClr val="accent5"/>
          </a:solidFill>
          <a:ln/>
        </p:spPr>
      </p:sp>
      <p:sp>
        <p:nvSpPr>
          <p:cNvPr id="4" name="Text 2"/>
          <p:cNvSpPr txBox="1"/>
          <p:nvPr/>
        </p:nvSpPr>
        <p:spPr>
          <a:xfrm>
            <a:off x="10378440" y="548640"/>
            <a:ext cx="1261872" cy="384048"/>
          </a:xfrm>
          <a:prstGeom prst="rect">
            <a:avLst/>
          </a:prstGeom>
          <a:noFill/>
          <a:ln/>
        </p:spPr>
        <p:txBody>
          <a:bodyPr wrap="square" lIns="0" tIns="0" rIns="0" bIns="0" rtlCol="0" anchor="ctr"/>
          <a:lstStyle/>
          <a:p>
            <a:pPr algn="ctr" indent="0" marL="0">
              <a:buNone/>
            </a:pPr>
            <a:r>
              <a:rPr lang="en-US" sz="1300" b="1" spc="200" kern="0" dirty="0">
                <a:solidFill>
                  <a:schemeClr val="bg1"/>
                </a:solidFill>
              </a:rPr>
              <a:t>IDEA 5</a:t>
            </a:r>
            <a:endParaRPr lang="en-US" sz="1300" dirty="0"/>
          </a:p>
        </p:txBody>
      </p:sp>
      <p:sp>
        <p:nvSpPr>
          <p:cNvPr id="5" name="Card"/>
          <p:cNvSpPr/>
          <p:nvPr/>
        </p:nvSpPr>
        <p:spPr>
          <a:xfrm>
            <a:off x="548640" y="1508760"/>
            <a:ext cx="3291840" cy="1737360"/>
          </a:xfrm>
          <a:prstGeom prst="roundRect">
            <a:avLst>
              <a:gd name="adj" fmla="val 6316"/>
            </a:avLst>
          </a:prstGeom>
          <a:solidFill>
            <a:schemeClr val="bg2"/>
          </a:solidFill>
          <a:ln/>
        </p:spPr>
      </p:sp>
      <p:sp>
        <p:nvSpPr>
          <p:cNvPr id="6" name="Text 4"/>
          <p:cNvSpPr txBox="1"/>
          <p:nvPr/>
        </p:nvSpPr>
        <p:spPr>
          <a:xfrm>
            <a:off x="822960" y="1645920"/>
            <a:ext cx="2834640" cy="82296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13.5 GB</a:t>
            </a:r>
            <a:endParaRPr lang="en-US" sz="3600" dirty="0"/>
          </a:p>
        </p:txBody>
      </p:sp>
      <p:sp>
        <p:nvSpPr>
          <p:cNvPr id="7" name="Text 5"/>
          <p:cNvSpPr txBox="1"/>
          <p:nvPr/>
        </p:nvSpPr>
        <p:spPr>
          <a:xfrm>
            <a:off x="822960" y="2514600"/>
            <a:ext cx="2834640" cy="548640"/>
          </a:xfrm>
          <a:prstGeom prst="rect">
            <a:avLst/>
          </a:prstGeom>
          <a:noFill/>
          <a:ln/>
        </p:spPr>
        <p:txBody>
          <a:bodyPr wrap="square" lIns="0" tIns="0" rIns="0" bIns="0" rtlCol="0" anchor="t"/>
          <a:lstStyle/>
          <a:p>
            <a:pPr indent="0" marL="0">
              <a:buNone/>
            </a:pPr>
            <a:r>
              <a:rPr lang="en-US" sz="1400" dirty="0">
                <a:solidFill>
                  <a:schemeClr val="tx2"/>
                </a:solidFill>
              </a:rPr>
              <a:t>weights (6.74B × 2 bytes)</a:t>
            </a:r>
            <a:endParaRPr lang="en-US" sz="1400" dirty="0"/>
          </a:p>
        </p:txBody>
      </p:sp>
      <p:sp>
        <p:nvSpPr>
          <p:cNvPr id="8" name="Arrow"/>
          <p:cNvSpPr/>
          <p:nvPr/>
        </p:nvSpPr>
        <p:spPr>
          <a:xfrm>
            <a:off x="3913632" y="2194560"/>
            <a:ext cx="310896" cy="365760"/>
          </a:xfrm>
          <a:prstGeom prst="rightArrow">
            <a:avLst/>
          </a:prstGeom>
          <a:solidFill>
            <a:schemeClr val="accent6"/>
          </a:solidFill>
          <a:ln/>
        </p:spPr>
      </p:sp>
      <p:sp>
        <p:nvSpPr>
          <p:cNvPr id="9" name="Card"/>
          <p:cNvSpPr/>
          <p:nvPr/>
        </p:nvSpPr>
        <p:spPr>
          <a:xfrm>
            <a:off x="4297680" y="1508760"/>
            <a:ext cx="3291840" cy="1737360"/>
          </a:xfrm>
          <a:prstGeom prst="roundRect">
            <a:avLst>
              <a:gd name="adj" fmla="val 6316"/>
            </a:avLst>
          </a:prstGeom>
          <a:solidFill>
            <a:schemeClr val="bg2"/>
          </a:solidFill>
          <a:ln/>
        </p:spPr>
      </p:sp>
      <p:sp>
        <p:nvSpPr>
          <p:cNvPr id="10" name="Text 8"/>
          <p:cNvSpPr txBox="1"/>
          <p:nvPr/>
        </p:nvSpPr>
        <p:spPr>
          <a:xfrm>
            <a:off x="4572000" y="1645920"/>
            <a:ext cx="2834640" cy="82296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 3.35 TB/s</a:t>
            </a:r>
            <a:endParaRPr lang="en-US" sz="3600" dirty="0"/>
          </a:p>
        </p:txBody>
      </p:sp>
      <p:sp>
        <p:nvSpPr>
          <p:cNvPr id="11" name="Text 9"/>
          <p:cNvSpPr txBox="1"/>
          <p:nvPr/>
        </p:nvSpPr>
        <p:spPr>
          <a:xfrm>
            <a:off x="4572000" y="2514600"/>
            <a:ext cx="2834640" cy="548640"/>
          </a:xfrm>
          <a:prstGeom prst="rect">
            <a:avLst/>
          </a:prstGeom>
          <a:noFill/>
          <a:ln/>
        </p:spPr>
        <p:txBody>
          <a:bodyPr wrap="square" lIns="0" tIns="0" rIns="0" bIns="0" rtlCol="0" anchor="t"/>
          <a:lstStyle/>
          <a:p>
            <a:pPr indent="0" marL="0">
              <a:buNone/>
            </a:pPr>
            <a:r>
              <a:rPr lang="en-US" sz="1400" dirty="0">
                <a:solidFill>
                  <a:schemeClr val="tx2"/>
                </a:solidFill>
              </a:rPr>
              <a:t>every weight read once per token</a:t>
            </a:r>
            <a:endParaRPr lang="en-US" sz="1400" dirty="0"/>
          </a:p>
        </p:txBody>
      </p:sp>
      <p:sp>
        <p:nvSpPr>
          <p:cNvPr id="12" name="Arrow"/>
          <p:cNvSpPr/>
          <p:nvPr/>
        </p:nvSpPr>
        <p:spPr>
          <a:xfrm>
            <a:off x="7662672" y="2194560"/>
            <a:ext cx="310896" cy="365760"/>
          </a:xfrm>
          <a:prstGeom prst="rightArrow">
            <a:avLst/>
          </a:prstGeom>
          <a:solidFill>
            <a:schemeClr val="accent6"/>
          </a:solidFill>
          <a:ln/>
        </p:spPr>
      </p:sp>
      <p:sp>
        <p:nvSpPr>
          <p:cNvPr id="13" name="Card"/>
          <p:cNvSpPr/>
          <p:nvPr/>
        </p:nvSpPr>
        <p:spPr>
          <a:xfrm>
            <a:off x="8046720" y="1508760"/>
            <a:ext cx="3291840" cy="1737360"/>
          </a:xfrm>
          <a:prstGeom prst="roundRect">
            <a:avLst>
              <a:gd name="adj" fmla="val 6316"/>
            </a:avLst>
          </a:prstGeom>
          <a:solidFill>
            <a:schemeClr val="tx1"/>
          </a:solidFill>
          <a:ln/>
        </p:spPr>
      </p:sp>
      <p:sp>
        <p:nvSpPr>
          <p:cNvPr id="14" name="Text 12"/>
          <p:cNvSpPr txBox="1"/>
          <p:nvPr/>
        </p:nvSpPr>
        <p:spPr>
          <a:xfrm>
            <a:off x="8321040" y="1645920"/>
            <a:ext cx="2834640" cy="822960"/>
          </a:xfrm>
          <a:prstGeom prst="rect">
            <a:avLst/>
          </a:prstGeom>
          <a:noFill/>
          <a:ln/>
        </p:spPr>
        <p:txBody>
          <a:bodyPr wrap="square" lIns="0" tIns="0" rIns="0" bIns="0" rtlCol="0" anchor="ctr"/>
          <a:lstStyle/>
          <a:p>
            <a:pPr indent="0" marL="0">
              <a:buNone/>
            </a:pPr>
            <a:r>
              <a:rPr lang="en-US" sz="3600" b="1" dirty="0">
                <a:solidFill>
                  <a:schemeClr val="accent6"/>
                </a:solidFill>
                <a:latin typeface="Cambria" pitchFamily="34" charset="0"/>
                <a:ea typeface="Cambria" pitchFamily="34" charset="-122"/>
                <a:cs typeface="Cambria" pitchFamily="34" charset="-120"/>
              </a:rPr>
              <a:t>≈ 250 tok/s</a:t>
            </a:r>
            <a:endParaRPr lang="en-US" sz="3600" dirty="0"/>
          </a:p>
        </p:txBody>
      </p:sp>
      <p:sp>
        <p:nvSpPr>
          <p:cNvPr id="15" name="Text 13"/>
          <p:cNvSpPr txBox="1"/>
          <p:nvPr/>
        </p:nvSpPr>
        <p:spPr>
          <a:xfrm>
            <a:off x="8321040" y="2514600"/>
            <a:ext cx="2834640" cy="548640"/>
          </a:xfrm>
          <a:prstGeom prst="rect">
            <a:avLst/>
          </a:prstGeom>
          <a:noFill/>
          <a:ln/>
        </p:spPr>
        <p:txBody>
          <a:bodyPr wrap="square" lIns="0" tIns="0" rIns="0" bIns="0" rtlCol="0" anchor="t"/>
          <a:lstStyle/>
          <a:p>
            <a:pPr indent="0" marL="0">
              <a:buNone/>
            </a:pPr>
            <a:r>
              <a:rPr lang="en-US" sz="1400" dirty="0">
                <a:solidFill>
                  <a:schemeClr val="bg1"/>
                </a:solidFill>
              </a:rPr>
              <a:t>ceiling; you'll measure less</a:t>
            </a:r>
            <a:endParaRPr lang="en-US" sz="1400" dirty="0"/>
          </a:p>
        </p:txBody>
      </p:sp>
      <p:sp>
        <p:nvSpPr>
          <p:cNvPr id="16" name="Text 14"/>
          <p:cNvSpPr txBox="1"/>
          <p:nvPr/>
        </p:nvSpPr>
        <p:spPr>
          <a:xfrm>
            <a:off x="548640" y="3566160"/>
            <a:ext cx="10972800" cy="411480"/>
          </a:xfrm>
          <a:prstGeom prst="rect">
            <a:avLst/>
          </a:prstGeom>
          <a:noFill/>
          <a:ln/>
        </p:spPr>
        <p:txBody>
          <a:bodyPr wrap="square" lIns="0" tIns="0" rIns="0" bIns="0" rtlCol="0" anchor="t"/>
          <a:lstStyle/>
          <a:p>
            <a:pPr indent="0" marL="0">
              <a:buNone/>
            </a:pPr>
            <a:r>
              <a:rPr lang="en-US" sz="1700" b="1" dirty="0">
                <a:solidFill>
                  <a:schemeClr val="tx1"/>
                </a:solidFill>
              </a:rPr>
              <a:t>That one division explains the standard serving tricks:</a:t>
            </a:r>
            <a:endParaRPr lang="en-US" sz="1700" dirty="0"/>
          </a:p>
        </p:txBody>
      </p:sp>
      <p:sp>
        <p:nvSpPr>
          <p:cNvPr id="17" name="Card"/>
          <p:cNvSpPr/>
          <p:nvPr/>
        </p:nvSpPr>
        <p:spPr>
          <a:xfrm>
            <a:off x="548640" y="4069080"/>
            <a:ext cx="3520440" cy="1783080"/>
          </a:xfrm>
          <a:prstGeom prst="roundRect">
            <a:avLst>
              <a:gd name="adj" fmla="val 6154"/>
            </a:avLst>
          </a:prstGeom>
          <a:solidFill>
            <a:schemeClr val="bg2"/>
          </a:solidFill>
          <a:ln/>
        </p:spPr>
      </p:sp>
      <p:sp>
        <p:nvSpPr>
          <p:cNvPr id="18" name="Text 16"/>
          <p:cNvSpPr txBox="1"/>
          <p:nvPr/>
        </p:nvSpPr>
        <p:spPr>
          <a:xfrm>
            <a:off x="822960" y="4251960"/>
            <a:ext cx="3017520" cy="411480"/>
          </a:xfrm>
          <a:prstGeom prst="rect">
            <a:avLst/>
          </a:prstGeom>
          <a:noFill/>
          <a:ln/>
        </p:spPr>
        <p:txBody>
          <a:bodyPr wrap="square" lIns="0" tIns="0" rIns="0" bIns="0" rtlCol="0" anchor="ctr"/>
          <a:lstStyle/>
          <a:p>
            <a:pPr indent="0" marL="0">
              <a:buNone/>
            </a:pPr>
            <a:r>
              <a:rPr lang="en-US" sz="1800" b="1" dirty="0">
                <a:solidFill>
                  <a:schemeClr val="accent5"/>
                </a:solidFill>
              </a:rPr>
              <a:t>int4 weights</a:t>
            </a:r>
            <a:endParaRPr lang="en-US" sz="1800" dirty="0"/>
          </a:p>
        </p:txBody>
      </p:sp>
      <p:sp>
        <p:nvSpPr>
          <p:cNvPr id="19" name="Text 17"/>
          <p:cNvSpPr txBox="1"/>
          <p:nvPr/>
        </p:nvSpPr>
        <p:spPr>
          <a:xfrm>
            <a:off x="822960" y="4709160"/>
            <a:ext cx="3017520" cy="1005840"/>
          </a:xfrm>
          <a:prstGeom prst="rect">
            <a:avLst/>
          </a:prstGeom>
          <a:noFill/>
          <a:ln/>
        </p:spPr>
        <p:txBody>
          <a:bodyPr wrap="square" lIns="0" tIns="0" rIns="0" bIns="0" rtlCol="0" anchor="t"/>
          <a:lstStyle/>
          <a:p>
            <a:pPr indent="0" marL="0">
              <a:buNone/>
            </a:pPr>
            <a:r>
              <a:rPr lang="en-US" sz="1500" dirty="0">
                <a:solidFill>
                  <a:schemeClr val="tx1"/>
                </a:solidFill>
              </a:rPr>
              <a:t>4× fewer bytes</a:t>
            </a:r>
            <a:endParaRPr lang="en-US" sz="1500" dirty="0"/>
          </a:p>
          <a:p>
            <a:pPr indent="0" marL="0">
              <a:buNone/>
            </a:pPr>
            <a:r>
              <a:rPr lang="en-US" sz="1500" b="1" dirty="0">
                <a:solidFill>
                  <a:schemeClr val="tx1"/>
                </a:solidFill>
              </a:rPr>
              <a:t>up to ~4× faster decode</a:t>
            </a:r>
            <a:endParaRPr lang="en-US" sz="1500" dirty="0"/>
          </a:p>
        </p:txBody>
      </p:sp>
      <p:sp>
        <p:nvSpPr>
          <p:cNvPr id="20" name="Card"/>
          <p:cNvSpPr/>
          <p:nvPr/>
        </p:nvSpPr>
        <p:spPr>
          <a:xfrm>
            <a:off x="4297680" y="4069080"/>
            <a:ext cx="3520440" cy="1783080"/>
          </a:xfrm>
          <a:prstGeom prst="roundRect">
            <a:avLst>
              <a:gd name="adj" fmla="val 6154"/>
            </a:avLst>
          </a:prstGeom>
          <a:solidFill>
            <a:schemeClr val="bg2"/>
          </a:solidFill>
          <a:ln/>
        </p:spPr>
      </p:sp>
      <p:sp>
        <p:nvSpPr>
          <p:cNvPr id="21" name="Text 19"/>
          <p:cNvSpPr txBox="1"/>
          <p:nvPr/>
        </p:nvSpPr>
        <p:spPr>
          <a:xfrm>
            <a:off x="4572000" y="4251960"/>
            <a:ext cx="3017520" cy="411480"/>
          </a:xfrm>
          <a:prstGeom prst="rect">
            <a:avLst/>
          </a:prstGeom>
          <a:noFill/>
          <a:ln/>
        </p:spPr>
        <p:txBody>
          <a:bodyPr wrap="square" lIns="0" tIns="0" rIns="0" bIns="0" rtlCol="0" anchor="ctr"/>
          <a:lstStyle/>
          <a:p>
            <a:pPr indent="0" marL="0">
              <a:buNone/>
            </a:pPr>
            <a:r>
              <a:rPr lang="en-US" sz="1800" b="1" dirty="0">
                <a:solidFill>
                  <a:schemeClr val="accent5"/>
                </a:solidFill>
              </a:rPr>
              <a:t>Batch 32 requests</a:t>
            </a:r>
            <a:endParaRPr lang="en-US" sz="1800" dirty="0"/>
          </a:p>
        </p:txBody>
      </p:sp>
      <p:sp>
        <p:nvSpPr>
          <p:cNvPr id="22" name="Text 20"/>
          <p:cNvSpPr txBox="1"/>
          <p:nvPr/>
        </p:nvSpPr>
        <p:spPr>
          <a:xfrm>
            <a:off x="4572000" y="4709160"/>
            <a:ext cx="3017520" cy="1005840"/>
          </a:xfrm>
          <a:prstGeom prst="rect">
            <a:avLst/>
          </a:prstGeom>
          <a:noFill/>
          <a:ln/>
        </p:spPr>
        <p:txBody>
          <a:bodyPr wrap="square" lIns="0" tIns="0" rIns="0" bIns="0" rtlCol="0" anchor="t"/>
          <a:lstStyle/>
          <a:p>
            <a:pPr indent="0" marL="0">
              <a:buNone/>
            </a:pPr>
            <a:r>
              <a:rPr lang="en-US" sz="1500" dirty="0">
                <a:solidFill>
                  <a:schemeClr val="tx1"/>
                </a:solidFill>
              </a:rPr>
              <a:t>read weights once, emit 32 tokens</a:t>
            </a:r>
            <a:endParaRPr lang="en-US" sz="1500" dirty="0"/>
          </a:p>
          <a:p>
            <a:pPr indent="0" marL="0">
              <a:buNone/>
            </a:pPr>
            <a:r>
              <a:rPr lang="en-US" sz="1500" b="1" dirty="0">
                <a:solidFill>
                  <a:schemeClr val="tx1"/>
                </a:solidFill>
              </a:rPr>
              <a:t>close to 32× throughput</a:t>
            </a:r>
            <a:endParaRPr lang="en-US" sz="1500" dirty="0"/>
          </a:p>
        </p:txBody>
      </p:sp>
      <p:sp>
        <p:nvSpPr>
          <p:cNvPr id="23" name="Card"/>
          <p:cNvSpPr/>
          <p:nvPr/>
        </p:nvSpPr>
        <p:spPr>
          <a:xfrm>
            <a:off x="8046720" y="4069080"/>
            <a:ext cx="3520440" cy="1783080"/>
          </a:xfrm>
          <a:prstGeom prst="roundRect">
            <a:avLst>
              <a:gd name="adj" fmla="val 6154"/>
            </a:avLst>
          </a:prstGeom>
          <a:solidFill>
            <a:schemeClr val="bg2"/>
          </a:solidFill>
          <a:ln/>
        </p:spPr>
      </p:sp>
      <p:sp>
        <p:nvSpPr>
          <p:cNvPr id="24" name="Text 22"/>
          <p:cNvSpPr txBox="1"/>
          <p:nvPr/>
        </p:nvSpPr>
        <p:spPr>
          <a:xfrm>
            <a:off x="8321040" y="4251960"/>
            <a:ext cx="3017520" cy="411480"/>
          </a:xfrm>
          <a:prstGeom prst="rect">
            <a:avLst/>
          </a:prstGeom>
          <a:noFill/>
          <a:ln/>
        </p:spPr>
        <p:txBody>
          <a:bodyPr wrap="square" lIns="0" tIns="0" rIns="0" bIns="0" rtlCol="0" anchor="ctr"/>
          <a:lstStyle/>
          <a:p>
            <a:pPr indent="0" marL="0">
              <a:buNone/>
            </a:pPr>
            <a:r>
              <a:rPr lang="en-US" sz="1800" b="1" dirty="0">
                <a:solidFill>
                  <a:schemeClr val="accent5"/>
                </a:solidFill>
              </a:rPr>
              <a:t>FlashAttention</a:t>
            </a:r>
            <a:endParaRPr lang="en-US" sz="1800" dirty="0"/>
          </a:p>
        </p:txBody>
      </p:sp>
      <p:sp>
        <p:nvSpPr>
          <p:cNvPr id="25" name="Text 23"/>
          <p:cNvSpPr txBox="1"/>
          <p:nvPr/>
        </p:nvSpPr>
        <p:spPr>
          <a:xfrm>
            <a:off x="8321040" y="4709160"/>
            <a:ext cx="3017520" cy="1005840"/>
          </a:xfrm>
          <a:prstGeom prst="rect">
            <a:avLst/>
          </a:prstGeom>
          <a:noFill/>
          <a:ln/>
        </p:spPr>
        <p:txBody>
          <a:bodyPr wrap="square" lIns="0" tIns="0" rIns="0" bIns="0" rtlCol="0" anchor="t"/>
          <a:lstStyle/>
          <a:p>
            <a:pPr indent="0" marL="0">
              <a:buNone/>
            </a:pPr>
            <a:r>
              <a:rPr lang="en-US" sz="1500" dirty="0">
                <a:solidFill>
                  <a:schemeClr val="tx1"/>
                </a:solidFill>
              </a:rPr>
              <a:t>intermediates stay in SRAM</a:t>
            </a:r>
            <a:endParaRPr lang="en-US" sz="1500" dirty="0"/>
          </a:p>
          <a:p>
            <a:pPr indent="0" marL="0">
              <a:buNone/>
            </a:pPr>
            <a:r>
              <a:rPr lang="en-US" sz="1500" b="1" dirty="0">
                <a:solidFill>
                  <a:schemeClr val="tx1"/>
                </a:solidFill>
              </a:rPr>
              <a:t>no HBM round trips</a:t>
            </a:r>
            <a:endParaRPr lang="en-US" sz="1500" dirty="0"/>
          </a:p>
        </p:txBody>
      </p:sp>
      <p:sp>
        <p:nvSpPr>
          <p:cNvPr id="26" name="Text 24"/>
          <p:cNvSpPr txBox="1"/>
          <p:nvPr/>
        </p:nvSpPr>
        <p:spPr>
          <a:xfrm>
            <a:off x="6583680" y="6400800"/>
            <a:ext cx="4389120" cy="274320"/>
          </a:xfrm>
          <a:prstGeom prst="rect">
            <a:avLst/>
          </a:prstGeom>
          <a:noFill/>
          <a:ln/>
        </p:spPr>
        <p:txBody>
          <a:bodyPr wrap="square" lIns="0" tIns="0" rIns="0" bIns="0" rtlCol="0" anchor="ctr"/>
          <a:lstStyle/>
          <a:p>
            <a:pPr algn="r" indent="0" marL="0">
              <a:buNone/>
            </a:pPr>
            <a:r>
              <a:rPr lang="en-US" sz="1000" u="sng" dirty="0">
                <a:solidFill>
                  <a:srgbClr val="000000"/>
                </a:solidFill>
                <a:hlinkClick r:id="rId1" invalidUrl="" action="" tgtFrame="" tooltip="Open this section of the summary page" history="1" highlightClick="0" endSnd="0">
                  <a:extLst>
                    <a:ext uri="{A12FA001-AC4F-418D-AE19-62706E023703}">
                      <ahyp:hlinkClr xmlns:ahyp="http://schemas.microsoft.com/office/drawing/2018/hyperlinkcolor" val="tx"/>
                    </a:ext>
                  </a:extLst>
                </a:hlinkClick>
              </a:rPr>
              <a:t>In the summary: §2 worked example ↗</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418320" cy="868680"/>
          </a:xfrm>
          <a:prstGeom prst="rect">
            <a:avLst/>
          </a:prstGeom>
          <a:noFill/>
          <a:ln/>
        </p:spPr>
        <p:txBody>
          <a:bodyPr wrap="square" lIns="0" tIns="0" rIns="0" bIns="0" rtlCol="0" anchor="ctr"/>
          <a:lstStyle/>
          <a:p>
            <a:pPr algn="l" indent="0" marL="0">
              <a:buNone/>
            </a:pPr>
            <a:r>
              <a:rPr lang="en-US" sz="3000" b="1" dirty="0">
                <a:solidFill>
                  <a:schemeClr val="tx1"/>
                </a:solidFill>
              </a:rPr>
              <a:t>FlashAttention: same FLOPs, far fewer bytes</a:t>
            </a:r>
            <a:endParaRPr lang="en-US" sz="3000" dirty="0"/>
          </a:p>
        </p:txBody>
      </p:sp>
      <p:sp>
        <p:nvSpPr>
          <p:cNvPr id="3" name="Idea chip"/>
          <p:cNvSpPr/>
          <p:nvPr/>
        </p:nvSpPr>
        <p:spPr>
          <a:xfrm>
            <a:off x="10378440" y="548640"/>
            <a:ext cx="1261872" cy="384048"/>
          </a:xfrm>
          <a:prstGeom prst="roundRect">
            <a:avLst>
              <a:gd name="adj" fmla="val 50000"/>
            </a:avLst>
          </a:prstGeom>
          <a:solidFill>
            <a:schemeClr val="accent5"/>
          </a:solidFill>
          <a:ln/>
        </p:spPr>
      </p:sp>
      <p:sp>
        <p:nvSpPr>
          <p:cNvPr id="4" name="Text 2"/>
          <p:cNvSpPr txBox="1"/>
          <p:nvPr/>
        </p:nvSpPr>
        <p:spPr>
          <a:xfrm>
            <a:off x="10378440" y="548640"/>
            <a:ext cx="1261872" cy="384048"/>
          </a:xfrm>
          <a:prstGeom prst="rect">
            <a:avLst/>
          </a:prstGeom>
          <a:noFill/>
          <a:ln/>
        </p:spPr>
        <p:txBody>
          <a:bodyPr wrap="square" lIns="0" tIns="0" rIns="0" bIns="0" rtlCol="0" anchor="ctr"/>
          <a:lstStyle/>
          <a:p>
            <a:pPr algn="ctr" indent="0" marL="0">
              <a:buNone/>
            </a:pPr>
            <a:r>
              <a:rPr lang="en-US" sz="1300" b="1" spc="200" kern="0" dirty="0">
                <a:solidFill>
                  <a:schemeClr val="bg1"/>
                </a:solidFill>
              </a:rPr>
              <a:t>IDEA 5</a:t>
            </a:r>
            <a:endParaRPr lang="en-US" sz="1300" dirty="0"/>
          </a:p>
        </p:txBody>
      </p:sp>
      <p:pic>
        <p:nvPicPr>
          <p:cNvPr id="5" name="Diagram flashattention_hbm_traffic" descr="Standard attention versus FlashAttention HBM traffic">    </p:cNvPr>
          <p:cNvPicPr>
            <a:picLocks noChangeAspect="1"/>
          </p:cNvPicPr>
          <p:nvPr/>
        </p:nvPicPr>
        <p:blipFill>
          <a:blip r:embed="rId1"/>
          <a:stretch>
            <a:fillRect/>
          </a:stretch>
        </p:blipFill>
        <p:spPr>
          <a:xfrm>
            <a:off x="457200" y="1325880"/>
            <a:ext cx="7680960" cy="3184788"/>
          </a:xfrm>
          <a:prstGeom prst="rect">
            <a:avLst/>
          </a:prstGeom>
        </p:spPr>
      </p:pic>
      <p:sp>
        <p:nvSpPr>
          <p:cNvPr id="6" name="Text 3"/>
          <p:cNvSpPr txBox="1"/>
          <p:nvPr/>
        </p:nvSpPr>
        <p:spPr>
          <a:xfrm>
            <a:off x="8001000" y="1463040"/>
            <a:ext cx="3657600" cy="4206240"/>
          </a:xfrm>
          <a:prstGeom prst="rect">
            <a:avLst/>
          </a:prstGeom>
          <a:noFill/>
          <a:ln/>
        </p:spPr>
        <p:txBody>
          <a:bodyPr wrap="square" lIns="0" tIns="0" rIns="0" bIns="0" rtlCol="0" anchor="t"/>
          <a:lstStyle/>
          <a:p>
            <a:pPr indent="0" marL="0">
              <a:buNone/>
            </a:pPr>
            <a:r>
              <a:rPr lang="en-US" sz="1600" b="1" dirty="0">
                <a:solidFill>
                  <a:schemeClr val="tx1"/>
                </a:solidFill>
              </a:rPr>
              <a:t>Exact, not an approximation</a:t>
            </a:r>
            <a:endParaRPr lang="en-US" sz="1600" dirty="0"/>
          </a:p>
          <a:p>
            <a:pPr indent="0" marL="0">
              <a:buNone/>
            </a:pPr>
            <a:r>
              <a:rPr lang="en-US" sz="1600" dirty="0">
                <a:solidFill>
                  <a:schemeClr val="tx2"/>
                </a:solidFill>
              </a:rPr>
              <a:t>Same output as standard attention.</a:t>
            </a:r>
            <a:endParaRPr lang="en-US" sz="1600" dirty="0"/>
          </a:p>
          <a:p>
            <a:pPr indent="0" marL="0">
              <a:buNone/>
            </a:pPr>
            <a:r>
              <a:rPr lang="en-US" sz="800" dirty="0">
                <a:solidFill>
                  <a:schemeClr val="tx1"/>
                </a:solidFill>
              </a:rPr>
              <a:t> </a:t>
            </a:r>
            <a:endParaRPr lang="en-US" sz="1600" dirty="0"/>
          </a:p>
          <a:p>
            <a:pPr indent="0" marL="0">
              <a:buNone/>
            </a:pPr>
            <a:r>
              <a:rPr lang="en-US" sz="1600" b="1" dirty="0">
                <a:solidFill>
                  <a:schemeClr val="tx1"/>
                </a:solidFill>
              </a:rPr>
              <a:t>Memory linear in N</a:t>
            </a:r>
            <a:endParaRPr lang="en-US" sz="1600" dirty="0"/>
          </a:p>
          <a:p>
            <a:pPr indent="0" marL="0">
              <a:buNone/>
            </a:pPr>
            <a:r>
              <a:rPr lang="en-US" sz="1600" dirty="0">
                <a:solidFill>
                  <a:schemeClr val="tx2"/>
                </a:solidFill>
              </a:rPr>
              <a:t>The N×N matrix never exists in HBM.</a:t>
            </a:r>
            <a:endParaRPr lang="en-US" sz="1600" dirty="0"/>
          </a:p>
          <a:p>
            <a:pPr indent="0" marL="0">
              <a:buNone/>
            </a:pPr>
            <a:r>
              <a:rPr lang="en-US" sz="800" dirty="0">
                <a:solidFill>
                  <a:schemeClr val="tx1"/>
                </a:solidFill>
              </a:rPr>
              <a:t> </a:t>
            </a:r>
            <a:endParaRPr lang="en-US" sz="1600" dirty="0"/>
          </a:p>
          <a:p>
            <a:pPr indent="0" marL="0">
              <a:buNone/>
            </a:pPr>
            <a:r>
              <a:rPr lang="en-US" sz="1600" b="1" dirty="0">
                <a:solidFill>
                  <a:schemeClr val="tx1"/>
                </a:solidFill>
              </a:rPr>
              <a:t>Up to 7.6× faster attention</a:t>
            </a:r>
            <a:endParaRPr lang="en-US" sz="1600" dirty="0"/>
          </a:p>
          <a:p>
            <a:pPr indent="0" marL="0">
              <a:buNone/>
            </a:pPr>
            <a:r>
              <a:rPr lang="en-US" sz="1600" dirty="0">
                <a:solidFill>
                  <a:schemeClr val="tx2"/>
                </a:solidFill>
              </a:rPr>
              <a:t>Reported on GPT-2, purely by moving fewer bytes.</a:t>
            </a:r>
            <a:endParaRPr lang="en-US" sz="1600" dirty="0"/>
          </a:p>
        </p:txBody>
      </p:sp>
      <p:sp>
        <p:nvSpPr>
          <p:cNvPr id="7" name="Text 4"/>
          <p:cNvSpPr txBox="1"/>
          <p:nvPr/>
        </p:nvSpPr>
        <p:spPr>
          <a:xfrm>
            <a:off x="6583680" y="6400800"/>
            <a:ext cx="4389120" cy="274320"/>
          </a:xfrm>
          <a:prstGeom prst="rect">
            <a:avLst/>
          </a:prstGeom>
          <a:noFill/>
          <a:ln/>
        </p:spPr>
        <p:txBody>
          <a:bodyPr wrap="square" lIns="0" tIns="0" rIns="0" bIns="0" rtlCol="0" anchor="ctr"/>
          <a:lstStyle/>
          <a:p>
            <a:pPr algn="r" indent="0" marL="0">
              <a:buNone/>
            </a:pPr>
            <a:r>
              <a:rPr lang="en-US" sz="1000" u="sng" dirty="0">
                <a:solidFill>
                  <a:srgbClr val="000000"/>
                </a:solidFill>
                <a:hlinkClick r:id="rId2" invalidUrl="" action="" tgtFrame="" tooltip="Open this section of the summary page" history="1" highlightClick="0" endSnd="0">
                  <a:extLst>
                    <a:ext uri="{A12FA001-AC4F-418D-AE19-62706E023703}">
                      <ahyp:hlinkClr xmlns:ahyp="http://schemas.microsoft.com/office/drawing/2018/hyperlinkcolor" val="tx"/>
                    </a:ext>
                  </a:extLst>
                </a:hlinkClick>
              </a:rPr>
              <a:t>In the summary: §2 FlashAttention ↗</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418320" cy="868680"/>
          </a:xfrm>
          <a:prstGeom prst="rect">
            <a:avLst/>
          </a:prstGeom>
          <a:noFill/>
          <a:ln/>
        </p:spPr>
        <p:txBody>
          <a:bodyPr wrap="square" lIns="0" tIns="0" rIns="0" bIns="0" rtlCol="0" anchor="ctr"/>
          <a:lstStyle/>
          <a:p>
            <a:pPr algn="l" indent="0" marL="0">
              <a:buNone/>
            </a:pPr>
            <a:r>
              <a:rPr lang="en-US" sz="3000" b="1" dirty="0">
                <a:solidFill>
                  <a:schemeClr val="tx1"/>
                </a:solidFill>
              </a:rPr>
              <a:t>The trick that makes it possible: online softmax</a:t>
            </a:r>
            <a:endParaRPr lang="en-US" sz="3000" dirty="0"/>
          </a:p>
        </p:txBody>
      </p:sp>
      <p:sp>
        <p:nvSpPr>
          <p:cNvPr id="3" name="Idea chip"/>
          <p:cNvSpPr/>
          <p:nvPr/>
        </p:nvSpPr>
        <p:spPr>
          <a:xfrm>
            <a:off x="10378440" y="548640"/>
            <a:ext cx="1261872" cy="384048"/>
          </a:xfrm>
          <a:prstGeom prst="roundRect">
            <a:avLst>
              <a:gd name="adj" fmla="val 50000"/>
            </a:avLst>
          </a:prstGeom>
          <a:solidFill>
            <a:schemeClr val="accent5"/>
          </a:solidFill>
          <a:ln/>
        </p:spPr>
      </p:sp>
      <p:sp>
        <p:nvSpPr>
          <p:cNvPr id="4" name="Text 2"/>
          <p:cNvSpPr txBox="1"/>
          <p:nvPr/>
        </p:nvSpPr>
        <p:spPr>
          <a:xfrm>
            <a:off x="10378440" y="548640"/>
            <a:ext cx="1261872" cy="384048"/>
          </a:xfrm>
          <a:prstGeom prst="rect">
            <a:avLst/>
          </a:prstGeom>
          <a:noFill/>
          <a:ln/>
        </p:spPr>
        <p:txBody>
          <a:bodyPr wrap="square" lIns="0" tIns="0" rIns="0" bIns="0" rtlCol="0" anchor="ctr"/>
          <a:lstStyle/>
          <a:p>
            <a:pPr algn="ctr" indent="0" marL="0">
              <a:buNone/>
            </a:pPr>
            <a:r>
              <a:rPr lang="en-US" sz="1300" b="1" spc="200" kern="0" dirty="0">
                <a:solidFill>
                  <a:schemeClr val="bg1"/>
                </a:solidFill>
              </a:rPr>
              <a:t>IDEA 5</a:t>
            </a:r>
            <a:endParaRPr lang="en-US" sz="1300" dirty="0"/>
          </a:p>
        </p:txBody>
      </p:sp>
      <p:pic>
        <p:nvPicPr>
          <p:cNvPr id="5" name="Diagram online_softmax_two_blocks" descr="Online softmax computed over two blocks gives the exact sum">    </p:cNvPr>
          <p:cNvPicPr>
            <a:picLocks noChangeAspect="1"/>
          </p:cNvPicPr>
          <p:nvPr/>
        </p:nvPicPr>
        <p:blipFill>
          <a:blip r:embed="rId1"/>
          <a:stretch>
            <a:fillRect/>
          </a:stretch>
        </p:blipFill>
        <p:spPr>
          <a:xfrm>
            <a:off x="457200" y="1325880"/>
            <a:ext cx="7680960" cy="3484533"/>
          </a:xfrm>
          <a:prstGeom prst="rect">
            <a:avLst/>
          </a:prstGeom>
        </p:spPr>
      </p:pic>
      <p:sp>
        <p:nvSpPr>
          <p:cNvPr id="6" name="Card"/>
          <p:cNvSpPr/>
          <p:nvPr/>
        </p:nvSpPr>
        <p:spPr>
          <a:xfrm>
            <a:off x="8001000" y="1463040"/>
            <a:ext cx="3639312" cy="3429000"/>
          </a:xfrm>
          <a:prstGeom prst="roundRect">
            <a:avLst>
              <a:gd name="adj" fmla="val 3200"/>
            </a:avLst>
          </a:prstGeom>
          <a:solidFill>
            <a:schemeClr val="tx1"/>
          </a:solidFill>
          <a:ln/>
        </p:spPr>
      </p:sp>
      <p:sp>
        <p:nvSpPr>
          <p:cNvPr id="7" name="Text 4"/>
          <p:cNvSpPr txBox="1"/>
          <p:nvPr/>
        </p:nvSpPr>
        <p:spPr>
          <a:xfrm>
            <a:off x="8275320" y="1737360"/>
            <a:ext cx="3154680" cy="3017520"/>
          </a:xfrm>
          <a:prstGeom prst="rect">
            <a:avLst/>
          </a:prstGeom>
          <a:noFill/>
          <a:ln/>
        </p:spPr>
        <p:txBody>
          <a:bodyPr wrap="square" lIns="0" tIns="0" rIns="0" bIns="0" rtlCol="0" anchor="t"/>
          <a:lstStyle/>
          <a:p>
            <a:pPr indent="0" marL="0">
              <a:buNone/>
            </a:pPr>
            <a:r>
              <a:rPr lang="en-US" sz="1600" b="1" dirty="0">
                <a:solidFill>
                  <a:schemeClr val="accent6"/>
                </a:solidFill>
              </a:rPr>
              <a:t>Carry only two numbers per row</a:t>
            </a:r>
            <a:endParaRPr lang="en-US" sz="1600" dirty="0"/>
          </a:p>
          <a:p>
            <a:pPr indent="0" marL="0">
              <a:buNone/>
            </a:pPr>
            <a:r>
              <a:rPr lang="en-US" sz="1600" dirty="0">
                <a:solidFill>
                  <a:schemeClr val="bg1"/>
                </a:solidFill>
              </a:rPr>
              <a:t>the running max m and running sum ℓ.</a:t>
            </a:r>
            <a:endParaRPr lang="en-US" sz="1600" dirty="0"/>
          </a:p>
          <a:p>
            <a:pPr indent="0" marL="0">
              <a:buNone/>
            </a:pPr>
            <a:r>
              <a:rPr lang="en-US" sz="1000" dirty="0">
                <a:solidFill>
                  <a:schemeClr val="bg1"/>
                </a:solidFill>
              </a:rPr>
              <a:t> </a:t>
            </a:r>
            <a:endParaRPr lang="en-US" sz="1600" dirty="0"/>
          </a:p>
          <a:p>
            <a:pPr indent="0" marL="0">
              <a:buNone/>
            </a:pPr>
            <a:r>
              <a:rPr lang="en-US" sz="1600" dirty="0">
                <a:solidFill>
                  <a:schemeClr val="bg1"/>
                </a:solidFill>
              </a:rPr>
              <a:t>When the max changes, rescale the old sum by e^(old m − new m).</a:t>
            </a:r>
            <a:endParaRPr lang="en-US" sz="1600" dirty="0"/>
          </a:p>
          <a:p>
            <a:pPr indent="0" marL="0">
              <a:buNone/>
            </a:pPr>
            <a:r>
              <a:rPr lang="en-US" sz="1000" dirty="0">
                <a:solidFill>
                  <a:schemeClr val="bg1"/>
                </a:solidFill>
              </a:rPr>
              <a:t> </a:t>
            </a:r>
            <a:endParaRPr lang="en-US" sz="1600" dirty="0"/>
          </a:p>
          <a:p>
            <a:pPr indent="0" marL="0">
              <a:buNone/>
            </a:pPr>
            <a:r>
              <a:rPr lang="en-US" sz="1600" i="1" dirty="0">
                <a:solidFill>
                  <a:schemeClr val="bg1"/>
                </a:solidFill>
              </a:rPr>
              <a:t>Softmax didn't look splittable. This makes it split exactly.</a:t>
            </a:r>
            <a:endParaRPr lang="en-US" sz="1600" dirty="0"/>
          </a:p>
        </p:txBody>
      </p:sp>
      <p:sp>
        <p:nvSpPr>
          <p:cNvPr id="8" name="Text 5"/>
          <p:cNvSpPr txBox="1"/>
          <p:nvPr/>
        </p:nvSpPr>
        <p:spPr>
          <a:xfrm>
            <a:off x="6583680" y="6400800"/>
            <a:ext cx="4389120" cy="274320"/>
          </a:xfrm>
          <a:prstGeom prst="rect">
            <a:avLst/>
          </a:prstGeom>
          <a:noFill/>
          <a:ln/>
        </p:spPr>
        <p:txBody>
          <a:bodyPr wrap="square" lIns="0" tIns="0" rIns="0" bIns="0" rtlCol="0" anchor="ctr"/>
          <a:lstStyle/>
          <a:p>
            <a:pPr algn="r" indent="0" marL="0">
              <a:buNone/>
            </a:pPr>
            <a:r>
              <a:rPr lang="en-US" sz="1000" u="sng" dirty="0">
                <a:solidFill>
                  <a:srgbClr val="000000"/>
                </a:solidFill>
                <a:hlinkClick r:id="rId2" invalidUrl="" action="" tgtFrame="" tooltip="Open this section of the summary page" history="1" highlightClick="0" endSnd="0">
                  <a:extLst>
                    <a:ext uri="{A12FA001-AC4F-418D-AE19-62706E023703}">
                      <ahyp:hlinkClr xmlns:ahyp="http://schemas.microsoft.com/office/drawing/2018/hyperlinkcolor" val="tx"/>
                    </a:ext>
                  </a:extLst>
                </a:hlinkClick>
              </a:rPr>
              <a:t>In the summary: §2 online softmax ↗</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418320" cy="868680"/>
          </a:xfrm>
          <a:prstGeom prst="rect">
            <a:avLst/>
          </a:prstGeom>
          <a:noFill/>
          <a:ln/>
        </p:spPr>
        <p:txBody>
          <a:bodyPr wrap="square" lIns="0" tIns="0" rIns="0" bIns="0" rtlCol="0" anchor="ctr"/>
          <a:lstStyle/>
          <a:p>
            <a:pPr algn="l" indent="0" marL="0">
              <a:buNone/>
            </a:pPr>
            <a:r>
              <a:rPr lang="en-US" sz="3000" b="1" dirty="0">
                <a:solidFill>
                  <a:schemeClr val="tx1"/>
                </a:solidFill>
              </a:rPr>
              <a:t>Mamba uses the same trick for its scan</a:t>
            </a:r>
            <a:endParaRPr lang="en-US" sz="3000" dirty="0"/>
          </a:p>
        </p:txBody>
      </p:sp>
      <p:sp>
        <p:nvSpPr>
          <p:cNvPr id="3" name="Idea chip"/>
          <p:cNvSpPr/>
          <p:nvPr/>
        </p:nvSpPr>
        <p:spPr>
          <a:xfrm>
            <a:off x="10378440" y="548640"/>
            <a:ext cx="1261872" cy="384048"/>
          </a:xfrm>
          <a:prstGeom prst="roundRect">
            <a:avLst>
              <a:gd name="adj" fmla="val 50000"/>
            </a:avLst>
          </a:prstGeom>
          <a:solidFill>
            <a:schemeClr val="accent5"/>
          </a:solidFill>
          <a:ln/>
        </p:spPr>
      </p:sp>
      <p:sp>
        <p:nvSpPr>
          <p:cNvPr id="4" name="Text 2"/>
          <p:cNvSpPr txBox="1"/>
          <p:nvPr/>
        </p:nvSpPr>
        <p:spPr>
          <a:xfrm>
            <a:off x="10378440" y="548640"/>
            <a:ext cx="1261872" cy="384048"/>
          </a:xfrm>
          <a:prstGeom prst="rect">
            <a:avLst/>
          </a:prstGeom>
          <a:noFill/>
          <a:ln/>
        </p:spPr>
        <p:txBody>
          <a:bodyPr wrap="square" lIns="0" tIns="0" rIns="0" bIns="0" rtlCol="0" anchor="ctr"/>
          <a:lstStyle/>
          <a:p>
            <a:pPr algn="ctr" indent="0" marL="0">
              <a:buNone/>
            </a:pPr>
            <a:r>
              <a:rPr lang="en-US" sz="1300" b="1" spc="200" kern="0" dirty="0">
                <a:solidFill>
                  <a:schemeClr val="bg1"/>
                </a:solidFill>
              </a:rPr>
              <a:t>IDEA 5</a:t>
            </a:r>
            <a:endParaRPr lang="en-US" sz="1300" dirty="0"/>
          </a:p>
        </p:txBody>
      </p:sp>
      <p:pic>
        <p:nvPicPr>
          <p:cNvPr id="5" name="Diagram mamba_fused_scan_hbm_traffic" descr="Naive scan versus Mamba fused scan HBM traffic">    </p:cNvPr>
          <p:cNvPicPr>
            <a:picLocks noChangeAspect="1"/>
          </p:cNvPicPr>
          <p:nvPr/>
        </p:nvPicPr>
        <p:blipFill>
          <a:blip r:embed="rId1"/>
          <a:stretch>
            <a:fillRect/>
          </a:stretch>
        </p:blipFill>
        <p:spPr>
          <a:xfrm>
            <a:off x="457200" y="1325880"/>
            <a:ext cx="7680960" cy="3184788"/>
          </a:xfrm>
          <a:prstGeom prst="rect">
            <a:avLst/>
          </a:prstGeom>
        </p:spPr>
      </p:pic>
      <p:sp>
        <p:nvSpPr>
          <p:cNvPr id="6" name="Card"/>
          <p:cNvSpPr/>
          <p:nvPr/>
        </p:nvSpPr>
        <p:spPr>
          <a:xfrm>
            <a:off x="8001000" y="1463040"/>
            <a:ext cx="3639312" cy="1691640"/>
          </a:xfrm>
          <a:prstGeom prst="roundRect">
            <a:avLst>
              <a:gd name="adj" fmla="val 6486"/>
            </a:avLst>
          </a:prstGeom>
          <a:solidFill>
            <a:schemeClr val="bg2"/>
          </a:solidFill>
          <a:ln/>
        </p:spPr>
      </p:sp>
      <p:sp>
        <p:nvSpPr>
          <p:cNvPr id="7" name="Text 4"/>
          <p:cNvSpPr txBox="1"/>
          <p:nvPr/>
        </p:nvSpPr>
        <p:spPr>
          <a:xfrm>
            <a:off x="8275320" y="1600200"/>
            <a:ext cx="3154680" cy="1463040"/>
          </a:xfrm>
          <a:prstGeom prst="rect">
            <a:avLst/>
          </a:prstGeom>
          <a:noFill/>
          <a:ln/>
        </p:spPr>
        <p:txBody>
          <a:bodyPr wrap="square" lIns="0" tIns="0" rIns="0" bIns="0" rtlCol="0" anchor="t"/>
          <a:lstStyle/>
          <a:p>
            <a:pPr indent="0" marL="0">
              <a:buNone/>
            </a:pPr>
            <a:r>
              <a:rPr lang="en-US" sz="4800" b="1" dirty="0">
                <a:solidFill>
                  <a:schemeClr val="accent5"/>
                </a:solidFill>
                <a:latin typeface="Cambria" pitchFamily="34" charset="0"/>
                <a:ea typeface="Cambria" pitchFamily="34" charset="-122"/>
                <a:cs typeface="Cambria" pitchFamily="34" charset="-120"/>
              </a:rPr>
              <a:t>~N×</a:t>
            </a:r>
            <a:endParaRPr lang="en-US" sz="4800" dirty="0"/>
          </a:p>
          <a:p>
            <a:pPr indent="0" marL="0">
              <a:buNone/>
            </a:pPr>
            <a:r>
              <a:rPr lang="en-US" sz="1500" dirty="0">
                <a:solidFill>
                  <a:schemeClr val="tx2"/>
                </a:solidFill>
                <a:latin typeface="Cambria" pitchFamily="34" charset="0"/>
                <a:ea typeface="Cambria" pitchFamily="34" charset="-122"/>
                <a:cs typeface="Cambria" pitchFamily="34" charset="-120"/>
              </a:rPr>
              <a:t>less memory traffic (16× at N = 16)</a:t>
            </a:r>
            <a:endParaRPr lang="en-US" sz="4800" dirty="0"/>
          </a:p>
        </p:txBody>
      </p:sp>
      <p:sp>
        <p:nvSpPr>
          <p:cNvPr id="8" name="Text 5"/>
          <p:cNvSpPr txBox="1"/>
          <p:nvPr/>
        </p:nvSpPr>
        <p:spPr>
          <a:xfrm>
            <a:off x="8001000" y="3429000"/>
            <a:ext cx="3639312" cy="1737360"/>
          </a:xfrm>
          <a:prstGeom prst="rect">
            <a:avLst/>
          </a:prstGeom>
          <a:noFill/>
          <a:ln/>
        </p:spPr>
        <p:txBody>
          <a:bodyPr wrap="square" lIns="0" tIns="0" rIns="0" bIns="0" rtlCol="0" anchor="t"/>
          <a:lstStyle/>
          <a:p>
            <a:pPr indent="0" marL="0">
              <a:buNone/>
            </a:pPr>
            <a:r>
              <a:rPr lang="en-US" sz="1600" dirty="0">
                <a:solidFill>
                  <a:schemeClr val="tx1"/>
                </a:solidFill>
              </a:rPr>
              <a:t>The expanded state is N times bigger than the input. The fused kernel keeps it in SRAM and writes only y back to HBM.</a:t>
            </a:r>
            <a:endParaRPr lang="en-US" sz="1600" dirty="0"/>
          </a:p>
        </p:txBody>
      </p:sp>
      <p:sp>
        <p:nvSpPr>
          <p:cNvPr id="9" name="Text 6"/>
          <p:cNvSpPr txBox="1"/>
          <p:nvPr/>
        </p:nvSpPr>
        <p:spPr>
          <a:xfrm>
            <a:off x="6583680" y="6400800"/>
            <a:ext cx="4389120" cy="274320"/>
          </a:xfrm>
          <a:prstGeom prst="rect">
            <a:avLst/>
          </a:prstGeom>
          <a:noFill/>
          <a:ln/>
        </p:spPr>
        <p:txBody>
          <a:bodyPr wrap="square" lIns="0" tIns="0" rIns="0" bIns="0" rtlCol="0" anchor="ctr"/>
          <a:lstStyle/>
          <a:p>
            <a:pPr algn="r" indent="0" marL="0">
              <a:buNone/>
            </a:pPr>
            <a:r>
              <a:rPr lang="en-US" sz="1000" u="sng" dirty="0">
                <a:solidFill>
                  <a:srgbClr val="000000"/>
                </a:solidFill>
                <a:hlinkClick r:id="rId2" invalidUrl="" action="" tgtFrame="" tooltip="Open this section of the summary page" history="1" highlightClick="0" endSnd="0">
                  <a:extLst>
                    <a:ext uri="{A12FA001-AC4F-418D-AE19-62706E023703}">
                      <ahyp:hlinkClr xmlns:ahyp="http://schemas.microsoft.com/office/drawing/2018/hyperlinkcolor" val="tx"/>
                    </a:ext>
                  </a:extLst>
                </a:hlinkClick>
              </a:rPr>
              <a:t>In the summary: §2 Mamba ↗</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418320" cy="868680"/>
          </a:xfrm>
          <a:prstGeom prst="rect">
            <a:avLst/>
          </a:prstGeom>
          <a:noFill/>
          <a:ln/>
        </p:spPr>
        <p:txBody>
          <a:bodyPr wrap="square" lIns="0" tIns="0" rIns="0" bIns="0" rtlCol="0" anchor="ctr"/>
          <a:lstStyle/>
          <a:p>
            <a:pPr algn="l" indent="0" marL="0">
              <a:buNone/>
            </a:pPr>
            <a:r>
              <a:rPr lang="en-US" sz="3000" b="1" dirty="0">
                <a:solidFill>
                  <a:schemeClr val="tx1"/>
                </a:solidFill>
              </a:rPr>
              <a:t>The recipe for making anything faster</a:t>
            </a:r>
            <a:endParaRPr lang="en-US" sz="3000" dirty="0"/>
          </a:p>
        </p:txBody>
      </p:sp>
      <p:sp>
        <p:nvSpPr>
          <p:cNvPr id="3" name="Idea chip"/>
          <p:cNvSpPr/>
          <p:nvPr/>
        </p:nvSpPr>
        <p:spPr>
          <a:xfrm>
            <a:off x="10378440" y="548640"/>
            <a:ext cx="1261872" cy="384048"/>
          </a:xfrm>
          <a:prstGeom prst="roundRect">
            <a:avLst>
              <a:gd name="adj" fmla="val 50000"/>
            </a:avLst>
          </a:prstGeom>
          <a:solidFill>
            <a:schemeClr val="accent5"/>
          </a:solidFill>
          <a:ln/>
        </p:spPr>
      </p:sp>
      <p:sp>
        <p:nvSpPr>
          <p:cNvPr id="4" name="Text 2"/>
          <p:cNvSpPr txBox="1"/>
          <p:nvPr/>
        </p:nvSpPr>
        <p:spPr>
          <a:xfrm>
            <a:off x="10378440" y="548640"/>
            <a:ext cx="1261872" cy="384048"/>
          </a:xfrm>
          <a:prstGeom prst="rect">
            <a:avLst/>
          </a:prstGeom>
          <a:noFill/>
          <a:ln/>
        </p:spPr>
        <p:txBody>
          <a:bodyPr wrap="square" lIns="0" tIns="0" rIns="0" bIns="0" rtlCol="0" anchor="ctr"/>
          <a:lstStyle/>
          <a:p>
            <a:pPr algn="ctr" indent="0" marL="0">
              <a:buNone/>
            </a:pPr>
            <a:r>
              <a:rPr lang="en-US" sz="1300" b="1" spc="200" kern="0" dirty="0">
                <a:solidFill>
                  <a:schemeClr val="bg1"/>
                </a:solidFill>
              </a:rPr>
              <a:t>IDEA 5</a:t>
            </a:r>
            <a:endParaRPr lang="en-US" sz="1300" dirty="0"/>
          </a:p>
        </p:txBody>
      </p:sp>
      <p:sp>
        <p:nvSpPr>
          <p:cNvPr id="5" name="Card"/>
          <p:cNvSpPr/>
          <p:nvPr/>
        </p:nvSpPr>
        <p:spPr>
          <a:xfrm>
            <a:off x="548640" y="1600200"/>
            <a:ext cx="1719072" cy="3017520"/>
          </a:xfrm>
          <a:prstGeom prst="roundRect">
            <a:avLst>
              <a:gd name="adj" fmla="val 6383"/>
            </a:avLst>
          </a:prstGeom>
          <a:solidFill>
            <a:schemeClr val="bg2"/>
          </a:solidFill>
          <a:ln/>
        </p:spPr>
      </p:sp>
      <p:sp>
        <p:nvSpPr>
          <p:cNvPr id="6" name="Number circle"/>
          <p:cNvSpPr/>
          <p:nvPr/>
        </p:nvSpPr>
        <p:spPr>
          <a:xfrm>
            <a:off x="777240" y="1828800"/>
            <a:ext cx="457200" cy="457200"/>
          </a:xfrm>
          <a:prstGeom prst="ellipse">
            <a:avLst/>
          </a:prstGeom>
          <a:solidFill>
            <a:schemeClr val="accent5"/>
          </a:solidFill>
          <a:ln/>
        </p:spPr>
      </p:sp>
      <p:sp>
        <p:nvSpPr>
          <p:cNvPr id="7" name="Text 5"/>
          <p:cNvSpPr txBox="1"/>
          <p:nvPr/>
        </p:nvSpPr>
        <p:spPr>
          <a:xfrm>
            <a:off x="777240"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6"/>
          <p:cNvSpPr txBox="1"/>
          <p:nvPr/>
        </p:nvSpPr>
        <p:spPr>
          <a:xfrm>
            <a:off x="777240" y="2468880"/>
            <a:ext cx="1325880" cy="914400"/>
          </a:xfrm>
          <a:prstGeom prst="rect">
            <a:avLst/>
          </a:prstGeom>
          <a:noFill/>
          <a:ln/>
        </p:spPr>
        <p:txBody>
          <a:bodyPr wrap="square" lIns="0" tIns="0" rIns="0" bIns="0" rtlCol="0" anchor="t"/>
          <a:lstStyle/>
          <a:p>
            <a:pPr indent="0" marL="0">
              <a:buNone/>
            </a:pPr>
            <a:r>
              <a:rPr lang="en-US" sz="1600" b="1" dirty="0">
                <a:solidFill>
                  <a:schemeClr val="tx1"/>
                </a:solidFill>
              </a:rPr>
              <a:t>Find the slow op</a:t>
            </a:r>
            <a:endParaRPr lang="en-US" sz="1600" dirty="0"/>
          </a:p>
        </p:txBody>
      </p:sp>
      <p:sp>
        <p:nvSpPr>
          <p:cNvPr id="9" name="Text 7"/>
          <p:cNvSpPr txBox="1"/>
          <p:nvPr/>
        </p:nvSpPr>
        <p:spPr>
          <a:xfrm>
            <a:off x="777240" y="3429000"/>
            <a:ext cx="1325880" cy="1005840"/>
          </a:xfrm>
          <a:prstGeom prst="rect">
            <a:avLst/>
          </a:prstGeom>
          <a:noFill/>
          <a:ln/>
        </p:spPr>
        <p:txBody>
          <a:bodyPr wrap="square" lIns="0" tIns="0" rIns="0" bIns="0" rtlCol="0" anchor="t"/>
          <a:lstStyle/>
          <a:p>
            <a:pPr indent="0" marL="0">
              <a:buNone/>
            </a:pPr>
            <a:r>
              <a:rPr lang="en-US" sz="1300" dirty="0">
                <a:solidFill>
                  <a:schemeClr val="tx2"/>
                </a:solidFill>
              </a:rPr>
              <a:t>Profile; check arithmetic intensity</a:t>
            </a:r>
            <a:endParaRPr lang="en-US" sz="1300" dirty="0"/>
          </a:p>
        </p:txBody>
      </p:sp>
      <p:sp>
        <p:nvSpPr>
          <p:cNvPr id="10" name="Card"/>
          <p:cNvSpPr/>
          <p:nvPr/>
        </p:nvSpPr>
        <p:spPr>
          <a:xfrm>
            <a:off x="2423160" y="1600200"/>
            <a:ext cx="1719072" cy="3017520"/>
          </a:xfrm>
          <a:prstGeom prst="roundRect">
            <a:avLst>
              <a:gd name="adj" fmla="val 6383"/>
            </a:avLst>
          </a:prstGeom>
          <a:solidFill>
            <a:schemeClr val="bg2"/>
          </a:solidFill>
          <a:ln/>
        </p:spPr>
      </p:sp>
      <p:sp>
        <p:nvSpPr>
          <p:cNvPr id="11" name="Number circle"/>
          <p:cNvSpPr/>
          <p:nvPr/>
        </p:nvSpPr>
        <p:spPr>
          <a:xfrm>
            <a:off x="2651760" y="1828800"/>
            <a:ext cx="457200" cy="457200"/>
          </a:xfrm>
          <a:prstGeom prst="ellipse">
            <a:avLst/>
          </a:prstGeom>
          <a:solidFill>
            <a:schemeClr val="accent5"/>
          </a:solidFill>
          <a:ln/>
        </p:spPr>
      </p:sp>
      <p:sp>
        <p:nvSpPr>
          <p:cNvPr id="12" name="Text 10"/>
          <p:cNvSpPr txBox="1"/>
          <p:nvPr/>
        </p:nvSpPr>
        <p:spPr>
          <a:xfrm>
            <a:off x="2651760"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1"/>
          <p:cNvSpPr txBox="1"/>
          <p:nvPr/>
        </p:nvSpPr>
        <p:spPr>
          <a:xfrm>
            <a:off x="2651760" y="2468880"/>
            <a:ext cx="1325880" cy="914400"/>
          </a:xfrm>
          <a:prstGeom prst="rect">
            <a:avLst/>
          </a:prstGeom>
          <a:noFill/>
          <a:ln/>
        </p:spPr>
        <p:txBody>
          <a:bodyPr wrap="square" lIns="0" tIns="0" rIns="0" bIns="0" rtlCol="0" anchor="t"/>
          <a:lstStyle/>
          <a:p>
            <a:pPr indent="0" marL="0">
              <a:buNone/>
            </a:pPr>
            <a:r>
              <a:rPr lang="en-US" sz="1600" b="1" dirty="0">
                <a:solidFill>
                  <a:schemeClr val="tx1"/>
                </a:solidFill>
              </a:rPr>
              <a:t>Find the big intermediate</a:t>
            </a:r>
            <a:endParaRPr lang="en-US" sz="1600" dirty="0"/>
          </a:p>
        </p:txBody>
      </p:sp>
      <p:sp>
        <p:nvSpPr>
          <p:cNvPr id="14" name="Text 12"/>
          <p:cNvSpPr txBox="1"/>
          <p:nvPr/>
        </p:nvSpPr>
        <p:spPr>
          <a:xfrm>
            <a:off x="2651760" y="3429000"/>
            <a:ext cx="1325880" cy="1005840"/>
          </a:xfrm>
          <a:prstGeom prst="rect">
            <a:avLst/>
          </a:prstGeom>
          <a:noFill/>
          <a:ln/>
        </p:spPr>
        <p:txBody>
          <a:bodyPr wrap="square" lIns="0" tIns="0" rIns="0" bIns="0" rtlCol="0" anchor="t"/>
          <a:lstStyle/>
          <a:p>
            <a:pPr indent="0" marL="0">
              <a:buNone/>
            </a:pPr>
            <a:r>
              <a:rPr lang="en-US" sz="1300" dirty="0">
                <a:solidFill>
                  <a:schemeClr val="tx2"/>
                </a:solidFill>
              </a:rPr>
              <a:t>N×N scores; the N× state</a:t>
            </a:r>
            <a:endParaRPr lang="en-US" sz="1300" dirty="0"/>
          </a:p>
        </p:txBody>
      </p:sp>
      <p:sp>
        <p:nvSpPr>
          <p:cNvPr id="15" name="Card"/>
          <p:cNvSpPr/>
          <p:nvPr/>
        </p:nvSpPr>
        <p:spPr>
          <a:xfrm>
            <a:off x="4297680" y="1600200"/>
            <a:ext cx="1719072" cy="3017520"/>
          </a:xfrm>
          <a:prstGeom prst="roundRect">
            <a:avLst>
              <a:gd name="adj" fmla="val 6383"/>
            </a:avLst>
          </a:prstGeom>
          <a:solidFill>
            <a:schemeClr val="tx1"/>
          </a:solidFill>
          <a:ln/>
        </p:spPr>
      </p:sp>
      <p:sp>
        <p:nvSpPr>
          <p:cNvPr id="16" name="Number circle"/>
          <p:cNvSpPr/>
          <p:nvPr/>
        </p:nvSpPr>
        <p:spPr>
          <a:xfrm>
            <a:off x="4526280" y="1828800"/>
            <a:ext cx="457200" cy="457200"/>
          </a:xfrm>
          <a:prstGeom prst="ellipse">
            <a:avLst/>
          </a:prstGeom>
          <a:solidFill>
            <a:schemeClr val="accent6"/>
          </a:solidFill>
          <a:ln/>
        </p:spPr>
      </p:sp>
      <p:sp>
        <p:nvSpPr>
          <p:cNvPr id="17" name="Text 15"/>
          <p:cNvSpPr txBox="1"/>
          <p:nvPr/>
        </p:nvSpPr>
        <p:spPr>
          <a:xfrm>
            <a:off x="4526280"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4526280" y="2468880"/>
            <a:ext cx="1325880" cy="914400"/>
          </a:xfrm>
          <a:prstGeom prst="rect">
            <a:avLst/>
          </a:prstGeom>
          <a:noFill/>
          <a:ln/>
        </p:spPr>
        <p:txBody>
          <a:bodyPr wrap="square" lIns="0" tIns="0" rIns="0" bIns="0" rtlCol="0" anchor="t"/>
          <a:lstStyle/>
          <a:p>
            <a:pPr indent="0" marL="0">
              <a:buNone/>
            </a:pPr>
            <a:r>
              <a:rPr lang="en-US" sz="1600" b="1" dirty="0">
                <a:solidFill>
                  <a:schemeClr val="bg1"/>
                </a:solidFill>
              </a:rPr>
              <a:t>Split the math exactly</a:t>
            </a:r>
            <a:endParaRPr lang="en-US" sz="1600" dirty="0"/>
          </a:p>
        </p:txBody>
      </p:sp>
      <p:sp>
        <p:nvSpPr>
          <p:cNvPr id="19" name="Text 17"/>
          <p:cNvSpPr txBox="1"/>
          <p:nvPr/>
        </p:nvSpPr>
        <p:spPr>
          <a:xfrm>
            <a:off x="4526280" y="3429000"/>
            <a:ext cx="1325880" cy="1005840"/>
          </a:xfrm>
          <a:prstGeom prst="rect">
            <a:avLst/>
          </a:prstGeom>
          <a:noFill/>
          <a:ln/>
        </p:spPr>
        <p:txBody>
          <a:bodyPr wrap="square" lIns="0" tIns="0" rIns="0" bIns="0" rtlCol="0" anchor="t"/>
          <a:lstStyle/>
          <a:p>
            <a:pPr indent="0" marL="0">
              <a:buNone/>
            </a:pPr>
            <a:r>
              <a:rPr lang="en-US" sz="1300" dirty="0">
                <a:solidFill>
                  <a:schemeClr val="bg2"/>
                </a:solidFill>
              </a:rPr>
              <a:t>Online softmax; associative scan</a:t>
            </a:r>
            <a:endParaRPr lang="en-US" sz="1300" dirty="0"/>
          </a:p>
        </p:txBody>
      </p:sp>
      <p:sp>
        <p:nvSpPr>
          <p:cNvPr id="20" name="Card"/>
          <p:cNvSpPr/>
          <p:nvPr/>
        </p:nvSpPr>
        <p:spPr>
          <a:xfrm>
            <a:off x="6172200" y="1600200"/>
            <a:ext cx="1719072" cy="3017520"/>
          </a:xfrm>
          <a:prstGeom prst="roundRect">
            <a:avLst>
              <a:gd name="adj" fmla="val 6383"/>
            </a:avLst>
          </a:prstGeom>
          <a:solidFill>
            <a:schemeClr val="bg2"/>
          </a:solidFill>
          <a:ln/>
        </p:spPr>
      </p:sp>
      <p:sp>
        <p:nvSpPr>
          <p:cNvPr id="21" name="Number circle"/>
          <p:cNvSpPr/>
          <p:nvPr/>
        </p:nvSpPr>
        <p:spPr>
          <a:xfrm>
            <a:off x="6400800" y="1828800"/>
            <a:ext cx="457200" cy="457200"/>
          </a:xfrm>
          <a:prstGeom prst="ellipse">
            <a:avLst/>
          </a:prstGeom>
          <a:solidFill>
            <a:schemeClr val="accent5"/>
          </a:solidFill>
          <a:ln/>
        </p:spPr>
      </p:sp>
      <p:sp>
        <p:nvSpPr>
          <p:cNvPr id="22" name="Text 20"/>
          <p:cNvSpPr txBox="1"/>
          <p:nvPr/>
        </p:nvSpPr>
        <p:spPr>
          <a:xfrm>
            <a:off x="6400800"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3" name="Text 21"/>
          <p:cNvSpPr txBox="1"/>
          <p:nvPr/>
        </p:nvSpPr>
        <p:spPr>
          <a:xfrm>
            <a:off x="6400800" y="2468880"/>
            <a:ext cx="1325880" cy="914400"/>
          </a:xfrm>
          <a:prstGeom prst="rect">
            <a:avLst/>
          </a:prstGeom>
          <a:noFill/>
          <a:ln/>
        </p:spPr>
        <p:txBody>
          <a:bodyPr wrap="square" lIns="0" tIns="0" rIns="0" bIns="0" rtlCol="0" anchor="t"/>
          <a:lstStyle/>
          <a:p>
            <a:pPr indent="0" marL="0">
              <a:buNone/>
            </a:pPr>
            <a:r>
              <a:rPr lang="en-US" sz="1600" b="1" dirty="0">
                <a:solidFill>
                  <a:schemeClr val="tx1"/>
                </a:solidFill>
              </a:rPr>
              <a:t>Fuse and tile</a:t>
            </a:r>
            <a:endParaRPr lang="en-US" sz="1600" dirty="0"/>
          </a:p>
        </p:txBody>
      </p:sp>
      <p:sp>
        <p:nvSpPr>
          <p:cNvPr id="24" name="Text 22"/>
          <p:cNvSpPr txBox="1"/>
          <p:nvPr/>
        </p:nvSpPr>
        <p:spPr>
          <a:xfrm>
            <a:off x="6400800" y="3429000"/>
            <a:ext cx="1325880" cy="1005840"/>
          </a:xfrm>
          <a:prstGeom prst="rect">
            <a:avLst/>
          </a:prstGeom>
          <a:noFill/>
          <a:ln/>
        </p:spPr>
        <p:txBody>
          <a:bodyPr wrap="square" lIns="0" tIns="0" rIns="0" bIns="0" rtlCol="0" anchor="t"/>
          <a:lstStyle/>
          <a:p>
            <a:pPr indent="0" marL="0">
              <a:buNone/>
            </a:pPr>
            <a:r>
              <a:rPr lang="en-US" sz="1300" dirty="0">
                <a:solidFill>
                  <a:schemeClr val="tx2"/>
                </a:solidFill>
              </a:rPr>
              <a:t>One kernel, tiles fit in SRAM</a:t>
            </a:r>
            <a:endParaRPr lang="en-US" sz="1300" dirty="0"/>
          </a:p>
        </p:txBody>
      </p:sp>
      <p:sp>
        <p:nvSpPr>
          <p:cNvPr id="25" name="Card"/>
          <p:cNvSpPr/>
          <p:nvPr/>
        </p:nvSpPr>
        <p:spPr>
          <a:xfrm>
            <a:off x="8046720" y="1600200"/>
            <a:ext cx="1719072" cy="3017520"/>
          </a:xfrm>
          <a:prstGeom prst="roundRect">
            <a:avLst>
              <a:gd name="adj" fmla="val 6383"/>
            </a:avLst>
          </a:prstGeom>
          <a:solidFill>
            <a:schemeClr val="bg2"/>
          </a:solidFill>
          <a:ln/>
        </p:spPr>
      </p:sp>
      <p:sp>
        <p:nvSpPr>
          <p:cNvPr id="26" name="Number circle"/>
          <p:cNvSpPr/>
          <p:nvPr/>
        </p:nvSpPr>
        <p:spPr>
          <a:xfrm>
            <a:off x="8275320" y="1828800"/>
            <a:ext cx="457200" cy="457200"/>
          </a:xfrm>
          <a:prstGeom prst="ellipse">
            <a:avLst/>
          </a:prstGeom>
          <a:solidFill>
            <a:schemeClr val="accent5"/>
          </a:solidFill>
          <a:ln/>
        </p:spPr>
      </p:sp>
      <p:sp>
        <p:nvSpPr>
          <p:cNvPr id="27" name="Text 25"/>
          <p:cNvSpPr txBox="1"/>
          <p:nvPr/>
        </p:nvSpPr>
        <p:spPr>
          <a:xfrm>
            <a:off x="8275320"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8" name="Text 26"/>
          <p:cNvSpPr txBox="1"/>
          <p:nvPr/>
        </p:nvSpPr>
        <p:spPr>
          <a:xfrm>
            <a:off x="8275320" y="2468880"/>
            <a:ext cx="1325880" cy="914400"/>
          </a:xfrm>
          <a:prstGeom prst="rect">
            <a:avLst/>
          </a:prstGeom>
          <a:noFill/>
          <a:ln/>
        </p:spPr>
        <p:txBody>
          <a:bodyPr wrap="square" lIns="0" tIns="0" rIns="0" bIns="0" rtlCol="0" anchor="t"/>
          <a:lstStyle/>
          <a:p>
            <a:pPr indent="0" marL="0">
              <a:buNone/>
            </a:pPr>
            <a:r>
              <a:rPr lang="en-US" sz="1600" b="1" dirty="0">
                <a:solidFill>
                  <a:schemeClr val="tx1"/>
                </a:solidFill>
              </a:rPr>
              <a:t>Recompute in backward</a:t>
            </a:r>
            <a:endParaRPr lang="en-US" sz="1600" dirty="0"/>
          </a:p>
        </p:txBody>
      </p:sp>
      <p:sp>
        <p:nvSpPr>
          <p:cNvPr id="29" name="Text 27"/>
          <p:cNvSpPr txBox="1"/>
          <p:nvPr/>
        </p:nvSpPr>
        <p:spPr>
          <a:xfrm>
            <a:off x="8275320" y="3429000"/>
            <a:ext cx="1325880" cy="1005840"/>
          </a:xfrm>
          <a:prstGeom prst="rect">
            <a:avLst/>
          </a:prstGeom>
          <a:noFill/>
          <a:ln/>
        </p:spPr>
        <p:txBody>
          <a:bodyPr wrap="square" lIns="0" tIns="0" rIns="0" bIns="0" rtlCol="0" anchor="t"/>
          <a:lstStyle/>
          <a:p>
            <a:pPr indent="0" marL="0">
              <a:buNone/>
            </a:pPr>
            <a:r>
              <a:rPr lang="en-US" sz="1300" dirty="0">
                <a:solidFill>
                  <a:schemeClr val="tx2"/>
                </a:solidFill>
              </a:rPr>
              <a:t>Keep small stats, rebuild the rest</a:t>
            </a:r>
            <a:endParaRPr lang="en-US" sz="1300" dirty="0"/>
          </a:p>
        </p:txBody>
      </p:sp>
      <p:sp>
        <p:nvSpPr>
          <p:cNvPr id="30" name="Card"/>
          <p:cNvSpPr/>
          <p:nvPr/>
        </p:nvSpPr>
        <p:spPr>
          <a:xfrm>
            <a:off x="9921240" y="1600200"/>
            <a:ext cx="1719072" cy="3017520"/>
          </a:xfrm>
          <a:prstGeom prst="roundRect">
            <a:avLst>
              <a:gd name="adj" fmla="val 6383"/>
            </a:avLst>
          </a:prstGeom>
          <a:solidFill>
            <a:schemeClr val="bg2"/>
          </a:solidFill>
          <a:ln/>
        </p:spPr>
      </p:sp>
      <p:sp>
        <p:nvSpPr>
          <p:cNvPr id="31" name="Number circle"/>
          <p:cNvSpPr/>
          <p:nvPr/>
        </p:nvSpPr>
        <p:spPr>
          <a:xfrm>
            <a:off x="10149840" y="1828800"/>
            <a:ext cx="457200" cy="457200"/>
          </a:xfrm>
          <a:prstGeom prst="ellipse">
            <a:avLst/>
          </a:prstGeom>
          <a:solidFill>
            <a:schemeClr val="accent5"/>
          </a:solidFill>
          <a:ln/>
        </p:spPr>
      </p:sp>
      <p:sp>
        <p:nvSpPr>
          <p:cNvPr id="32" name="Text 30"/>
          <p:cNvSpPr txBox="1"/>
          <p:nvPr/>
        </p:nvSpPr>
        <p:spPr>
          <a:xfrm>
            <a:off x="10149840"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3" name="Text 31"/>
          <p:cNvSpPr txBox="1"/>
          <p:nvPr/>
        </p:nvSpPr>
        <p:spPr>
          <a:xfrm>
            <a:off x="10149840" y="2468880"/>
            <a:ext cx="1325880" cy="914400"/>
          </a:xfrm>
          <a:prstGeom prst="rect">
            <a:avLst/>
          </a:prstGeom>
          <a:noFill/>
          <a:ln/>
        </p:spPr>
        <p:txBody>
          <a:bodyPr wrap="square" lIns="0" tIns="0" rIns="0" bIns="0" rtlCol="0" anchor="t"/>
          <a:lstStyle/>
          <a:p>
            <a:pPr indent="0" marL="0">
              <a:buNone/>
            </a:pPr>
            <a:r>
              <a:rPr lang="en-US" sz="1600" b="1" dirty="0">
                <a:solidFill>
                  <a:schemeClr val="tx1"/>
                </a:solidFill>
              </a:rPr>
              <a:t>Check and measure</a:t>
            </a:r>
            <a:endParaRPr lang="en-US" sz="1600" dirty="0"/>
          </a:p>
        </p:txBody>
      </p:sp>
      <p:sp>
        <p:nvSpPr>
          <p:cNvPr id="34" name="Text 32"/>
          <p:cNvSpPr txBox="1"/>
          <p:nvPr/>
        </p:nvSpPr>
        <p:spPr>
          <a:xfrm>
            <a:off x="10149840" y="3429000"/>
            <a:ext cx="1325880" cy="1005840"/>
          </a:xfrm>
          <a:prstGeom prst="rect">
            <a:avLst/>
          </a:prstGeom>
          <a:noFill/>
          <a:ln/>
        </p:spPr>
        <p:txBody>
          <a:bodyPr wrap="square" lIns="0" tIns="0" rIns="0" bIns="0" rtlCol="0" anchor="t"/>
          <a:lstStyle/>
          <a:p>
            <a:pPr indent="0" marL="0">
              <a:buNone/>
            </a:pPr>
            <a:r>
              <a:rPr lang="en-US" sz="1300" dirty="0">
                <a:solidFill>
                  <a:schemeClr val="tx2"/>
                </a:solidFill>
              </a:rPr>
              <a:t>Match the reference; plot vs length</a:t>
            </a:r>
            <a:endParaRPr lang="en-US" sz="1300" dirty="0"/>
          </a:p>
        </p:txBody>
      </p:sp>
      <p:sp>
        <p:nvSpPr>
          <p:cNvPr id="35" name="Text 33"/>
          <p:cNvSpPr txBox="1"/>
          <p:nvPr/>
        </p:nvSpPr>
        <p:spPr>
          <a:xfrm>
            <a:off x="548640" y="4846320"/>
            <a:ext cx="11064240" cy="457200"/>
          </a:xfrm>
          <a:prstGeom prst="rect">
            <a:avLst/>
          </a:prstGeom>
          <a:noFill/>
          <a:ln/>
        </p:spPr>
        <p:txBody>
          <a:bodyPr wrap="square" lIns="0" tIns="0" rIns="0" bIns="0" rtlCol="0" anchor="ctr"/>
          <a:lstStyle/>
          <a:p>
            <a:pPr indent="0" marL="0">
              <a:buNone/>
            </a:pPr>
            <a:r>
              <a:rPr lang="en-US" sz="1800" b="1" dirty="0">
                <a:solidFill>
                  <a:schemeClr val="tx1"/>
                </a:solidFill>
              </a:rPr>
              <a:t>Step 3 is the real idea. The rest is engineering.</a:t>
            </a:r>
            <a:endParaRPr lang="en-US" sz="1800" dirty="0"/>
          </a:p>
        </p:txBody>
      </p:sp>
      <p:sp>
        <p:nvSpPr>
          <p:cNvPr id="36" name="Text 34"/>
          <p:cNvSpPr txBox="1"/>
          <p:nvPr/>
        </p:nvSpPr>
        <p:spPr>
          <a:xfrm>
            <a:off x="548640" y="5349240"/>
            <a:ext cx="11064240" cy="731520"/>
          </a:xfrm>
          <a:prstGeom prst="rect">
            <a:avLst/>
          </a:prstGeom>
          <a:noFill/>
          <a:ln/>
        </p:spPr>
        <p:txBody>
          <a:bodyPr wrap="square" lIns="0" tIns="0" rIns="0" bIns="0" rtlCol="0" anchor="t"/>
          <a:lstStyle/>
          <a:p>
            <a:pPr indent="0" marL="0">
              <a:buNone/>
            </a:pPr>
            <a:r>
              <a:rPr lang="en-US" sz="1500" dirty="0">
                <a:solidFill>
                  <a:schemeClr val="tx2"/>
                </a:solidFill>
              </a:rPr>
              <a:t>Try the cheap options first: torch.compile, PyTorch's scaled_dot_product_attention and FlexAttention. Write a Triton kernel only if those don't cover it.</a:t>
            </a:r>
            <a:endParaRPr lang="en-US" sz="1500" dirty="0"/>
          </a:p>
        </p:txBody>
      </p:sp>
      <p:sp>
        <p:nvSpPr>
          <p:cNvPr id="37" name="Text 35"/>
          <p:cNvSpPr txBox="1"/>
          <p:nvPr/>
        </p:nvSpPr>
        <p:spPr>
          <a:xfrm>
            <a:off x="6583680" y="6400800"/>
            <a:ext cx="4389120" cy="274320"/>
          </a:xfrm>
          <a:prstGeom prst="rect">
            <a:avLst/>
          </a:prstGeom>
          <a:noFill/>
          <a:ln/>
        </p:spPr>
        <p:txBody>
          <a:bodyPr wrap="square" lIns="0" tIns="0" rIns="0" bIns="0" rtlCol="0" anchor="ctr"/>
          <a:lstStyle/>
          <a:p>
            <a:pPr algn="r" indent="0" marL="0">
              <a:buNone/>
            </a:pPr>
            <a:r>
              <a:rPr lang="en-US" sz="1000" u="sng" dirty="0">
                <a:solidFill>
                  <a:srgbClr val="000000"/>
                </a:solidFill>
                <a:hlinkClick r:id="rId1" invalidUrl="" action="" tgtFrame="" tooltip="Open this section of the summary page" history="1" highlightClick="0" endSnd="0">
                  <a:extLst>
                    <a:ext uri="{A12FA001-AC4F-418D-AE19-62706E023703}">
                      <ahyp:hlinkClr xmlns:ahyp="http://schemas.microsoft.com/office/drawing/2018/hyperlinkcolor" val="tx"/>
                    </a:ext>
                  </a:extLst>
                </a:hlinkClick>
              </a:rPr>
              <a:t>In the summary: §2 the recipe ↗</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Number circle"/>
          <p:cNvSpPr/>
          <p:nvPr/>
        </p:nvSpPr>
        <p:spPr>
          <a:xfrm>
            <a:off x="548640" y="1554480"/>
            <a:ext cx="1188720" cy="1188720"/>
          </a:xfrm>
          <a:prstGeom prst="ellipse">
            <a:avLst/>
          </a:prstGeom>
          <a:solidFill>
            <a:schemeClr val="accent2"/>
          </a:solidFill>
          <a:ln/>
        </p:spPr>
      </p:sp>
      <p:sp>
        <p:nvSpPr>
          <p:cNvPr id="3" name="Text 1"/>
          <p:cNvSpPr txBox="1"/>
          <p:nvPr/>
        </p:nvSpPr>
        <p:spPr>
          <a:xfrm>
            <a:off x="548640" y="1554480"/>
            <a:ext cx="1188720" cy="1188720"/>
          </a:xfrm>
          <a:prstGeom prst="rect">
            <a:avLst/>
          </a:prstGeom>
          <a:noFill/>
          <a:ln/>
        </p:spPr>
        <p:txBody>
          <a:bodyPr wrap="square" lIns="0" tIns="0" rIns="0" bIns="0" rtlCol="0" anchor="ctr"/>
          <a:lstStyle/>
          <a:p>
            <a:pPr algn="ctr" indent="0" marL="0">
              <a:buNone/>
            </a:pPr>
            <a:r>
              <a:rPr lang="en-US" sz="5400" b="1" dirty="0">
                <a:solidFill>
                  <a:schemeClr val="bg1"/>
                </a:solidFill>
              </a:rPr>
              <a:t>2</a:t>
            </a:r>
            <a:endParaRPr lang="en-US" sz="5400" dirty="0"/>
          </a:p>
        </p:txBody>
      </p:sp>
      <p:sp>
        <p:nvSpPr>
          <p:cNvPr id="4" name="Text 2"/>
          <p:cNvSpPr txBox="1"/>
          <p:nvPr/>
        </p:nvSpPr>
        <p:spPr>
          <a:xfrm>
            <a:off x="2057400" y="1600200"/>
            <a:ext cx="8229600" cy="365760"/>
          </a:xfrm>
          <a:prstGeom prst="rect">
            <a:avLst/>
          </a:prstGeom>
          <a:noFill/>
          <a:ln/>
        </p:spPr>
        <p:txBody>
          <a:bodyPr wrap="square" lIns="0" tIns="0" rIns="0" bIns="0" rtlCol="0" anchor="ctr"/>
          <a:lstStyle/>
          <a:p>
            <a:pPr indent="0" marL="0">
              <a:buNone/>
            </a:pPr>
            <a:r>
              <a:rPr lang="en-US" sz="1600" b="1" spc="300" kern="0" dirty="0">
                <a:solidFill>
                  <a:schemeClr val="accent6"/>
                </a:solidFill>
              </a:rPr>
              <a:t>IDEA 2</a:t>
            </a:r>
            <a:endParaRPr lang="en-US" sz="1600" dirty="0"/>
          </a:p>
        </p:txBody>
      </p:sp>
      <p:sp>
        <p:nvSpPr>
          <p:cNvPr id="5" name="Text 3"/>
          <p:cNvSpPr txBox="1"/>
          <p:nvPr/>
        </p:nvSpPr>
        <p:spPr>
          <a:xfrm>
            <a:off x="2057400" y="2011680"/>
            <a:ext cx="9509760" cy="137160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The objective shapes the model</a:t>
            </a:r>
            <a:endParaRPr lang="en-US" sz="4000" dirty="0"/>
          </a:p>
        </p:txBody>
      </p:sp>
      <p:sp>
        <p:nvSpPr>
          <p:cNvPr id="6" name="Text 4"/>
          <p:cNvSpPr txBox="1"/>
          <p:nvPr/>
        </p:nvSpPr>
        <p:spPr>
          <a:xfrm>
            <a:off x="2057400" y="3566160"/>
            <a:ext cx="8961120" cy="1097280"/>
          </a:xfrm>
          <a:prstGeom prst="rect">
            <a:avLst/>
          </a:prstGeom>
          <a:noFill/>
          <a:ln/>
        </p:spPr>
        <p:txBody>
          <a:bodyPr wrap="square" lIns="0" tIns="0" rIns="0" bIns="0" rtlCol="0" anchor="t"/>
          <a:lstStyle/>
          <a:p>
            <a:pPr indent="0" marL="0">
              <a:buNone/>
            </a:pPr>
            <a:r>
              <a:rPr lang="en-US" sz="2200" b="1" i="1" dirty="0">
                <a:solidFill>
                  <a:schemeClr val="accent6"/>
                </a:solidFill>
              </a:rPr>
              <a:t>The question to ask: </a:t>
            </a:r>
            <a:pPr indent="0" marL="0">
              <a:buNone/>
            </a:pPr>
            <a:r>
              <a:rPr lang="en-US" sz="2200" i="1" dirty="0">
                <a:solidFill>
                  <a:schemeClr val="bg1"/>
                </a:solidFill>
              </a:rPr>
              <a:t>What exactly does the loss reward, and what behaviour will follow?</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418320" cy="868680"/>
          </a:xfrm>
          <a:prstGeom prst="rect">
            <a:avLst/>
          </a:prstGeom>
          <a:noFill/>
          <a:ln/>
        </p:spPr>
        <p:txBody>
          <a:bodyPr wrap="square" lIns="0" tIns="0" rIns="0" bIns="0" rtlCol="0" anchor="ctr"/>
          <a:lstStyle/>
          <a:p>
            <a:pPr algn="l" indent="0" marL="0">
              <a:buNone/>
            </a:pPr>
            <a:r>
              <a:rPr lang="en-US" sz="3000" b="1" dirty="0">
                <a:solidFill>
                  <a:schemeClr val="tx1"/>
                </a:solidFill>
              </a:rPr>
              <a:t>Same attention, different mask</a:t>
            </a:r>
            <a:endParaRPr lang="en-US" sz="3000" dirty="0"/>
          </a:p>
        </p:txBody>
      </p:sp>
      <p:sp>
        <p:nvSpPr>
          <p:cNvPr id="3" name="Idea chip"/>
          <p:cNvSpPr/>
          <p:nvPr/>
        </p:nvSpPr>
        <p:spPr>
          <a:xfrm>
            <a:off x="10378440" y="548640"/>
            <a:ext cx="1261872" cy="384048"/>
          </a:xfrm>
          <a:prstGeom prst="roundRect">
            <a:avLst>
              <a:gd name="adj" fmla="val 50000"/>
            </a:avLst>
          </a:prstGeom>
          <a:solidFill>
            <a:schemeClr val="accent2"/>
          </a:solidFill>
          <a:ln/>
        </p:spPr>
      </p:sp>
      <p:sp>
        <p:nvSpPr>
          <p:cNvPr id="4" name="Text 2"/>
          <p:cNvSpPr txBox="1"/>
          <p:nvPr/>
        </p:nvSpPr>
        <p:spPr>
          <a:xfrm>
            <a:off x="10378440" y="548640"/>
            <a:ext cx="1261872" cy="384048"/>
          </a:xfrm>
          <a:prstGeom prst="rect">
            <a:avLst/>
          </a:prstGeom>
          <a:noFill/>
          <a:ln/>
        </p:spPr>
        <p:txBody>
          <a:bodyPr wrap="square" lIns="0" tIns="0" rIns="0" bIns="0" rtlCol="0" anchor="ctr"/>
          <a:lstStyle/>
          <a:p>
            <a:pPr algn="ctr" indent="0" marL="0">
              <a:buNone/>
            </a:pPr>
            <a:r>
              <a:rPr lang="en-US" sz="1300" b="1" spc="200" kern="0" dirty="0">
                <a:solidFill>
                  <a:schemeClr val="bg1"/>
                </a:solidFill>
              </a:rPr>
              <a:t>IDEA 2</a:t>
            </a:r>
            <a:endParaRPr lang="en-US" sz="1300" dirty="0"/>
          </a:p>
        </p:txBody>
      </p:sp>
      <p:pic>
        <p:nvPicPr>
          <p:cNvPr id="5" name="Diagram attention_masks" descr="Bidirectional versus causal attention masks for the sentence I sat on the bank of river">    </p:cNvPr>
          <p:cNvPicPr>
            <a:picLocks noChangeAspect="1"/>
          </p:cNvPicPr>
          <p:nvPr/>
        </p:nvPicPr>
        <p:blipFill>
          <a:blip r:embed="rId1"/>
          <a:stretch>
            <a:fillRect/>
          </a:stretch>
        </p:blipFill>
        <p:spPr>
          <a:xfrm>
            <a:off x="457200" y="1325880"/>
            <a:ext cx="7680960" cy="3653140"/>
          </a:xfrm>
          <a:prstGeom prst="rect">
            <a:avLst/>
          </a:prstGeom>
        </p:spPr>
      </p:pic>
      <p:sp>
        <p:nvSpPr>
          <p:cNvPr id="6" name="Card"/>
          <p:cNvSpPr/>
          <p:nvPr/>
        </p:nvSpPr>
        <p:spPr>
          <a:xfrm>
            <a:off x="8001000" y="1463040"/>
            <a:ext cx="3639312" cy="1371600"/>
          </a:xfrm>
          <a:prstGeom prst="roundRect">
            <a:avLst>
              <a:gd name="adj" fmla="val 8000"/>
            </a:avLst>
          </a:prstGeom>
          <a:solidFill>
            <a:schemeClr val="bg2"/>
          </a:solidFill>
          <a:ln/>
        </p:spPr>
      </p:sp>
      <p:sp>
        <p:nvSpPr>
          <p:cNvPr id="7" name="Text 4"/>
          <p:cNvSpPr txBox="1"/>
          <p:nvPr/>
        </p:nvSpPr>
        <p:spPr>
          <a:xfrm>
            <a:off x="8275320" y="1645920"/>
            <a:ext cx="3154680" cy="1097280"/>
          </a:xfrm>
          <a:prstGeom prst="rect">
            <a:avLst/>
          </a:prstGeom>
          <a:noFill/>
          <a:ln/>
        </p:spPr>
        <p:txBody>
          <a:bodyPr wrap="square" lIns="0" tIns="0" rIns="0" bIns="0" rtlCol="0" anchor="t"/>
          <a:lstStyle/>
          <a:p>
            <a:pPr indent="0" marL="0">
              <a:buNone/>
            </a:pPr>
            <a:r>
              <a:rPr lang="en-US" sz="1600" b="1" dirty="0">
                <a:solidFill>
                  <a:schemeClr val="tx1"/>
                </a:solidFill>
              </a:rPr>
              <a:t>Output is a label or embedding?</a:t>
            </a:r>
            <a:endParaRPr lang="en-US" sz="1600" dirty="0"/>
          </a:p>
          <a:p>
            <a:pPr indent="0" marL="0">
              <a:buNone/>
            </a:pPr>
            <a:r>
              <a:rPr lang="en-US" sz="1600" dirty="0">
                <a:solidFill>
                  <a:schemeClr val="tx2"/>
                </a:solidFill>
              </a:rPr>
              <a:t>The input already exists. Use bidirectional.</a:t>
            </a:r>
            <a:endParaRPr lang="en-US" sz="1600" dirty="0"/>
          </a:p>
        </p:txBody>
      </p:sp>
      <p:sp>
        <p:nvSpPr>
          <p:cNvPr id="8" name="Card"/>
          <p:cNvSpPr/>
          <p:nvPr/>
        </p:nvSpPr>
        <p:spPr>
          <a:xfrm>
            <a:off x="8001000" y="3017520"/>
            <a:ext cx="3639312" cy="1371600"/>
          </a:xfrm>
          <a:prstGeom prst="roundRect">
            <a:avLst>
              <a:gd name="adj" fmla="val 8000"/>
            </a:avLst>
          </a:prstGeom>
          <a:solidFill>
            <a:schemeClr val="bg2"/>
          </a:solidFill>
          <a:ln/>
        </p:spPr>
      </p:sp>
      <p:sp>
        <p:nvSpPr>
          <p:cNvPr id="9" name="Text 6"/>
          <p:cNvSpPr txBox="1"/>
          <p:nvPr/>
        </p:nvSpPr>
        <p:spPr>
          <a:xfrm>
            <a:off x="8275320" y="3200400"/>
            <a:ext cx="3154680" cy="1097280"/>
          </a:xfrm>
          <a:prstGeom prst="rect">
            <a:avLst/>
          </a:prstGeom>
          <a:noFill/>
          <a:ln/>
        </p:spPr>
        <p:txBody>
          <a:bodyPr wrap="square" lIns="0" tIns="0" rIns="0" bIns="0" rtlCol="0" anchor="t"/>
          <a:lstStyle/>
          <a:p>
            <a:pPr indent="0" marL="0">
              <a:buNone/>
            </a:pPr>
            <a:r>
              <a:rPr lang="en-US" sz="1600" b="1" dirty="0">
                <a:solidFill>
                  <a:schemeClr val="tx1"/>
                </a:solidFill>
              </a:rPr>
              <a:t>Output is generated text?</a:t>
            </a:r>
            <a:endParaRPr lang="en-US" sz="1600" dirty="0"/>
          </a:p>
          <a:p>
            <a:pPr indent="0" marL="0">
              <a:buNone/>
            </a:pPr>
            <a:r>
              <a:rPr lang="en-US" sz="1600" dirty="0">
                <a:solidFill>
                  <a:schemeClr val="tx2"/>
                </a:solidFill>
              </a:rPr>
              <a:t>The future isn't written yet. Use causal.</a:t>
            </a:r>
            <a:endParaRPr lang="en-US" sz="1600" dirty="0"/>
          </a:p>
        </p:txBody>
      </p:sp>
      <p:sp>
        <p:nvSpPr>
          <p:cNvPr id="10" name="Text 7"/>
          <p:cNvSpPr txBox="1"/>
          <p:nvPr/>
        </p:nvSpPr>
        <p:spPr>
          <a:xfrm>
            <a:off x="6583680" y="6400800"/>
            <a:ext cx="4389120" cy="274320"/>
          </a:xfrm>
          <a:prstGeom prst="rect">
            <a:avLst/>
          </a:prstGeom>
          <a:noFill/>
          <a:ln/>
        </p:spPr>
        <p:txBody>
          <a:bodyPr wrap="square" lIns="0" tIns="0" rIns="0" bIns="0" rtlCol="0" anchor="ctr"/>
          <a:lstStyle/>
          <a:p>
            <a:pPr algn="r" indent="0" marL="0">
              <a:buNone/>
            </a:pPr>
            <a:r>
              <a:rPr lang="en-US" sz="1000" u="sng" dirty="0">
                <a:solidFill>
                  <a:srgbClr val="000000"/>
                </a:solidFill>
                <a:hlinkClick r:id="rId2" invalidUrl="" action="" tgtFrame="" tooltip="Open this section of the summary page" history="1" highlightClick="0" endSnd="0">
                  <a:extLst>
                    <a:ext uri="{A12FA001-AC4F-418D-AE19-62706E023703}">
                      <ahyp:hlinkClr xmlns:ahyp="http://schemas.microsoft.com/office/drawing/2018/hyperlinkcolor" val="tx"/>
                    </a:ext>
                  </a:extLst>
                </a:hlinkClick>
              </a:rPr>
              <a:t>In the summary: §3 encoder or decoder ↗</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418320" cy="868680"/>
          </a:xfrm>
          <a:prstGeom prst="rect">
            <a:avLst/>
          </a:prstGeom>
          <a:noFill/>
          <a:ln/>
        </p:spPr>
        <p:txBody>
          <a:bodyPr wrap="square" lIns="0" tIns="0" rIns="0" bIns="0" rtlCol="0" anchor="ctr"/>
          <a:lstStyle/>
          <a:p>
            <a:pPr algn="l" indent="0" marL="0">
              <a:buNone/>
            </a:pPr>
            <a:r>
              <a:rPr lang="en-US" sz="3000" b="1" dirty="0">
                <a:solidFill>
                  <a:schemeClr val="tx1"/>
                </a:solidFill>
              </a:rPr>
              <a:t>Pick the architecture by the output</a:t>
            </a:r>
            <a:endParaRPr lang="en-US" sz="3000" dirty="0"/>
          </a:p>
        </p:txBody>
      </p:sp>
      <p:sp>
        <p:nvSpPr>
          <p:cNvPr id="3" name="Idea chip"/>
          <p:cNvSpPr/>
          <p:nvPr/>
        </p:nvSpPr>
        <p:spPr>
          <a:xfrm>
            <a:off x="10378440" y="548640"/>
            <a:ext cx="1261872" cy="384048"/>
          </a:xfrm>
          <a:prstGeom prst="roundRect">
            <a:avLst>
              <a:gd name="adj" fmla="val 50000"/>
            </a:avLst>
          </a:prstGeom>
          <a:solidFill>
            <a:schemeClr val="accent2"/>
          </a:solidFill>
          <a:ln/>
        </p:spPr>
      </p:sp>
      <p:sp>
        <p:nvSpPr>
          <p:cNvPr id="4" name="Text 2"/>
          <p:cNvSpPr txBox="1"/>
          <p:nvPr/>
        </p:nvSpPr>
        <p:spPr>
          <a:xfrm>
            <a:off x="10378440" y="548640"/>
            <a:ext cx="1261872" cy="384048"/>
          </a:xfrm>
          <a:prstGeom prst="rect">
            <a:avLst/>
          </a:prstGeom>
          <a:noFill/>
          <a:ln/>
        </p:spPr>
        <p:txBody>
          <a:bodyPr wrap="square" lIns="0" tIns="0" rIns="0" bIns="0" rtlCol="0" anchor="ctr"/>
          <a:lstStyle/>
          <a:p>
            <a:pPr algn="ctr" indent="0" marL="0">
              <a:buNone/>
            </a:pPr>
            <a:r>
              <a:rPr lang="en-US" sz="1300" b="1" spc="200" kern="0" dirty="0">
                <a:solidFill>
                  <a:schemeClr val="bg1"/>
                </a:solidFill>
              </a:rPr>
              <a:t>IDEA 2</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498080" cy="914400"/>
        </p:xfrm>
        <a:graphic>
          <a:graphicData uri="http://schemas.openxmlformats.org/drawingml/2006/table">
            <a:tbl>
              <a:tblPr/>
              <a:tblGrid>
                <a:gridCol w="2560320"/>
                <a:gridCol w="2286000"/>
                <a:gridCol w="2651760"/>
              </a:tblGrid>
              <a:tr h="621792">
                <a:tc>
                  <a:txBody>
                    <a:bodyPr/>
                    <a:lstStyle/>
                    <a:p>
                      <a:pPr indent="0" marL="0">
                        <a:buNone/>
                      </a:pPr>
                      <a:r>
                        <a:rPr lang="en-US" sz="1400" b="1" dirty="0">
                          <a:solidFill>
                            <a:schemeClr val="bg1"/>
                          </a:solidFill>
                        </a:rPr>
                        <a:t>Use case</a:t>
                      </a:r>
                      <a:endParaRPr lang="en-US" sz="1400" dirty="0"/>
                    </a:p>
                  </a:txBody>
                  <a:tcPr marL="91440" marR="91440" marT="91440" marB="9144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Output</a:t>
                      </a:r>
                      <a:endParaRPr lang="en-US" sz="1400" dirty="0"/>
                    </a:p>
                  </a:txBody>
                  <a:tcPr marL="91440" marR="91440" marT="91440" marB="9144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Good default</a:t>
                      </a:r>
                      <a:endParaRPr lang="en-US" sz="1400" dirty="0"/>
                    </a:p>
                  </a:txBody>
                  <a:tcPr marL="91440" marR="91440" marT="91440" marB="91440" anchor="ctr">
                    <a:lnL w="0" cap="flat" cmpd="sng" algn="ctr">
                      <a:noFill/>
                    </a:lnL>
                    <a:lnR w="0" cap="flat" cmpd="sng" algn="ctr">
                      <a:noFill/>
                    </a:lnR>
                    <a:lnT w="0" cap="flat" cmpd="sng" algn="ctr">
                      <a:noFill/>
                    </a:lnT>
                    <a:lnB w="0" cap="flat" cmpd="sng" algn="ctr">
                      <a:noFill/>
                    </a:lnB>
                    <a:solidFill>
                      <a:schemeClr val="tx1"/>
                    </a:solidFill>
                  </a:tcPr>
                </a:tc>
              </a:tr>
              <a:tr h="621792">
                <a:tc>
                  <a:txBody>
                    <a:bodyPr/>
                    <a:lstStyle/>
                    <a:p>
                      <a:pPr indent="0" marL="0">
                        <a:buNone/>
                      </a:pPr>
                      <a:r>
                        <a:rPr lang="en-US" sz="1400" dirty="0">
                          <a:solidFill>
                            <a:schemeClr val="tx1"/>
                          </a:solidFill>
                        </a:rPr>
                        <a:t>Classification, sentiment, NER</a:t>
                      </a:r>
                      <a:endParaRPr lang="en-US" sz="1400" dirty="0"/>
                    </a:p>
                  </a:txBody>
                  <a:tcPr marL="91440" marR="91440" marT="91440" marB="9144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Label per text or token</a:t>
                      </a:r>
                      <a:endParaRPr lang="en-US" sz="1400" dirty="0"/>
                    </a:p>
                  </a:txBody>
                  <a:tcPr marL="91440" marR="91440" marT="91440" marB="9144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Fine-tuned encoder (ModernBERT, DeBERTa)</a:t>
                      </a:r>
                      <a:endParaRPr lang="en-US" sz="1400" dirty="0"/>
                    </a:p>
                  </a:txBody>
                  <a:tcPr marL="91440" marR="91440" marT="91440" marB="91440" anchor="ctr">
                    <a:lnL w="0" cap="flat" cmpd="sng" algn="ctr">
                      <a:noFill/>
                    </a:lnL>
                    <a:lnR w="0" cap="flat" cmpd="sng" algn="ctr">
                      <a:noFill/>
                    </a:lnR>
                    <a:lnT w="0" cap="flat" cmpd="sng" algn="ctr">
                      <a:noFill/>
                    </a:lnT>
                    <a:lnB w="0" cap="flat" cmpd="sng" algn="ctr">
                      <a:noFill/>
                    </a:lnB>
                    <a:solidFill>
                      <a:schemeClr val="bg2"/>
                    </a:solidFill>
                  </a:tcPr>
                </a:tc>
              </a:tr>
              <a:tr h="621792">
                <a:tc>
                  <a:txBody>
                    <a:bodyPr/>
                    <a:lstStyle/>
                    <a:p>
                      <a:pPr indent="0" marL="0">
                        <a:buNone/>
                      </a:pPr>
                      <a:r>
                        <a:rPr lang="en-US" sz="1400" dirty="0">
                          <a:solidFill>
                            <a:schemeClr val="tx1"/>
                          </a:solidFill>
                        </a:rPr>
                        <a:t>Retrieval for RAG</a:t>
                      </a:r>
                      <a:endParaRPr lang="en-US" sz="1400" dirty="0"/>
                    </a:p>
                  </a:txBody>
                  <a:tcPr marL="91440" marR="91440" marT="91440" marB="9144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One embedding per text</a:t>
                      </a:r>
                      <a:endParaRPr lang="en-US" sz="1400" dirty="0"/>
                    </a:p>
                  </a:txBody>
                  <a:tcPr marL="91440" marR="91440" marT="91440" marB="9144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Bi-encoder (Sentence-BERT, E5)</a:t>
                      </a:r>
                      <a:endParaRPr lang="en-US" sz="1400" dirty="0"/>
                    </a:p>
                  </a:txBody>
                  <a:tcPr marL="91440" marR="91440" marT="91440" marB="91440" anchor="ctr">
                    <a:lnL w="0" cap="flat" cmpd="sng" algn="ctr">
                      <a:noFill/>
                    </a:lnL>
                    <a:lnR w="0" cap="flat" cmpd="sng" algn="ctr">
                      <a:noFill/>
                    </a:lnR>
                    <a:lnT w="0" cap="flat" cmpd="sng" algn="ctr">
                      <a:noFill/>
                    </a:lnT>
                    <a:lnB w="0" cap="flat" cmpd="sng" algn="ctr">
                      <a:noFill/>
                    </a:lnB>
                    <a:solidFill>
                      <a:schemeClr val="bg1"/>
                    </a:solidFill>
                  </a:tcPr>
                </a:tc>
              </a:tr>
              <a:tr h="621792">
                <a:tc>
                  <a:txBody>
                    <a:bodyPr/>
                    <a:lstStyle/>
                    <a:p>
                      <a:pPr indent="0" marL="0">
                        <a:buNone/>
                      </a:pPr>
                      <a:r>
                        <a:rPr lang="en-US" sz="1400" dirty="0">
                          <a:solidFill>
                            <a:schemeClr val="tx1"/>
                          </a:solidFill>
                        </a:rPr>
                        <a:t>Reranking top-k</a:t>
                      </a:r>
                      <a:endParaRPr lang="en-US" sz="1400" dirty="0"/>
                    </a:p>
                  </a:txBody>
                  <a:tcPr marL="91440" marR="91440" marT="91440" marB="9144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Score per (query, doc)</a:t>
                      </a:r>
                      <a:endParaRPr lang="en-US" sz="1400" dirty="0"/>
                    </a:p>
                  </a:txBody>
                  <a:tcPr marL="91440" marR="91440" marT="91440" marB="9144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Cross-encoder</a:t>
                      </a:r>
                      <a:endParaRPr lang="en-US" sz="1400" dirty="0"/>
                    </a:p>
                  </a:txBody>
                  <a:tcPr marL="91440" marR="91440" marT="91440" marB="91440" anchor="ctr">
                    <a:lnL w="0" cap="flat" cmpd="sng" algn="ctr">
                      <a:noFill/>
                    </a:lnL>
                    <a:lnR w="0" cap="flat" cmpd="sng" algn="ctr">
                      <a:noFill/>
                    </a:lnR>
                    <a:lnT w="0" cap="flat" cmpd="sng" algn="ctr">
                      <a:noFill/>
                    </a:lnT>
                    <a:lnB w="0" cap="flat" cmpd="sng" algn="ctr">
                      <a:noFill/>
                    </a:lnB>
                    <a:solidFill>
                      <a:schemeClr val="bg2"/>
                    </a:solidFill>
                  </a:tcPr>
                </a:tc>
              </a:tr>
              <a:tr h="621792">
                <a:tc>
                  <a:txBody>
                    <a:bodyPr/>
                    <a:lstStyle/>
                    <a:p>
                      <a:pPr indent="0" marL="0">
                        <a:buNone/>
                      </a:pPr>
                      <a:r>
                        <a:rPr lang="en-US" sz="1400" dirty="0">
                          <a:solidFill>
                            <a:schemeClr val="tx1"/>
                          </a:solidFill>
                        </a:rPr>
                        <a:t>Speech-to-text, translation</a:t>
                      </a:r>
                      <a:endParaRPr lang="en-US" sz="1400" dirty="0"/>
                    </a:p>
                  </a:txBody>
                  <a:tcPr marL="91440" marR="91440" marT="91440" marB="9144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Text from another input</a:t>
                      </a:r>
                      <a:endParaRPr lang="en-US" sz="1400" dirty="0"/>
                    </a:p>
                  </a:txBody>
                  <a:tcPr marL="91440" marR="91440" marT="91440" marB="9144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Encoder-decoder (Whisper, T5)</a:t>
                      </a:r>
                      <a:endParaRPr lang="en-US" sz="1400" dirty="0"/>
                    </a:p>
                  </a:txBody>
                  <a:tcPr marL="91440" marR="91440" marT="91440" marB="91440" anchor="ctr">
                    <a:lnL w="0" cap="flat" cmpd="sng" algn="ctr">
                      <a:noFill/>
                    </a:lnL>
                    <a:lnR w="0" cap="flat" cmpd="sng" algn="ctr">
                      <a:noFill/>
                    </a:lnR>
                    <a:lnT w="0" cap="flat" cmpd="sng" algn="ctr">
                      <a:noFill/>
                    </a:lnT>
                    <a:lnB w="0" cap="flat" cmpd="sng" algn="ctr">
                      <a:noFill/>
                    </a:lnB>
                    <a:solidFill>
                      <a:schemeClr val="bg1"/>
                    </a:solidFill>
                  </a:tcPr>
                </a:tc>
              </a:tr>
              <a:tr h="621792">
                <a:tc>
                  <a:txBody>
                    <a:bodyPr/>
                    <a:lstStyle/>
                    <a:p>
                      <a:pPr indent="0" marL="0">
                        <a:buNone/>
                      </a:pPr>
                      <a:r>
                        <a:rPr lang="en-US" sz="1400" dirty="0">
                          <a:solidFill>
                            <a:schemeClr val="tx1"/>
                          </a:solidFill>
                        </a:rPr>
                        <a:t>Chat, code completion</a:t>
                      </a:r>
                      <a:endParaRPr lang="en-US" sz="1400" dirty="0"/>
                    </a:p>
                  </a:txBody>
                  <a:tcPr marL="91440" marR="91440" marT="91440" marB="9144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Generated text</a:t>
                      </a:r>
                      <a:endParaRPr lang="en-US" sz="1400" dirty="0"/>
                    </a:p>
                  </a:txBody>
                  <a:tcPr marL="91440" marR="91440" marT="91440" marB="9144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Decoder-only (GPT, LLaMA, Qwen)</a:t>
                      </a:r>
                      <a:endParaRPr lang="en-US" sz="1400" dirty="0"/>
                    </a:p>
                  </a:txBody>
                  <a:tcPr marL="91440" marR="91440" marT="91440" marB="9144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Card"/>
          <p:cNvSpPr/>
          <p:nvPr/>
        </p:nvSpPr>
        <p:spPr>
          <a:xfrm>
            <a:off x="8321040" y="1463040"/>
            <a:ext cx="3319272" cy="3749040"/>
          </a:xfrm>
          <a:prstGeom prst="roundRect">
            <a:avLst>
              <a:gd name="adj" fmla="val 3306"/>
            </a:avLst>
          </a:prstGeom>
          <a:solidFill>
            <a:schemeClr val="tx1"/>
          </a:solidFill>
          <a:ln/>
        </p:spPr>
      </p:sp>
      <p:sp>
        <p:nvSpPr>
          <p:cNvPr id="7" name="Text 4"/>
          <p:cNvSpPr txBox="1"/>
          <p:nvPr/>
        </p:nvSpPr>
        <p:spPr>
          <a:xfrm>
            <a:off x="8549640" y="1691640"/>
            <a:ext cx="2880360" cy="3383280"/>
          </a:xfrm>
          <a:prstGeom prst="rect">
            <a:avLst/>
          </a:prstGeom>
          <a:noFill/>
          <a:ln/>
        </p:spPr>
        <p:txBody>
          <a:bodyPr wrap="square" lIns="0" tIns="0" rIns="0" bIns="0" rtlCol="0" anchor="t"/>
          <a:lstStyle/>
          <a:p>
            <a:pPr indent="0" marL="0">
              <a:buNone/>
            </a:pPr>
            <a:r>
              <a:rPr lang="en-US" sz="1500" b="1" dirty="0">
                <a:solidFill>
                  <a:schemeClr val="accent6"/>
                </a:solidFill>
              </a:rPr>
              <a:t>The loss predicts behaviour too</a:t>
            </a:r>
            <a:endParaRPr lang="en-US" sz="1500" dirty="0"/>
          </a:p>
          <a:p>
            <a:pPr indent="0" marL="0">
              <a:buNone/>
            </a:pPr>
            <a:r>
              <a:rPr lang="en-US" sz="800" dirty="0">
                <a:solidFill>
                  <a:schemeClr val="bg1"/>
                </a:solidFill>
              </a:rPr>
              <a:t> </a:t>
            </a:r>
            <a:endParaRPr lang="en-US" sz="1500" dirty="0"/>
          </a:p>
          <a:p>
            <a:pPr indent="0" marL="0">
              <a:buNone/>
            </a:pPr>
            <a:r>
              <a:rPr lang="en-US" sz="1500" dirty="0">
                <a:solidFill>
                  <a:schemeClr val="bg1"/>
                </a:solidFill>
              </a:rPr>
              <a:t>Hallucination is what next-token loss rewards: a plausible continuation, not a true one.</a:t>
            </a:r>
            <a:endParaRPr lang="en-US" sz="1500" dirty="0"/>
          </a:p>
          <a:p>
            <a:pPr indent="0" marL="0">
              <a:buNone/>
            </a:pPr>
            <a:r>
              <a:rPr lang="en-US" sz="800" dirty="0">
                <a:solidFill>
                  <a:schemeClr val="bg1"/>
                </a:solidFill>
              </a:rPr>
              <a:t> </a:t>
            </a:r>
            <a:endParaRPr lang="en-US" sz="1500" dirty="0"/>
          </a:p>
          <a:p>
            <a:pPr indent="0" marL="0">
              <a:buNone/>
            </a:pPr>
            <a:r>
              <a:rPr lang="en-US" sz="1500" dirty="0">
                <a:solidFill>
                  <a:schemeClr val="bg1"/>
                </a:solidFill>
              </a:rPr>
              <a:t>BERT trains on only ~15% of tokens. GPT-2 trains on every token.</a:t>
            </a:r>
            <a:endParaRPr lang="en-US" sz="1500" dirty="0"/>
          </a:p>
        </p:txBody>
      </p:sp>
      <p:sp>
        <p:nvSpPr>
          <p:cNvPr id="8" name="Text 5"/>
          <p:cNvSpPr txBox="1"/>
          <p:nvPr/>
        </p:nvSpPr>
        <p:spPr>
          <a:xfrm>
            <a:off x="548640" y="5440680"/>
            <a:ext cx="11064240" cy="640080"/>
          </a:xfrm>
          <a:prstGeom prst="rect">
            <a:avLst/>
          </a:prstGeom>
          <a:noFill/>
          <a:ln/>
        </p:spPr>
        <p:txBody>
          <a:bodyPr wrap="square" lIns="0" tIns="0" rIns="0" bIns="0" rtlCol="0" anchor="t"/>
          <a:lstStyle/>
          <a:p>
            <a:pPr indent="0" marL="0">
              <a:buNone/>
            </a:pPr>
            <a:r>
              <a:rPr lang="en-US" sz="1500" i="1" dirty="0">
                <a:solidFill>
                  <a:schemeClr val="tx2"/>
                </a:solidFill>
              </a:rPr>
              <a:t>At volume, start with a fine-tuned encoder. Use an LLM when you need reasoning, generation or zero-shot.</a:t>
            </a:r>
            <a:endParaRPr lang="en-US" sz="1500" dirty="0"/>
          </a:p>
        </p:txBody>
      </p:sp>
      <p:sp>
        <p:nvSpPr>
          <p:cNvPr id="9" name="Text 6"/>
          <p:cNvSpPr txBox="1"/>
          <p:nvPr/>
        </p:nvSpPr>
        <p:spPr>
          <a:xfrm>
            <a:off x="6583680" y="6400800"/>
            <a:ext cx="4389120" cy="274320"/>
          </a:xfrm>
          <a:prstGeom prst="rect">
            <a:avLst/>
          </a:prstGeom>
          <a:noFill/>
          <a:ln/>
        </p:spPr>
        <p:txBody>
          <a:bodyPr wrap="square" lIns="0" tIns="0" rIns="0" bIns="0" rtlCol="0" anchor="ctr"/>
          <a:lstStyle/>
          <a:p>
            <a:pPr algn="r" indent="0" marL="0">
              <a:buNone/>
            </a:pPr>
            <a:r>
              <a:rPr lang="en-US" sz="1000" u="sng" dirty="0">
                <a:solidFill>
                  <a:srgbClr val="000000"/>
                </a:solidFill>
                <a:hlinkClick r:id="rId1" invalidUrl="" action="" tgtFrame="" tooltip="Open this section of the summary page" history="1" highlightClick="0" endSnd="0">
                  <a:extLst>
                    <a:ext uri="{A12FA001-AC4F-418D-AE19-62706E023703}">
                      <ahyp:hlinkClr xmlns:ahyp="http://schemas.microsoft.com/office/drawing/2018/hyperlinkcolor" val="tx"/>
                    </a:ext>
                  </a:extLst>
                </a:hlinkClick>
              </a:rPr>
              <a:t>In the summary: §3 the use-case table ↗</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1600200"/>
            <a:ext cx="8229600" cy="365760"/>
          </a:xfrm>
          <a:prstGeom prst="rect">
            <a:avLst/>
          </a:prstGeom>
          <a:noFill/>
          <a:ln/>
        </p:spPr>
        <p:txBody>
          <a:bodyPr wrap="square" lIns="0" tIns="0" rIns="0" bIns="0" rtlCol="0" anchor="ctr"/>
          <a:lstStyle/>
          <a:p>
            <a:pPr indent="0" marL="0">
              <a:buNone/>
            </a:pPr>
            <a:r>
              <a:rPr lang="en-US" sz="1600" b="1" spc="300" kern="0" dirty="0">
                <a:solidFill>
                  <a:schemeClr val="accent6"/>
                </a:solidFill>
              </a:rPr>
              <a:t>IDEAS 2 TO 5 IN PRODUCTION</a:t>
            </a:r>
            <a:endParaRPr lang="en-US" sz="1600" dirty="0"/>
          </a:p>
        </p:txBody>
      </p:sp>
      <p:sp>
        <p:nvSpPr>
          <p:cNvPr id="3" name="Text 1"/>
          <p:cNvSpPr txBox="1"/>
          <p:nvPr/>
        </p:nvSpPr>
        <p:spPr>
          <a:xfrm>
            <a:off x="548640" y="2011680"/>
            <a:ext cx="9509760" cy="137160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Most “weird” LLM behaviour traces back to one idea</a:t>
            </a:r>
            <a:endParaRPr lang="en-US" sz="4000" dirty="0"/>
          </a:p>
        </p:txBody>
      </p:sp>
      <p:sp>
        <p:nvSpPr>
          <p:cNvPr id="4" name="Text 2"/>
          <p:cNvSpPr txBox="1"/>
          <p:nvPr/>
        </p:nvSpPr>
        <p:spPr>
          <a:xfrm>
            <a:off x="548640" y="3566160"/>
            <a:ext cx="8961120" cy="1097280"/>
          </a:xfrm>
          <a:prstGeom prst="rect">
            <a:avLst/>
          </a:prstGeom>
          <a:noFill/>
          <a:ln/>
        </p:spPr>
        <p:txBody>
          <a:bodyPr wrap="square" lIns="0" tIns="0" rIns="0" bIns="0" rtlCol="0" anchor="t"/>
          <a:lstStyle/>
          <a:p>
            <a:pPr indent="0" marL="0">
              <a:buNone/>
            </a:pPr>
            <a:r>
              <a:rPr lang="en-US" sz="2200" b="1" i="1" dirty="0">
                <a:solidFill>
                  <a:schemeClr val="accent6"/>
                </a:solidFill>
              </a:rPr>
              <a:t>The question to ask: </a:t>
            </a:r>
            <a:pPr indent="0" marL="0">
              <a:buNone/>
            </a:pPr>
            <a:r>
              <a:rPr lang="en-US" sz="2200" i="1" dirty="0">
                <a:solidFill>
                  <a:schemeClr val="bg1"/>
                </a:solidFill>
              </a:rPr>
              <a:t>Which of these will my product hit first, and is the fix in the model, the data or the system around it?</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418320" cy="868680"/>
          </a:xfrm>
          <a:prstGeom prst="rect">
            <a:avLst/>
          </a:prstGeom>
          <a:noFill/>
          <a:ln/>
        </p:spPr>
        <p:txBody>
          <a:bodyPr wrap="square" lIns="0" tIns="0" rIns="0" bIns="0" rtlCol="0" anchor="ctr"/>
          <a:lstStyle/>
          <a:p>
            <a:pPr algn="l" indent="0" marL="0">
              <a:buNone/>
            </a:pPr>
            <a:r>
              <a:rPr lang="en-US" sz="3000" b="1" dirty="0">
                <a:solidFill>
                  <a:schemeClr val="tx1"/>
                </a:solidFill>
              </a:rPr>
              <a:t>Symptom, cause, fix: name the idea</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657600"/>
                <a:gridCol w="3291840"/>
                <a:gridCol w="3474720"/>
                <a:gridCol w="667512"/>
              </a:tblGrid>
              <a:tr h="512064">
                <a:tc>
                  <a:txBody>
                    <a:bodyPr/>
                    <a:lstStyle/>
                    <a:p>
                      <a:pPr indent="0" marL="0">
                        <a:buNone/>
                      </a:pPr>
                      <a:r>
                        <a:rPr lang="en-US" sz="1300" b="1" dirty="0">
                          <a:solidFill>
                            <a:schemeClr val="bg1"/>
                          </a:solidFill>
                        </a:rPr>
                        <a:t>Symptom</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Root cause</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Mitigation</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Idea</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1"/>
                    </a:solidFill>
                  </a:tcPr>
                </a:tc>
              </a:tr>
              <a:tr h="512064">
                <a:tc>
                  <a:txBody>
                    <a:bodyPr/>
                    <a:lstStyle/>
                    <a:p>
                      <a:pPr indent="0" marL="0">
                        <a:buNone/>
                      </a:pPr>
                      <a:r>
                        <a:rPr lang="en-US" sz="1300" b="1" dirty="0">
                          <a:solidFill>
                            <a:schemeClr val="tx1"/>
                          </a:solidFill>
                        </a:rPr>
                        <a:t>Long prompts slow; OOM at long context</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O(n²) prefill; KV cache grows</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RAG, prefix caching, GQA/MLA</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4</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4"/>
                    </a:solidFill>
                  </a:tcPr>
                </a:tc>
              </a:tr>
              <a:tr h="512064">
                <a:tc>
                  <a:txBody>
                    <a:bodyPr/>
                    <a:lstStyle/>
                    <a:p>
                      <a:pPr indent="0" marL="0">
                        <a:buNone/>
                      </a:pPr>
                      <a:r>
                        <a:rPr lang="en-US" sz="1300" b="1" dirty="0">
                          <a:solidFill>
                            <a:schemeClr val="tx1"/>
                          </a:solidFill>
                        </a:rPr>
                        <a:t>Facts in the middle get missed</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Attention favours start and end</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Key info first or last</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bg1"/>
                          </a:solidFill>
                        </a:rPr>
                        <a:t>4</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4"/>
                    </a:solidFill>
                  </a:tcPr>
                </a:tc>
              </a:tr>
              <a:tr h="512064">
                <a:tc>
                  <a:txBody>
                    <a:bodyPr/>
                    <a:lstStyle/>
                    <a:p>
                      <a:pPr indent="0" marL="0">
                        <a:buNone/>
                      </a:pPr>
                      <a:r>
                        <a:rPr lang="en-US" sz="1300" b="1" dirty="0">
                          <a:solidFill>
                            <a:schemeClr val="tx1"/>
                          </a:solidFill>
                        </a:rPr>
                        <a:t>Confident hallucinations</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Loss rewards likely, not true</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Grounding, verification, evals</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2</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2"/>
                    </a:solidFill>
                  </a:tcPr>
                </a:tc>
              </a:tr>
              <a:tr h="512064">
                <a:tc>
                  <a:txBody>
                    <a:bodyPr/>
                    <a:lstStyle/>
                    <a:p>
                      <a:pPr indent="0" marL="0">
                        <a:buNone/>
                      </a:pPr>
                      <a:r>
                        <a:rPr lang="en-US" sz="1300" b="1" dirty="0">
                          <a:solidFill>
                            <a:schemeClr val="tx1"/>
                          </a:solidFill>
                        </a:rPr>
                        <a:t>Knows “A is B”, not “B is A”</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Only ever trained left to right</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Fine-tune on both directions</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bg1"/>
                          </a:solidFill>
                        </a:rPr>
                        <a:t>2</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2"/>
                    </a:solidFill>
                  </a:tcPr>
                </a:tc>
              </a:tr>
              <a:tr h="512064">
                <a:tc>
                  <a:txBody>
                    <a:bodyPr/>
                    <a:lstStyle/>
                    <a:p>
                      <a:pPr indent="0" marL="0">
                        <a:buNone/>
                      </a:pPr>
                      <a:r>
                        <a:rPr lang="en-US" sz="1300" b="1" dirty="0">
                          <a:solidFill>
                            <a:schemeClr val="tx1"/>
                          </a:solidFill>
                        </a:rPr>
                        <a:t>Can't count letters</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BPE tokens, not characters</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Tool use: run code</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3</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3"/>
                    </a:solidFill>
                  </a:tcPr>
                </a:tc>
              </a:tr>
              <a:tr h="512064">
                <a:tc>
                  <a:txBody>
                    <a:bodyPr/>
                    <a:lstStyle/>
                    <a:p>
                      <a:pPr indent="0" marL="0">
                        <a:buNone/>
                      </a:pPr>
                      <a:r>
                        <a:rPr lang="en-US" sz="1300" b="1" dirty="0">
                          <a:solidFill>
                            <a:schemeClr val="tx1"/>
                          </a:solidFill>
                        </a:rPr>
                        <a:t>Poor from scratch on small data</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Weak inductive bias</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Fine-tune a pretrained model</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bg1"/>
                          </a:solidFill>
                        </a:rPr>
                        <a:t>3</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3"/>
                    </a:solidFill>
                  </a:tcPr>
                </a:tc>
              </a:tr>
              <a:tr h="512064">
                <a:tc>
                  <a:txBody>
                    <a:bodyPr/>
                    <a:lstStyle/>
                    <a:p>
                      <a:pPr indent="0" marL="0">
                        <a:buNone/>
                      </a:pPr>
                      <a:r>
                        <a:rPr lang="en-US" sz="1300" b="1" dirty="0">
                          <a:solidFill>
                            <a:schemeClr val="tx1"/>
                          </a:solidFill>
                        </a:rPr>
                        <a:t>Fails hard problems answered directly</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Same compute per token</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Reasoning tokens (CoT)</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5</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r>
              <a:tr h="512064">
                <a:tc>
                  <a:txBody>
                    <a:bodyPr/>
                    <a:lstStyle/>
                    <a:p>
                      <a:pPr indent="0" marL="0">
                        <a:buNone/>
                      </a:pPr>
                      <a:r>
                        <a:rPr lang="en-US" sz="1300" b="1" dirty="0">
                          <a:solidFill>
                            <a:schemeClr val="tx1"/>
                          </a:solidFill>
                        </a:rPr>
                        <a:t>Latency floor per output token</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Decode is memory-bound</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Batching, quantisation, speculative decoding</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bg1"/>
                          </a:solidFill>
                        </a:rPr>
                        <a:t>5</a:t>
                      </a:r>
                      <a:endParaRPr lang="en-US" sz="1300" dirty="0"/>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r>
            </a:tbl>
          </a:graphicData>
        </a:graphic>
      </p:graphicFrame>
      <p:sp>
        <p:nvSpPr>
          <p:cNvPr id="4" name="Text 1"/>
          <p:cNvSpPr txBox="1"/>
          <p:nvPr/>
        </p:nvSpPr>
        <p:spPr>
          <a:xfrm>
            <a:off x="6583680" y="6400800"/>
            <a:ext cx="4389120" cy="274320"/>
          </a:xfrm>
          <a:prstGeom prst="rect">
            <a:avLst/>
          </a:prstGeom>
          <a:noFill/>
          <a:ln/>
        </p:spPr>
        <p:txBody>
          <a:bodyPr wrap="square" lIns="0" tIns="0" rIns="0" bIns="0" rtlCol="0" anchor="ctr"/>
          <a:lstStyle/>
          <a:p>
            <a:pPr algn="r" indent="0" marL="0">
              <a:buNone/>
            </a:pPr>
            <a:r>
              <a:rPr lang="en-US" sz="1000" u="sng" dirty="0">
                <a:solidFill>
                  <a:srgbClr val="000000"/>
                </a:solidFill>
                <a:hlinkClick r:id="rId1" invalidUrl="" action="" tgtFrame="" tooltip="Open this section of the summary page" history="1" highlightClick="0" endSnd="0">
                  <a:extLst>
                    <a:ext uri="{A12FA001-AC4F-418D-AE19-62706E023703}">
                      <ahyp:hlinkClr xmlns:ahyp="http://schemas.microsoft.com/office/drawing/2018/hyperlinkcolor" val="tx"/>
                    </a:ext>
                  </a:extLst>
                </a:hlinkClick>
              </a:rPr>
              <a:t>In the summary: §4 production limits ↗</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418320" cy="868680"/>
          </a:xfrm>
          <a:prstGeom prst="rect">
            <a:avLst/>
          </a:prstGeom>
          <a:noFill/>
          <a:ln/>
        </p:spPr>
        <p:txBody>
          <a:bodyPr wrap="square" lIns="0" tIns="0" rIns="0" bIns="0" rtlCol="0" anchor="ctr"/>
          <a:lstStyle/>
          <a:p>
            <a:pPr algn="l" indent="0" marL="0">
              <a:buNone/>
            </a:pPr>
            <a:r>
              <a:rPr lang="en-US" sz="3000" b="1" dirty="0">
                <a:solidFill>
                  <a:schemeClr val="tx1"/>
                </a:solidFill>
              </a:rPr>
              <a:t>Two ways to remember the past</a:t>
            </a:r>
            <a:endParaRPr lang="en-US" sz="3000" dirty="0"/>
          </a:p>
        </p:txBody>
      </p:sp>
      <p:sp>
        <p:nvSpPr>
          <p:cNvPr id="3" name="Idea chip"/>
          <p:cNvSpPr/>
          <p:nvPr/>
        </p:nvSpPr>
        <p:spPr>
          <a:xfrm>
            <a:off x="10378440" y="548640"/>
            <a:ext cx="1261872" cy="384048"/>
          </a:xfrm>
          <a:prstGeom prst="roundRect">
            <a:avLst>
              <a:gd name="adj" fmla="val 50000"/>
            </a:avLst>
          </a:prstGeom>
          <a:solidFill>
            <a:schemeClr val="accent4"/>
          </a:solidFill>
          <a:ln/>
        </p:spPr>
      </p:sp>
      <p:sp>
        <p:nvSpPr>
          <p:cNvPr id="4" name="Text 2"/>
          <p:cNvSpPr txBox="1"/>
          <p:nvPr/>
        </p:nvSpPr>
        <p:spPr>
          <a:xfrm>
            <a:off x="10378440" y="548640"/>
            <a:ext cx="1261872" cy="384048"/>
          </a:xfrm>
          <a:prstGeom prst="rect">
            <a:avLst/>
          </a:prstGeom>
          <a:noFill/>
          <a:ln/>
        </p:spPr>
        <p:txBody>
          <a:bodyPr wrap="square" lIns="0" tIns="0" rIns="0" bIns="0" rtlCol="0" anchor="ctr"/>
          <a:lstStyle/>
          <a:p>
            <a:pPr algn="ctr" indent="0" marL="0">
              <a:buNone/>
            </a:pPr>
            <a:r>
              <a:rPr lang="en-US" sz="1300" b="1" spc="200" kern="0" dirty="0">
                <a:solidFill>
                  <a:schemeClr val="bg1"/>
                </a:solidFill>
              </a:rPr>
              <a:t>IDEA 4</a:t>
            </a:r>
            <a:endParaRPr lang="en-US" sz="1300" dirty="0"/>
          </a:p>
        </p:txBody>
      </p:sp>
      <p:pic>
        <p:nvPicPr>
          <p:cNvPr id="5" name="Diagram context_memory_kv_vs_state" descr="Attention KV cache grows with tokens while Mamba keeps a fixed-size state">    </p:cNvPr>
          <p:cNvPicPr>
            <a:picLocks noChangeAspect="1"/>
          </p:cNvPicPr>
          <p:nvPr/>
        </p:nvPicPr>
        <p:blipFill>
          <a:blip r:embed="rId1"/>
          <a:stretch>
            <a:fillRect/>
          </a:stretch>
        </p:blipFill>
        <p:spPr>
          <a:xfrm>
            <a:off x="457200" y="1325880"/>
            <a:ext cx="7680960" cy="3091118"/>
          </a:xfrm>
          <a:prstGeom prst="rect">
            <a:avLst/>
          </a:prstGeom>
        </p:spPr>
      </p:pic>
      <p:sp>
        <p:nvSpPr>
          <p:cNvPr id="6" name="Card"/>
          <p:cNvSpPr/>
          <p:nvPr/>
        </p:nvSpPr>
        <p:spPr>
          <a:xfrm>
            <a:off x="8001000" y="1463040"/>
            <a:ext cx="3639312" cy="1463040"/>
          </a:xfrm>
          <a:prstGeom prst="roundRect">
            <a:avLst>
              <a:gd name="adj" fmla="val 7500"/>
            </a:avLst>
          </a:prstGeom>
          <a:solidFill>
            <a:schemeClr val="bg2"/>
          </a:solidFill>
          <a:ln/>
        </p:spPr>
      </p:sp>
      <p:sp>
        <p:nvSpPr>
          <p:cNvPr id="7" name="Text 4"/>
          <p:cNvSpPr txBox="1"/>
          <p:nvPr/>
        </p:nvSpPr>
        <p:spPr>
          <a:xfrm>
            <a:off x="8275320" y="1645920"/>
            <a:ext cx="3154680" cy="1188720"/>
          </a:xfrm>
          <a:prstGeom prst="rect">
            <a:avLst/>
          </a:prstGeom>
          <a:noFill/>
          <a:ln/>
        </p:spPr>
        <p:txBody>
          <a:bodyPr wrap="square" lIns="0" tIns="0" rIns="0" bIns="0" rtlCol="0" anchor="t"/>
          <a:lstStyle/>
          <a:p>
            <a:pPr indent="0" marL="0">
              <a:buNone/>
            </a:pPr>
            <a:r>
              <a:rPr lang="en-US" sz="1600" b="1" dirty="0">
                <a:solidFill>
                  <a:schemeClr val="tx1"/>
                </a:solidFill>
              </a:rPr>
              <a:t>Exact retrieval matters?</a:t>
            </a:r>
            <a:endParaRPr lang="en-US" sz="1600" dirty="0"/>
          </a:p>
          <a:p>
            <a:pPr indent="0" marL="0">
              <a:buNone/>
            </a:pPr>
            <a:r>
              <a:rPr lang="en-US" sz="1600" dirty="0">
                <a:solidFill>
                  <a:schemeClr val="tx2"/>
                </a:solidFill>
              </a:rPr>
              <a:t>Code, RAG, long documents: favour attention.</a:t>
            </a:r>
            <a:endParaRPr lang="en-US" sz="1600" dirty="0"/>
          </a:p>
        </p:txBody>
      </p:sp>
      <p:sp>
        <p:nvSpPr>
          <p:cNvPr id="8" name="Card"/>
          <p:cNvSpPr/>
          <p:nvPr/>
        </p:nvSpPr>
        <p:spPr>
          <a:xfrm>
            <a:off x="8001000" y="3108960"/>
            <a:ext cx="3639312" cy="1463040"/>
          </a:xfrm>
          <a:prstGeom prst="roundRect">
            <a:avLst>
              <a:gd name="adj" fmla="val 7500"/>
            </a:avLst>
          </a:prstGeom>
          <a:solidFill>
            <a:schemeClr val="bg2"/>
          </a:solidFill>
          <a:ln/>
        </p:spPr>
      </p:sp>
      <p:sp>
        <p:nvSpPr>
          <p:cNvPr id="9" name="Text 6"/>
          <p:cNvSpPr txBox="1"/>
          <p:nvPr/>
        </p:nvSpPr>
        <p:spPr>
          <a:xfrm>
            <a:off x="8275320" y="3291840"/>
            <a:ext cx="3154680" cy="1188720"/>
          </a:xfrm>
          <a:prstGeom prst="rect">
            <a:avLst/>
          </a:prstGeom>
          <a:noFill/>
          <a:ln/>
        </p:spPr>
        <p:txBody>
          <a:bodyPr wrap="square" lIns="0" tIns="0" rIns="0" bIns="0" rtlCol="0" anchor="t"/>
          <a:lstStyle/>
          <a:p>
            <a:pPr indent="0" marL="0">
              <a:buNone/>
            </a:pPr>
            <a:r>
              <a:rPr lang="en-US" sz="1600" b="1" dirty="0">
                <a:solidFill>
                  <a:schemeClr val="tx1"/>
                </a:solidFill>
              </a:rPr>
              <a:t>Very long or streaming input?</a:t>
            </a:r>
            <a:endParaRPr lang="en-US" sz="1600" dirty="0"/>
          </a:p>
          <a:p>
            <a:pPr indent="0" marL="0">
              <a:buNone/>
            </a:pPr>
            <a:r>
              <a:rPr lang="en-US" sz="1600" dirty="0">
                <a:solidFill>
                  <a:schemeClr val="tx2"/>
                </a:solidFill>
              </a:rPr>
              <a:t>Some loss is fine: favour SSMs or hybrids like Jamba.</a:t>
            </a:r>
            <a:endParaRPr lang="en-US" sz="1600" dirty="0"/>
          </a:p>
        </p:txBody>
      </p:sp>
      <p:sp>
        <p:nvSpPr>
          <p:cNvPr id="10" name="Text 7"/>
          <p:cNvSpPr txBox="1"/>
          <p:nvPr/>
        </p:nvSpPr>
        <p:spPr>
          <a:xfrm>
            <a:off x="548640" y="5760720"/>
            <a:ext cx="7315200" cy="457200"/>
          </a:xfrm>
          <a:prstGeom prst="rect">
            <a:avLst/>
          </a:prstGeom>
          <a:noFill/>
          <a:ln/>
        </p:spPr>
        <p:txBody>
          <a:bodyPr wrap="square" lIns="0" tIns="0" rIns="0" bIns="0" rtlCol="0" anchor="t"/>
          <a:lstStyle/>
          <a:p>
            <a:pPr indent="0" marL="0">
              <a:buNone/>
            </a:pPr>
            <a:r>
              <a:rPr lang="en-US" sz="1400" i="1" dirty="0">
                <a:solidFill>
                  <a:schemeClr val="tx2"/>
                </a:solidFill>
              </a:rPr>
              <a:t>Mamba's real contribution: what gets written into the state depends on the input.</a:t>
            </a:r>
            <a:endParaRPr lang="en-US" sz="1400" dirty="0"/>
          </a:p>
        </p:txBody>
      </p:sp>
      <p:sp>
        <p:nvSpPr>
          <p:cNvPr id="11" name="Text 8"/>
          <p:cNvSpPr txBox="1"/>
          <p:nvPr/>
        </p:nvSpPr>
        <p:spPr>
          <a:xfrm>
            <a:off x="6583680" y="6400800"/>
            <a:ext cx="4389120" cy="274320"/>
          </a:xfrm>
          <a:prstGeom prst="rect">
            <a:avLst/>
          </a:prstGeom>
          <a:noFill/>
          <a:ln/>
        </p:spPr>
        <p:txBody>
          <a:bodyPr wrap="square" lIns="0" tIns="0" rIns="0" bIns="0" rtlCol="0" anchor="ctr"/>
          <a:lstStyle/>
          <a:p>
            <a:pPr algn="r" indent="0" marL="0">
              <a:buNone/>
            </a:pPr>
            <a:r>
              <a:rPr lang="en-US" sz="1000" u="sng" dirty="0">
                <a:solidFill>
                  <a:srgbClr val="000000"/>
                </a:solidFill>
                <a:hlinkClick r:id="rId2" invalidUrl="" action="" tgtFrame="" tooltip="Open this section of the summary page" history="1" highlightClick="0" endSnd="0">
                  <a:extLst>
                    <a:ext uri="{A12FA001-AC4F-418D-AE19-62706E023703}">
                      <ahyp:hlinkClr xmlns:ahyp="http://schemas.microsoft.com/office/drawing/2018/hyperlinkcolor" val="tx"/>
                    </a:ext>
                  </a:extLst>
                </a:hlinkClick>
              </a:rPr>
              <a:t>In the summary: §4 Idea 4 ↗</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418320" cy="868680"/>
          </a:xfrm>
          <a:prstGeom prst="rect">
            <a:avLst/>
          </a:prstGeom>
          <a:noFill/>
          <a:ln/>
        </p:spPr>
        <p:txBody>
          <a:bodyPr wrap="square" lIns="0" tIns="0" rIns="0" bIns="0" rtlCol="0" anchor="ctr"/>
          <a:lstStyle/>
          <a:p>
            <a:pPr algn="l" indent="0" marL="0">
              <a:buNone/>
            </a:pPr>
            <a:r>
              <a:rPr lang="en-US" sz="3000" b="1" dirty="0">
                <a:solidFill>
                  <a:schemeClr val="tx1"/>
                </a:solidFill>
              </a:rPr>
              <a:t>Assumptions save data, then become a ceiling</a:t>
            </a:r>
            <a:endParaRPr lang="en-US" sz="3000" dirty="0"/>
          </a:p>
        </p:txBody>
      </p:sp>
      <p:sp>
        <p:nvSpPr>
          <p:cNvPr id="3" name="Idea chip"/>
          <p:cNvSpPr/>
          <p:nvPr/>
        </p:nvSpPr>
        <p:spPr>
          <a:xfrm>
            <a:off x="10378440" y="548640"/>
            <a:ext cx="1261872" cy="384048"/>
          </a:xfrm>
          <a:prstGeom prst="roundRect">
            <a:avLst>
              <a:gd name="adj" fmla="val 50000"/>
            </a:avLst>
          </a:prstGeom>
          <a:solidFill>
            <a:schemeClr val="accent3"/>
          </a:solidFill>
          <a:ln/>
        </p:spPr>
      </p:sp>
      <p:sp>
        <p:nvSpPr>
          <p:cNvPr id="4" name="Text 2"/>
          <p:cNvSpPr txBox="1"/>
          <p:nvPr/>
        </p:nvSpPr>
        <p:spPr>
          <a:xfrm>
            <a:off x="10378440" y="548640"/>
            <a:ext cx="1261872" cy="384048"/>
          </a:xfrm>
          <a:prstGeom prst="rect">
            <a:avLst/>
          </a:prstGeom>
          <a:noFill/>
          <a:ln/>
        </p:spPr>
        <p:txBody>
          <a:bodyPr wrap="square" lIns="0" tIns="0" rIns="0" bIns="0" rtlCol="0" anchor="ctr"/>
          <a:lstStyle/>
          <a:p>
            <a:pPr algn="ctr" indent="0" marL="0">
              <a:buNone/>
            </a:pPr>
            <a:r>
              <a:rPr lang="en-US" sz="1300" b="1" spc="200" kern="0" dirty="0">
                <a:solidFill>
                  <a:schemeClr val="bg1"/>
                </a:solidFill>
              </a:rPr>
              <a:t>IDEA 3</a:t>
            </a:r>
            <a:endParaRPr lang="en-US" sz="1300" dirty="0"/>
          </a:p>
        </p:txBody>
      </p:sp>
      <p:sp>
        <p:nvSpPr>
          <p:cNvPr id="5" name="Card"/>
          <p:cNvSpPr/>
          <p:nvPr/>
        </p:nvSpPr>
        <p:spPr>
          <a:xfrm>
            <a:off x="548640" y="1463040"/>
            <a:ext cx="5440680" cy="1463040"/>
          </a:xfrm>
          <a:prstGeom prst="roundRect">
            <a:avLst>
              <a:gd name="adj" fmla="val 7500"/>
            </a:avLst>
          </a:prstGeom>
          <a:solidFill>
            <a:schemeClr val="bg2"/>
          </a:solidFill>
          <a:ln/>
        </p:spPr>
      </p:sp>
      <p:sp>
        <p:nvSpPr>
          <p:cNvPr id="6" name="Text 4"/>
          <p:cNvSpPr txBox="1"/>
          <p:nvPr/>
        </p:nvSpPr>
        <p:spPr>
          <a:xfrm>
            <a:off x="868680" y="1645920"/>
            <a:ext cx="4846320" cy="1188720"/>
          </a:xfrm>
          <a:prstGeom prst="rect">
            <a:avLst/>
          </a:prstGeom>
          <a:noFill/>
          <a:ln/>
        </p:spPr>
        <p:txBody>
          <a:bodyPr wrap="square" lIns="0" tIns="0" rIns="0" bIns="0" rtlCol="0" anchor="t"/>
          <a:lstStyle/>
          <a:p>
            <a:pPr indent="0" marL="0">
              <a:buNone/>
            </a:pPr>
            <a:r>
              <a:rPr lang="en-US" sz="2000" b="1" dirty="0">
                <a:solidFill>
                  <a:schemeClr val="accent3"/>
                </a:solidFill>
              </a:rPr>
              <a:t>ResNet (CNN)</a:t>
            </a:r>
            <a:endParaRPr lang="en-US" sz="1600" dirty="0"/>
          </a:p>
          <a:p>
            <a:pPr indent="0" marL="0">
              <a:buNone/>
            </a:pPr>
            <a:r>
              <a:rPr lang="en-US" sz="1600" dirty="0">
                <a:solidFill>
                  <a:schemeClr val="tx1"/>
                </a:solidFill>
              </a:rPr>
              <a:t>Assumes locality and weight sharing. Very data-efficient.</a:t>
            </a:r>
            <a:endParaRPr lang="en-US" sz="1600" dirty="0"/>
          </a:p>
        </p:txBody>
      </p:sp>
      <p:sp>
        <p:nvSpPr>
          <p:cNvPr id="7" name="Card"/>
          <p:cNvSpPr/>
          <p:nvPr/>
        </p:nvSpPr>
        <p:spPr>
          <a:xfrm>
            <a:off x="6199632" y="1463040"/>
            <a:ext cx="5440680" cy="1463040"/>
          </a:xfrm>
          <a:prstGeom prst="roundRect">
            <a:avLst>
              <a:gd name="adj" fmla="val 7500"/>
            </a:avLst>
          </a:prstGeom>
          <a:solidFill>
            <a:schemeClr val="bg2"/>
          </a:solidFill>
          <a:ln/>
        </p:spPr>
      </p:sp>
      <p:sp>
        <p:nvSpPr>
          <p:cNvPr id="8" name="Text 6"/>
          <p:cNvSpPr txBox="1"/>
          <p:nvPr/>
        </p:nvSpPr>
        <p:spPr>
          <a:xfrm>
            <a:off x="6519672" y="1645920"/>
            <a:ext cx="4846320" cy="1188720"/>
          </a:xfrm>
          <a:prstGeom prst="rect">
            <a:avLst/>
          </a:prstGeom>
          <a:noFill/>
          <a:ln/>
        </p:spPr>
        <p:txBody>
          <a:bodyPr wrap="square" lIns="0" tIns="0" rIns="0" bIns="0" rtlCol="0" anchor="t"/>
          <a:lstStyle/>
          <a:p>
            <a:pPr indent="0" marL="0">
              <a:buNone/>
            </a:pPr>
            <a:r>
              <a:rPr lang="en-US" sz="2000" b="1" dirty="0">
                <a:solidFill>
                  <a:schemeClr val="accent3"/>
                </a:solidFill>
              </a:rPr>
              <a:t>ViT</a:t>
            </a:r>
            <a:endParaRPr lang="en-US" sz="1600" dirty="0"/>
          </a:p>
          <a:p>
            <a:pPr indent="0" marL="0">
              <a:buNone/>
            </a:pPr>
            <a:r>
              <a:rPr lang="en-US" sz="1600" dirty="0">
                <a:solidFill>
                  <a:schemeClr val="tx1"/>
                </a:solidFill>
              </a:rPr>
              <a:t>Assumes almost nothing. Loses to ResNet on ImageNet-1k alone; wins after pretraining on JFT-300M.</a:t>
            </a:r>
            <a:endParaRPr lang="en-US" sz="1600" dirty="0"/>
          </a:p>
        </p:txBody>
      </p:sp>
      <p:sp>
        <p:nvSpPr>
          <p:cNvPr id="9" name="Card"/>
          <p:cNvSpPr/>
          <p:nvPr/>
        </p:nvSpPr>
        <p:spPr>
          <a:xfrm>
            <a:off x="548640" y="3154680"/>
            <a:ext cx="3520440" cy="1143000"/>
          </a:xfrm>
          <a:prstGeom prst="roundRect">
            <a:avLst>
              <a:gd name="adj" fmla="val 9600"/>
            </a:avLst>
          </a:prstGeom>
          <a:solidFill>
            <a:schemeClr val="bg2"/>
          </a:solidFill>
          <a:ln/>
        </p:spPr>
      </p:sp>
      <p:sp>
        <p:nvSpPr>
          <p:cNvPr id="10" name="Text 8"/>
          <p:cNvSpPr txBox="1"/>
          <p:nvPr/>
        </p:nvSpPr>
        <p:spPr>
          <a:xfrm>
            <a:off x="822960" y="3291840"/>
            <a:ext cx="3017520" cy="914400"/>
          </a:xfrm>
          <a:prstGeom prst="rect">
            <a:avLst/>
          </a:prstGeom>
          <a:noFill/>
          <a:ln/>
        </p:spPr>
        <p:txBody>
          <a:bodyPr wrap="square" lIns="0" tIns="0" rIns="0" bIns="0" rtlCol="0" anchor="t"/>
          <a:lstStyle/>
          <a:p>
            <a:pPr indent="0" marL="0">
              <a:buNone/>
            </a:pPr>
            <a:r>
              <a:rPr lang="en-US" sz="1500" b="1" dirty="0">
                <a:solidFill>
                  <a:schemeClr val="tx1"/>
                </a:solidFill>
              </a:rPr>
              <a:t>Transformer</a:t>
            </a:r>
            <a:endParaRPr lang="en-US" sz="1500" dirty="0"/>
          </a:p>
          <a:p>
            <a:pPr indent="0" marL="0">
              <a:buNone/>
            </a:pPr>
            <a:r>
              <a:rPr lang="en-US" sz="1500" dirty="0">
                <a:solidFill>
                  <a:schemeClr val="tx2"/>
                </a:solidFill>
              </a:rPr>
              <a:t>word order via positional encoding; BPE units</a:t>
            </a:r>
            <a:endParaRPr lang="en-US" sz="1500" dirty="0"/>
          </a:p>
        </p:txBody>
      </p:sp>
      <p:sp>
        <p:nvSpPr>
          <p:cNvPr id="11" name="Card"/>
          <p:cNvSpPr/>
          <p:nvPr/>
        </p:nvSpPr>
        <p:spPr>
          <a:xfrm>
            <a:off x="4297680" y="3154680"/>
            <a:ext cx="3520440" cy="1143000"/>
          </a:xfrm>
          <a:prstGeom prst="roundRect">
            <a:avLst>
              <a:gd name="adj" fmla="val 9600"/>
            </a:avLst>
          </a:prstGeom>
          <a:solidFill>
            <a:schemeClr val="bg2"/>
          </a:solidFill>
          <a:ln/>
        </p:spPr>
      </p:sp>
      <p:sp>
        <p:nvSpPr>
          <p:cNvPr id="12" name="Text 10"/>
          <p:cNvSpPr txBox="1"/>
          <p:nvPr/>
        </p:nvSpPr>
        <p:spPr>
          <a:xfrm>
            <a:off x="4572000" y="3291840"/>
            <a:ext cx="3017520" cy="914400"/>
          </a:xfrm>
          <a:prstGeom prst="rect">
            <a:avLst/>
          </a:prstGeom>
          <a:noFill/>
          <a:ln/>
        </p:spPr>
        <p:txBody>
          <a:bodyPr wrap="square" lIns="0" tIns="0" rIns="0" bIns="0" rtlCol="0" anchor="t"/>
          <a:lstStyle/>
          <a:p>
            <a:pPr indent="0" marL="0">
              <a:buNone/>
            </a:pPr>
            <a:r>
              <a:rPr lang="en-US" sz="1500" b="1" dirty="0">
                <a:solidFill>
                  <a:schemeClr val="tx1"/>
                </a:solidFill>
              </a:rPr>
              <a:t>Mamba</a:t>
            </a:r>
            <a:endParaRPr lang="en-US" sz="1500" dirty="0"/>
          </a:p>
          <a:p>
            <a:pPr indent="0" marL="0">
              <a:buNone/>
            </a:pPr>
            <a:r>
              <a:rPr lang="en-US" sz="1500" dirty="0">
                <a:solidFill>
                  <a:schemeClr val="tx2"/>
                </a:solidFill>
              </a:rPr>
              <a:t>history fits in a fixed-size state</a:t>
            </a:r>
            <a:endParaRPr lang="en-US" sz="1500" dirty="0"/>
          </a:p>
        </p:txBody>
      </p:sp>
      <p:sp>
        <p:nvSpPr>
          <p:cNvPr id="13" name="Card"/>
          <p:cNvSpPr/>
          <p:nvPr/>
        </p:nvSpPr>
        <p:spPr>
          <a:xfrm>
            <a:off x="8046720" y="3154680"/>
            <a:ext cx="3520440" cy="1143000"/>
          </a:xfrm>
          <a:prstGeom prst="roundRect">
            <a:avLst>
              <a:gd name="adj" fmla="val 9600"/>
            </a:avLst>
          </a:prstGeom>
          <a:solidFill>
            <a:schemeClr val="bg2"/>
          </a:solidFill>
          <a:ln/>
        </p:spPr>
      </p:sp>
      <p:sp>
        <p:nvSpPr>
          <p:cNvPr id="14" name="Text 12"/>
          <p:cNvSpPr txBox="1"/>
          <p:nvPr/>
        </p:nvSpPr>
        <p:spPr>
          <a:xfrm>
            <a:off x="8321040" y="3291840"/>
            <a:ext cx="3017520" cy="914400"/>
          </a:xfrm>
          <a:prstGeom prst="rect">
            <a:avLst/>
          </a:prstGeom>
          <a:noFill/>
          <a:ln/>
        </p:spPr>
        <p:txBody>
          <a:bodyPr wrap="square" lIns="0" tIns="0" rIns="0" bIns="0" rtlCol="0" anchor="t"/>
          <a:lstStyle/>
          <a:p>
            <a:pPr indent="0" marL="0">
              <a:buNone/>
            </a:pPr>
            <a:r>
              <a:rPr lang="en-US" sz="1500" b="1" dirty="0">
                <a:solidFill>
                  <a:schemeClr val="tx1"/>
                </a:solidFill>
              </a:rPr>
              <a:t>MoE</a:t>
            </a:r>
            <a:endParaRPr lang="en-US" sz="1500" dirty="0"/>
          </a:p>
          <a:p>
            <a:pPr indent="0" marL="0">
              <a:buNone/>
            </a:pPr>
            <a:r>
              <a:rPr lang="en-US" sz="1500" dirty="0">
                <a:solidFill>
                  <a:schemeClr val="tx2"/>
                </a:solidFill>
              </a:rPr>
              <a:t>inputs fall into groups experts can own</a:t>
            </a:r>
            <a:endParaRPr lang="en-US" sz="1500" dirty="0"/>
          </a:p>
        </p:txBody>
      </p:sp>
      <p:sp>
        <p:nvSpPr>
          <p:cNvPr id="15" name="Card"/>
          <p:cNvSpPr/>
          <p:nvPr/>
        </p:nvSpPr>
        <p:spPr>
          <a:xfrm>
            <a:off x="548640" y="4526280"/>
            <a:ext cx="11091672" cy="960120"/>
          </a:xfrm>
          <a:prstGeom prst="roundRect">
            <a:avLst>
              <a:gd name="adj" fmla="val 11429"/>
            </a:avLst>
          </a:prstGeom>
          <a:solidFill>
            <a:schemeClr val="tx1"/>
          </a:solidFill>
          <a:ln/>
        </p:spPr>
      </p:sp>
      <p:sp>
        <p:nvSpPr>
          <p:cNvPr id="16" name="Text 14"/>
          <p:cNvSpPr txBox="1"/>
          <p:nvPr/>
        </p:nvSpPr>
        <p:spPr>
          <a:xfrm>
            <a:off x="868680" y="4526280"/>
            <a:ext cx="10515600" cy="960120"/>
          </a:xfrm>
          <a:prstGeom prst="rect">
            <a:avLst/>
          </a:prstGeom>
          <a:noFill/>
          <a:ln/>
        </p:spPr>
        <p:txBody>
          <a:bodyPr wrap="square" lIns="0" tIns="0" rIns="0" bIns="0" rtlCol="0" anchor="ctr"/>
          <a:lstStyle/>
          <a:p>
            <a:pPr indent="0" marL="0">
              <a:buNone/>
            </a:pPr>
            <a:r>
              <a:rPr lang="en-US" sz="1600" b="1" dirty="0">
                <a:solidFill>
                  <a:schemeClr val="accent6"/>
                </a:solidFill>
              </a:rPr>
              <a:t>Rule: </a:t>
            </a:r>
            <a:pPr indent="0" marL="0">
              <a:buNone/>
            </a:pPr>
            <a:r>
              <a:rPr lang="en-US" sz="1600" dirty="0">
                <a:solidFill>
                  <a:schemeClr val="bg1"/>
                </a:solidFill>
              </a:rPr>
              <a:t>little data, buy assumptions. Lots of data, drop them. And check recipes were equal before you believe an architecture win.</a:t>
            </a:r>
            <a:endParaRPr lang="en-US" sz="1600" dirty="0"/>
          </a:p>
        </p:txBody>
      </p:sp>
      <p:sp>
        <p:nvSpPr>
          <p:cNvPr id="17" name="Text 15"/>
          <p:cNvSpPr txBox="1"/>
          <p:nvPr/>
        </p:nvSpPr>
        <p:spPr>
          <a:xfrm>
            <a:off x="6583680" y="6400800"/>
            <a:ext cx="4389120" cy="274320"/>
          </a:xfrm>
          <a:prstGeom prst="rect">
            <a:avLst/>
          </a:prstGeom>
          <a:noFill/>
          <a:ln/>
        </p:spPr>
        <p:txBody>
          <a:bodyPr wrap="square" lIns="0" tIns="0" rIns="0" bIns="0" rtlCol="0" anchor="ctr"/>
          <a:lstStyle/>
          <a:p>
            <a:pPr algn="r" indent="0" marL="0">
              <a:buNone/>
            </a:pPr>
            <a:r>
              <a:rPr lang="en-US" sz="1000" u="sng" dirty="0">
                <a:solidFill>
                  <a:srgbClr val="000000"/>
                </a:solidFill>
                <a:hlinkClick r:id="rId1" invalidUrl="" action="" tgtFrame="" tooltip="Open this section of the summary page" history="1" highlightClick="0" endSnd="0">
                  <a:extLst>
                    <a:ext uri="{A12FA001-AC4F-418D-AE19-62706E023703}">
                      <ahyp:hlinkClr xmlns:ahyp="http://schemas.microsoft.com/office/drawing/2018/hyperlinkcolor" val="tx"/>
                    </a:ext>
                  </a:extLst>
                </a:hlinkClick>
              </a:rPr>
              <a:t>In the summary: §4 Idea 3 ↗</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418320" cy="868680"/>
          </a:xfrm>
          <a:prstGeom prst="rect">
            <a:avLst/>
          </a:prstGeom>
          <a:noFill/>
          <a:ln/>
        </p:spPr>
        <p:txBody>
          <a:bodyPr wrap="square" lIns="0" tIns="0" rIns="0" bIns="0" rtlCol="0" anchor="ctr"/>
          <a:lstStyle/>
          <a:p>
            <a:pPr algn="l" indent="0" marL="0">
              <a:buNone/>
            </a:pPr>
            <a:r>
              <a:rPr lang="en-US" sz="3000" b="1" dirty="0">
                <a:solidFill>
                  <a:schemeClr val="tx1"/>
                </a:solidFill>
              </a:rPr>
              <a:t>Six numbers to cost a design before you build it</a:t>
            </a:r>
            <a:endParaRPr lang="en-US" sz="3000" dirty="0"/>
          </a:p>
        </p:txBody>
      </p:sp>
      <p:sp>
        <p:nvSpPr>
          <p:cNvPr id="3" name="Idea chip"/>
          <p:cNvSpPr/>
          <p:nvPr/>
        </p:nvSpPr>
        <p:spPr>
          <a:xfrm>
            <a:off x="10378440" y="548640"/>
            <a:ext cx="1261872" cy="384048"/>
          </a:xfrm>
          <a:prstGeom prst="roundRect">
            <a:avLst>
              <a:gd name="adj" fmla="val 50000"/>
            </a:avLst>
          </a:prstGeom>
          <a:solidFill>
            <a:schemeClr val="accent5"/>
          </a:solidFill>
          <a:ln/>
        </p:spPr>
      </p:sp>
      <p:sp>
        <p:nvSpPr>
          <p:cNvPr id="4" name="Text 2"/>
          <p:cNvSpPr txBox="1"/>
          <p:nvPr/>
        </p:nvSpPr>
        <p:spPr>
          <a:xfrm>
            <a:off x="10378440" y="548640"/>
            <a:ext cx="1261872" cy="384048"/>
          </a:xfrm>
          <a:prstGeom prst="rect">
            <a:avLst/>
          </a:prstGeom>
          <a:noFill/>
          <a:ln/>
        </p:spPr>
        <p:txBody>
          <a:bodyPr wrap="square" lIns="0" tIns="0" rIns="0" bIns="0" rtlCol="0" anchor="ctr"/>
          <a:lstStyle/>
          <a:p>
            <a:pPr algn="ctr" indent="0" marL="0">
              <a:buNone/>
            </a:pPr>
            <a:r>
              <a:rPr lang="en-US" sz="1300" b="1" spc="200" kern="0" dirty="0">
                <a:solidFill>
                  <a:schemeClr val="bg1"/>
                </a:solidFill>
              </a:rPr>
              <a:t>IDEA 5</a:t>
            </a:r>
            <a:endParaRPr lang="en-US" sz="1300" dirty="0"/>
          </a:p>
        </p:txBody>
      </p:sp>
      <p:sp>
        <p:nvSpPr>
          <p:cNvPr id="5" name="Card"/>
          <p:cNvSpPr/>
          <p:nvPr/>
        </p:nvSpPr>
        <p:spPr>
          <a:xfrm>
            <a:off x="548640" y="1417320"/>
            <a:ext cx="3520440" cy="2148840"/>
          </a:xfrm>
          <a:prstGeom prst="roundRect">
            <a:avLst>
              <a:gd name="adj" fmla="val 5106"/>
            </a:avLst>
          </a:prstGeom>
          <a:solidFill>
            <a:schemeClr val="bg2"/>
          </a:solidFill>
          <a:ln/>
        </p:spPr>
      </p:sp>
      <p:sp>
        <p:nvSpPr>
          <p:cNvPr id="6" name="Text 4"/>
          <p:cNvSpPr txBox="1"/>
          <p:nvPr/>
        </p:nvSpPr>
        <p:spPr>
          <a:xfrm>
            <a:off x="822960" y="1600200"/>
            <a:ext cx="3017520" cy="731520"/>
          </a:xfrm>
          <a:prstGeom prst="rect">
            <a:avLst/>
          </a:prstGeom>
          <a:noFill/>
          <a:ln/>
        </p:spPr>
        <p:txBody>
          <a:bodyPr wrap="square" lIns="0" tIns="0" rIns="0" bIns="0" rtlCol="0" anchor="ctr"/>
          <a:lstStyle/>
          <a:p>
            <a:pPr indent="0" marL="0">
              <a:buNone/>
            </a:pPr>
            <a:r>
              <a:rPr lang="en-US" sz="3000" b="1" dirty="0">
                <a:solidFill>
                  <a:schemeClr val="accent5"/>
                </a:solidFill>
                <a:latin typeface="Cambria" pitchFamily="34" charset="0"/>
                <a:ea typeface="Cambria" pitchFamily="34" charset="-122"/>
                <a:cs typeface="Cambria" pitchFamily="34" charset="-120"/>
              </a:rPr>
              <a:t>C ≈ 6ND</a:t>
            </a:r>
            <a:endParaRPr lang="en-US" sz="3000" dirty="0"/>
          </a:p>
        </p:txBody>
      </p:sp>
      <p:sp>
        <p:nvSpPr>
          <p:cNvPr id="7" name="Text 5"/>
          <p:cNvSpPr txBox="1"/>
          <p:nvPr/>
        </p:nvSpPr>
        <p:spPr>
          <a:xfrm>
            <a:off x="822960" y="2377440"/>
            <a:ext cx="3017520" cy="365760"/>
          </a:xfrm>
          <a:prstGeom prst="rect">
            <a:avLst/>
          </a:prstGeom>
          <a:noFill/>
          <a:ln/>
        </p:spPr>
        <p:txBody>
          <a:bodyPr wrap="square" lIns="0" tIns="0" rIns="0" bIns="0" rtlCol="0" anchor="ctr"/>
          <a:lstStyle/>
          <a:p>
            <a:pPr indent="0" marL="0">
              <a:buNone/>
            </a:pPr>
            <a:r>
              <a:rPr lang="en-US" sz="1500" b="1" dirty="0">
                <a:solidFill>
                  <a:schemeClr val="tx1"/>
                </a:solidFill>
              </a:rPr>
              <a:t>Training FLOPs</a:t>
            </a:r>
            <a:endParaRPr lang="en-US" sz="1500" dirty="0"/>
          </a:p>
        </p:txBody>
      </p:sp>
      <p:sp>
        <p:nvSpPr>
          <p:cNvPr id="8" name="Text 6"/>
          <p:cNvSpPr txBox="1"/>
          <p:nvPr/>
        </p:nvSpPr>
        <p:spPr>
          <a:xfrm>
            <a:off x="822960" y="2770632"/>
            <a:ext cx="3017520" cy="685800"/>
          </a:xfrm>
          <a:prstGeom prst="rect">
            <a:avLst/>
          </a:prstGeom>
          <a:noFill/>
          <a:ln/>
        </p:spPr>
        <p:txBody>
          <a:bodyPr wrap="square" lIns="0" tIns="0" rIns="0" bIns="0" rtlCol="0" anchor="t"/>
          <a:lstStyle/>
          <a:p>
            <a:pPr indent="0" marL="0">
              <a:buNone/>
            </a:pPr>
            <a:r>
              <a:rPr lang="en-US" sz="1300" dirty="0">
                <a:solidFill>
                  <a:schemeClr val="tx2"/>
                </a:solidFill>
              </a:rPr>
              <a:t>Llama-2-7B: ≈ 8.1×10²² FLOPs, a normal 39% MFU</a:t>
            </a:r>
            <a:endParaRPr lang="en-US" sz="1300" dirty="0"/>
          </a:p>
        </p:txBody>
      </p:sp>
      <p:sp>
        <p:nvSpPr>
          <p:cNvPr id="9" name="Card"/>
          <p:cNvSpPr/>
          <p:nvPr/>
        </p:nvSpPr>
        <p:spPr>
          <a:xfrm>
            <a:off x="4297680" y="1417320"/>
            <a:ext cx="3520440" cy="2148840"/>
          </a:xfrm>
          <a:prstGeom prst="roundRect">
            <a:avLst>
              <a:gd name="adj" fmla="val 5106"/>
            </a:avLst>
          </a:prstGeom>
          <a:solidFill>
            <a:schemeClr val="bg2"/>
          </a:solidFill>
          <a:ln/>
        </p:spPr>
      </p:sp>
      <p:sp>
        <p:nvSpPr>
          <p:cNvPr id="10" name="Text 8"/>
          <p:cNvSpPr txBox="1"/>
          <p:nvPr/>
        </p:nvSpPr>
        <p:spPr>
          <a:xfrm>
            <a:off x="4572000" y="1600200"/>
            <a:ext cx="3017520" cy="731520"/>
          </a:xfrm>
          <a:prstGeom prst="rect">
            <a:avLst/>
          </a:prstGeom>
          <a:noFill/>
          <a:ln/>
        </p:spPr>
        <p:txBody>
          <a:bodyPr wrap="square" lIns="0" tIns="0" rIns="0" bIns="0" rtlCol="0" anchor="ctr"/>
          <a:lstStyle/>
          <a:p>
            <a:pPr indent="0" marL="0">
              <a:buNone/>
            </a:pPr>
            <a:r>
              <a:rPr lang="en-US" sz="3000" b="1" dirty="0">
                <a:solidFill>
                  <a:schemeClr val="accent5"/>
                </a:solidFill>
                <a:latin typeface="Cambria" pitchFamily="34" charset="0"/>
                <a:ea typeface="Cambria" pitchFamily="34" charset="-122"/>
                <a:cs typeface="Cambria" pitchFamily="34" charset="-120"/>
              </a:rPr>
              <a:t>16 B/param</a:t>
            </a:r>
            <a:endParaRPr lang="en-US" sz="3000" dirty="0"/>
          </a:p>
        </p:txBody>
      </p:sp>
      <p:sp>
        <p:nvSpPr>
          <p:cNvPr id="11" name="Text 9"/>
          <p:cNvSpPr txBox="1"/>
          <p:nvPr/>
        </p:nvSpPr>
        <p:spPr>
          <a:xfrm>
            <a:off x="4572000" y="2377440"/>
            <a:ext cx="3017520" cy="365760"/>
          </a:xfrm>
          <a:prstGeom prst="rect">
            <a:avLst/>
          </a:prstGeom>
          <a:noFill/>
          <a:ln/>
        </p:spPr>
        <p:txBody>
          <a:bodyPr wrap="square" lIns="0" tIns="0" rIns="0" bIns="0" rtlCol="0" anchor="ctr"/>
          <a:lstStyle/>
          <a:p>
            <a:pPr indent="0" marL="0">
              <a:buNone/>
            </a:pPr>
            <a:r>
              <a:rPr lang="en-US" sz="1500" b="1" dirty="0">
                <a:solidFill>
                  <a:schemeClr val="tx1"/>
                </a:solidFill>
              </a:rPr>
              <a:t>Training memory with Adam</a:t>
            </a:r>
            <a:endParaRPr lang="en-US" sz="1500" dirty="0"/>
          </a:p>
        </p:txBody>
      </p:sp>
      <p:sp>
        <p:nvSpPr>
          <p:cNvPr id="12" name="Text 10"/>
          <p:cNvSpPr txBox="1"/>
          <p:nvPr/>
        </p:nvSpPr>
        <p:spPr>
          <a:xfrm>
            <a:off x="4572000" y="2770632"/>
            <a:ext cx="3017520" cy="685800"/>
          </a:xfrm>
          <a:prstGeom prst="rect">
            <a:avLst/>
          </a:prstGeom>
          <a:noFill/>
          <a:ln/>
        </p:spPr>
        <p:txBody>
          <a:bodyPr wrap="square" lIns="0" tIns="0" rIns="0" bIns="0" rtlCol="0" anchor="t"/>
          <a:lstStyle/>
          <a:p>
            <a:pPr indent="0" marL="0">
              <a:buNone/>
            </a:pPr>
            <a:r>
              <a:rPr lang="en-US" sz="1300" dirty="0">
                <a:solidFill>
                  <a:schemeClr val="tx2"/>
                </a:solidFill>
              </a:rPr>
              <a:t>7B needs ≈ 112 GB: shard it</a:t>
            </a:r>
            <a:endParaRPr lang="en-US" sz="1300" dirty="0"/>
          </a:p>
        </p:txBody>
      </p:sp>
      <p:sp>
        <p:nvSpPr>
          <p:cNvPr id="13" name="Card"/>
          <p:cNvSpPr/>
          <p:nvPr/>
        </p:nvSpPr>
        <p:spPr>
          <a:xfrm>
            <a:off x="8046720" y="1417320"/>
            <a:ext cx="3520440" cy="2148840"/>
          </a:xfrm>
          <a:prstGeom prst="roundRect">
            <a:avLst>
              <a:gd name="adj" fmla="val 5106"/>
            </a:avLst>
          </a:prstGeom>
          <a:solidFill>
            <a:schemeClr val="bg2"/>
          </a:solidFill>
          <a:ln/>
        </p:spPr>
      </p:sp>
      <p:sp>
        <p:nvSpPr>
          <p:cNvPr id="14" name="Text 12"/>
          <p:cNvSpPr txBox="1"/>
          <p:nvPr/>
        </p:nvSpPr>
        <p:spPr>
          <a:xfrm>
            <a:off x="8321040" y="1600200"/>
            <a:ext cx="3017520" cy="731520"/>
          </a:xfrm>
          <a:prstGeom prst="rect">
            <a:avLst/>
          </a:prstGeom>
          <a:noFill/>
          <a:ln/>
        </p:spPr>
        <p:txBody>
          <a:bodyPr wrap="square" lIns="0" tIns="0" rIns="0" bIns="0" rtlCol="0" anchor="ctr"/>
          <a:lstStyle/>
          <a:p>
            <a:pPr indent="0" marL="0">
              <a:buNone/>
            </a:pPr>
            <a:r>
              <a:rPr lang="en-US" sz="3000" b="1" dirty="0">
                <a:solidFill>
                  <a:schemeClr val="accent4"/>
                </a:solidFill>
                <a:latin typeface="Cambria" pitchFamily="34" charset="0"/>
                <a:ea typeface="Cambria" pitchFamily="34" charset="-122"/>
                <a:cs typeface="Cambria" pitchFamily="34" charset="-120"/>
              </a:rPr>
              <a:t>0.5 MiB/token</a:t>
            </a:r>
            <a:endParaRPr lang="en-US" sz="3000" dirty="0"/>
          </a:p>
        </p:txBody>
      </p:sp>
      <p:sp>
        <p:nvSpPr>
          <p:cNvPr id="15" name="Text 13"/>
          <p:cNvSpPr txBox="1"/>
          <p:nvPr/>
        </p:nvSpPr>
        <p:spPr>
          <a:xfrm>
            <a:off x="8321040" y="2377440"/>
            <a:ext cx="3017520" cy="365760"/>
          </a:xfrm>
          <a:prstGeom prst="rect">
            <a:avLst/>
          </a:prstGeom>
          <a:noFill/>
          <a:ln/>
        </p:spPr>
        <p:txBody>
          <a:bodyPr wrap="square" lIns="0" tIns="0" rIns="0" bIns="0" rtlCol="0" anchor="ctr"/>
          <a:lstStyle/>
          <a:p>
            <a:pPr indent="0" marL="0">
              <a:buNone/>
            </a:pPr>
            <a:r>
              <a:rPr lang="en-US" sz="1500" b="1" dirty="0">
                <a:solidFill>
                  <a:schemeClr val="tx1"/>
                </a:solidFill>
              </a:rPr>
              <a:t>KV cache, Llama-2-7B FP16</a:t>
            </a:r>
            <a:endParaRPr lang="en-US" sz="1500" dirty="0"/>
          </a:p>
        </p:txBody>
      </p:sp>
      <p:sp>
        <p:nvSpPr>
          <p:cNvPr id="16" name="Text 14"/>
          <p:cNvSpPr txBox="1"/>
          <p:nvPr/>
        </p:nvSpPr>
        <p:spPr>
          <a:xfrm>
            <a:off x="8321040" y="2770632"/>
            <a:ext cx="3017520" cy="685800"/>
          </a:xfrm>
          <a:prstGeom prst="rect">
            <a:avLst/>
          </a:prstGeom>
          <a:noFill/>
          <a:ln/>
        </p:spPr>
        <p:txBody>
          <a:bodyPr wrap="square" lIns="0" tIns="0" rIns="0" bIns="0" rtlCol="0" anchor="t"/>
          <a:lstStyle/>
          <a:p>
            <a:pPr indent="0" marL="0">
              <a:buNone/>
            </a:pPr>
            <a:r>
              <a:rPr lang="en-US" sz="1300" dirty="0">
                <a:solidFill>
                  <a:schemeClr val="tx2"/>
                </a:solidFill>
              </a:rPr>
              <a:t>4K tokens = 2 GiB; GQA-8 is 4× smaller</a:t>
            </a:r>
            <a:endParaRPr lang="en-US" sz="1300" dirty="0"/>
          </a:p>
        </p:txBody>
      </p:sp>
      <p:sp>
        <p:nvSpPr>
          <p:cNvPr id="17" name="Card"/>
          <p:cNvSpPr/>
          <p:nvPr/>
        </p:nvSpPr>
        <p:spPr>
          <a:xfrm>
            <a:off x="548640" y="3794760"/>
            <a:ext cx="3520440" cy="2148840"/>
          </a:xfrm>
          <a:prstGeom prst="roundRect">
            <a:avLst>
              <a:gd name="adj" fmla="val 5106"/>
            </a:avLst>
          </a:prstGeom>
          <a:solidFill>
            <a:schemeClr val="bg2"/>
          </a:solidFill>
          <a:ln/>
        </p:spPr>
      </p:sp>
      <p:sp>
        <p:nvSpPr>
          <p:cNvPr id="18" name="Text 16"/>
          <p:cNvSpPr txBox="1"/>
          <p:nvPr/>
        </p:nvSpPr>
        <p:spPr>
          <a:xfrm>
            <a:off x="822960" y="3977640"/>
            <a:ext cx="3017520" cy="731520"/>
          </a:xfrm>
          <a:prstGeom prst="rect">
            <a:avLst/>
          </a:prstGeom>
          <a:noFill/>
          <a:ln/>
        </p:spPr>
        <p:txBody>
          <a:bodyPr wrap="square" lIns="0" tIns="0" rIns="0" bIns="0" rtlCol="0" anchor="ctr"/>
          <a:lstStyle/>
          <a:p>
            <a:pPr indent="0" marL="0">
              <a:buNone/>
            </a:pPr>
            <a:r>
              <a:rPr lang="en-US" sz="3000" b="1" dirty="0">
                <a:solidFill>
                  <a:schemeClr val="accent5"/>
                </a:solidFill>
                <a:latin typeface="Cambria" pitchFamily="34" charset="0"/>
                <a:ea typeface="Cambria" pitchFamily="34" charset="-122"/>
                <a:cs typeface="Cambria" pitchFamily="34" charset="-120"/>
              </a:rPr>
              <a:t>BW ÷ bytes</a:t>
            </a:r>
            <a:endParaRPr lang="en-US" sz="3000" dirty="0"/>
          </a:p>
        </p:txBody>
      </p:sp>
      <p:sp>
        <p:nvSpPr>
          <p:cNvPr id="19" name="Text 17"/>
          <p:cNvSpPr txBox="1"/>
          <p:nvPr/>
        </p:nvSpPr>
        <p:spPr>
          <a:xfrm>
            <a:off x="822960" y="4754880"/>
            <a:ext cx="3017520" cy="365760"/>
          </a:xfrm>
          <a:prstGeom prst="rect">
            <a:avLst/>
          </a:prstGeom>
          <a:noFill/>
          <a:ln/>
        </p:spPr>
        <p:txBody>
          <a:bodyPr wrap="square" lIns="0" tIns="0" rIns="0" bIns="0" rtlCol="0" anchor="ctr"/>
          <a:lstStyle/>
          <a:p>
            <a:pPr indent="0" marL="0">
              <a:buNone/>
            </a:pPr>
            <a:r>
              <a:rPr lang="en-US" sz="1500" b="1" dirty="0">
                <a:solidFill>
                  <a:schemeClr val="tx1"/>
                </a:solidFill>
              </a:rPr>
              <a:t>Decode ceiling</a:t>
            </a:r>
            <a:endParaRPr lang="en-US" sz="1500" dirty="0"/>
          </a:p>
        </p:txBody>
      </p:sp>
      <p:sp>
        <p:nvSpPr>
          <p:cNvPr id="20" name="Text 18"/>
          <p:cNvSpPr txBox="1"/>
          <p:nvPr/>
        </p:nvSpPr>
        <p:spPr>
          <a:xfrm>
            <a:off x="822960" y="5148072"/>
            <a:ext cx="3017520" cy="685800"/>
          </a:xfrm>
          <a:prstGeom prst="rect">
            <a:avLst/>
          </a:prstGeom>
          <a:noFill/>
          <a:ln/>
        </p:spPr>
        <p:txBody>
          <a:bodyPr wrap="square" lIns="0" tIns="0" rIns="0" bIns="0" rtlCol="0" anchor="t"/>
          <a:lstStyle/>
          <a:p>
            <a:pPr indent="0" marL="0">
              <a:buNone/>
            </a:pPr>
            <a:r>
              <a:rPr lang="en-US" sz="1300" dirty="0">
                <a:solidFill>
                  <a:schemeClr val="tx2"/>
                </a:solidFill>
              </a:rPr>
              <a:t>tokens/s ≤ bandwidth ÷ (weights + KV)</a:t>
            </a:r>
            <a:endParaRPr lang="en-US" sz="1300" dirty="0"/>
          </a:p>
        </p:txBody>
      </p:sp>
      <p:sp>
        <p:nvSpPr>
          <p:cNvPr id="21" name="Card"/>
          <p:cNvSpPr/>
          <p:nvPr/>
        </p:nvSpPr>
        <p:spPr>
          <a:xfrm>
            <a:off x="4297680" y="3794760"/>
            <a:ext cx="3520440" cy="2148840"/>
          </a:xfrm>
          <a:prstGeom prst="roundRect">
            <a:avLst>
              <a:gd name="adj" fmla="val 5106"/>
            </a:avLst>
          </a:prstGeom>
          <a:solidFill>
            <a:schemeClr val="bg2"/>
          </a:solidFill>
          <a:ln/>
        </p:spPr>
      </p:sp>
      <p:sp>
        <p:nvSpPr>
          <p:cNvPr id="22" name="Text 20"/>
          <p:cNvSpPr txBox="1"/>
          <p:nvPr/>
        </p:nvSpPr>
        <p:spPr>
          <a:xfrm>
            <a:off x="4572000" y="3977640"/>
            <a:ext cx="3017520" cy="731520"/>
          </a:xfrm>
          <a:prstGeom prst="rect">
            <a:avLst/>
          </a:prstGeom>
          <a:noFill/>
          <a:ln/>
        </p:spPr>
        <p:txBody>
          <a:bodyPr wrap="square" lIns="0" tIns="0" rIns="0" bIns="0" rtlCol="0" anchor="ctr"/>
          <a:lstStyle/>
          <a:p>
            <a:pPr indent="0" marL="0">
              <a:buNone/>
            </a:pPr>
            <a:r>
              <a:rPr lang="en-US" sz="3000" b="1" dirty="0">
                <a:solidFill>
                  <a:schemeClr val="accent5"/>
                </a:solidFill>
                <a:latin typeface="Cambria" pitchFamily="34" charset="0"/>
                <a:ea typeface="Cambria" pitchFamily="34" charset="-122"/>
                <a:cs typeface="Cambria" pitchFamily="34" charset="-120"/>
              </a:rPr>
              <a:t>46.7B / 12.9B</a:t>
            </a:r>
            <a:endParaRPr lang="en-US" sz="3000" dirty="0"/>
          </a:p>
        </p:txBody>
      </p:sp>
      <p:sp>
        <p:nvSpPr>
          <p:cNvPr id="23" name="Text 21"/>
          <p:cNvSpPr txBox="1"/>
          <p:nvPr/>
        </p:nvSpPr>
        <p:spPr>
          <a:xfrm>
            <a:off x="4572000" y="4754880"/>
            <a:ext cx="3017520" cy="365760"/>
          </a:xfrm>
          <a:prstGeom prst="rect">
            <a:avLst/>
          </a:prstGeom>
          <a:noFill/>
          <a:ln/>
        </p:spPr>
        <p:txBody>
          <a:bodyPr wrap="square" lIns="0" tIns="0" rIns="0" bIns="0" rtlCol="0" anchor="ctr"/>
          <a:lstStyle/>
          <a:p>
            <a:pPr indent="0" marL="0">
              <a:buNone/>
            </a:pPr>
            <a:r>
              <a:rPr lang="en-US" sz="1500" b="1" dirty="0">
                <a:solidFill>
                  <a:schemeClr val="tx1"/>
                </a:solidFill>
              </a:rPr>
              <a:t>MoE: total vs active</a:t>
            </a:r>
            <a:endParaRPr lang="en-US" sz="1500" dirty="0"/>
          </a:p>
        </p:txBody>
      </p:sp>
      <p:sp>
        <p:nvSpPr>
          <p:cNvPr id="24" name="Text 22"/>
          <p:cNvSpPr txBox="1"/>
          <p:nvPr/>
        </p:nvSpPr>
        <p:spPr>
          <a:xfrm>
            <a:off x="4572000" y="5148072"/>
            <a:ext cx="3017520" cy="685800"/>
          </a:xfrm>
          <a:prstGeom prst="rect">
            <a:avLst/>
          </a:prstGeom>
          <a:noFill/>
          <a:ln/>
        </p:spPr>
        <p:txBody>
          <a:bodyPr wrap="square" lIns="0" tIns="0" rIns="0" bIns="0" rtlCol="0" anchor="t"/>
          <a:lstStyle/>
          <a:p>
            <a:pPr indent="0" marL="0">
              <a:buNone/>
            </a:pPr>
            <a:r>
              <a:rPr lang="en-US" sz="1300" dirty="0">
                <a:solidFill>
                  <a:schemeClr val="tx2"/>
                </a:solidFill>
              </a:rPr>
              <a:t>Mixtral: pay memory for all, compute for few</a:t>
            </a:r>
            <a:endParaRPr lang="en-US" sz="1300" dirty="0"/>
          </a:p>
        </p:txBody>
      </p:sp>
      <p:sp>
        <p:nvSpPr>
          <p:cNvPr id="25" name="Card"/>
          <p:cNvSpPr/>
          <p:nvPr/>
        </p:nvSpPr>
        <p:spPr>
          <a:xfrm>
            <a:off x="8046720" y="3794760"/>
            <a:ext cx="3520440" cy="2148840"/>
          </a:xfrm>
          <a:prstGeom prst="roundRect">
            <a:avLst>
              <a:gd name="adj" fmla="val 5106"/>
            </a:avLst>
          </a:prstGeom>
          <a:solidFill>
            <a:schemeClr val="bg2"/>
          </a:solidFill>
          <a:ln/>
        </p:spPr>
      </p:sp>
      <p:sp>
        <p:nvSpPr>
          <p:cNvPr id="26" name="Text 24"/>
          <p:cNvSpPr txBox="1"/>
          <p:nvPr/>
        </p:nvSpPr>
        <p:spPr>
          <a:xfrm>
            <a:off x="8321040" y="3977640"/>
            <a:ext cx="3017520" cy="731520"/>
          </a:xfrm>
          <a:prstGeom prst="rect">
            <a:avLst/>
          </a:prstGeom>
          <a:noFill/>
          <a:ln/>
        </p:spPr>
        <p:txBody>
          <a:bodyPr wrap="square" lIns="0" tIns="0" rIns="0" bIns="0" rtlCol="0" anchor="ctr"/>
          <a:lstStyle/>
          <a:p>
            <a:pPr indent="0" marL="0">
              <a:buNone/>
            </a:pPr>
            <a:r>
              <a:rPr lang="en-US" sz="3000" b="1" dirty="0">
                <a:solidFill>
                  <a:schemeClr val="accent5"/>
                </a:solidFill>
                <a:latin typeface="Cambria" pitchFamily="34" charset="0"/>
                <a:ea typeface="Cambria" pitchFamily="34" charset="-122"/>
                <a:cs typeface="Cambria" pitchFamily="34" charset="-120"/>
              </a:rPr>
              <a:t>20 tok/param</a:t>
            </a:r>
            <a:endParaRPr lang="en-US" sz="3000" dirty="0"/>
          </a:p>
        </p:txBody>
      </p:sp>
      <p:sp>
        <p:nvSpPr>
          <p:cNvPr id="27" name="Text 25"/>
          <p:cNvSpPr txBox="1"/>
          <p:nvPr/>
        </p:nvSpPr>
        <p:spPr>
          <a:xfrm>
            <a:off x="8321040" y="4754880"/>
            <a:ext cx="3017520" cy="365760"/>
          </a:xfrm>
          <a:prstGeom prst="rect">
            <a:avLst/>
          </a:prstGeom>
          <a:noFill/>
          <a:ln/>
        </p:spPr>
        <p:txBody>
          <a:bodyPr wrap="square" lIns="0" tIns="0" rIns="0" bIns="0" rtlCol="0" anchor="ctr"/>
          <a:lstStyle/>
          <a:p>
            <a:pPr indent="0" marL="0">
              <a:buNone/>
            </a:pPr>
            <a:r>
              <a:rPr lang="en-US" sz="1500" b="1" dirty="0">
                <a:solidFill>
                  <a:schemeClr val="tx1"/>
                </a:solidFill>
              </a:rPr>
              <a:t>Chinchilla optimum</a:t>
            </a:r>
            <a:endParaRPr lang="en-US" sz="1500" dirty="0"/>
          </a:p>
        </p:txBody>
      </p:sp>
      <p:sp>
        <p:nvSpPr>
          <p:cNvPr id="28" name="Text 26"/>
          <p:cNvSpPr txBox="1"/>
          <p:nvPr/>
        </p:nvSpPr>
        <p:spPr>
          <a:xfrm>
            <a:off x="8321040" y="5148072"/>
            <a:ext cx="3017520" cy="685800"/>
          </a:xfrm>
          <a:prstGeom prst="rect">
            <a:avLst/>
          </a:prstGeom>
          <a:noFill/>
          <a:ln/>
        </p:spPr>
        <p:txBody>
          <a:bodyPr wrap="square" lIns="0" tIns="0" rIns="0" bIns="0" rtlCol="0" anchor="t"/>
          <a:lstStyle/>
          <a:p>
            <a:pPr indent="0" marL="0">
              <a:buNone/>
            </a:pPr>
            <a:r>
              <a:rPr lang="en-US" sz="1300" dirty="0">
                <a:solidFill>
                  <a:schemeClr val="tx2"/>
                </a:solidFill>
              </a:rPr>
              <a:t>serving models train far past it on purpose</a:t>
            </a:r>
            <a:endParaRPr lang="en-US" sz="1300" dirty="0"/>
          </a:p>
        </p:txBody>
      </p:sp>
      <p:sp>
        <p:nvSpPr>
          <p:cNvPr id="29" name="Text 27"/>
          <p:cNvSpPr txBox="1"/>
          <p:nvPr/>
        </p:nvSpPr>
        <p:spPr>
          <a:xfrm>
            <a:off x="6583680" y="6400800"/>
            <a:ext cx="4389120" cy="274320"/>
          </a:xfrm>
          <a:prstGeom prst="rect">
            <a:avLst/>
          </a:prstGeom>
          <a:noFill/>
          <a:ln/>
        </p:spPr>
        <p:txBody>
          <a:bodyPr wrap="square" lIns="0" tIns="0" rIns="0" bIns="0" rtlCol="0" anchor="ctr"/>
          <a:lstStyle/>
          <a:p>
            <a:pPr algn="r" indent="0" marL="0">
              <a:buNone/>
            </a:pPr>
            <a:r>
              <a:rPr lang="en-US" sz="1000" u="sng" dirty="0">
                <a:solidFill>
                  <a:srgbClr val="000000"/>
                </a:solidFill>
                <a:hlinkClick r:id="rId1" invalidUrl="" action="" tgtFrame="" tooltip="Open this section of the summary page" history="1" highlightClick="0" endSnd="0">
                  <a:extLst>
                    <a:ext uri="{A12FA001-AC4F-418D-AE19-62706E023703}">
                      <ahyp:hlinkClr xmlns:ahyp="http://schemas.microsoft.com/office/drawing/2018/hyperlinkcolor" val="tx"/>
                    </a:ext>
                  </a:extLst>
                </a:hlinkClick>
              </a:rPr>
              <a:t>In the summary: §5 estimates ↗</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1600200"/>
            <a:ext cx="8229600" cy="365760"/>
          </a:xfrm>
          <a:prstGeom prst="rect">
            <a:avLst/>
          </a:prstGeom>
          <a:noFill/>
          <a:ln/>
        </p:spPr>
        <p:txBody>
          <a:bodyPr wrap="square" lIns="0" tIns="0" rIns="0" bIns="0" rtlCol="0" anchor="ctr"/>
          <a:lstStyle/>
          <a:p>
            <a:pPr indent="0" marL="0">
              <a:buNone/>
            </a:pPr>
            <a:r>
              <a:rPr lang="en-US" sz="1600" b="1" spc="300" kern="0" dirty="0">
                <a:solidFill>
                  <a:schemeClr val="accent6"/>
                </a:solidFill>
              </a:rPr>
              <a:t>PUTTING IT TOGETHER</a:t>
            </a:r>
            <a:endParaRPr lang="en-US" sz="1600" dirty="0"/>
          </a:p>
        </p:txBody>
      </p:sp>
      <p:sp>
        <p:nvSpPr>
          <p:cNvPr id="3" name="Text 1"/>
          <p:cNvSpPr txBox="1"/>
          <p:nvPr/>
        </p:nvSpPr>
        <p:spPr>
          <a:xfrm>
            <a:off x="548640" y="2011680"/>
            <a:ext cx="9509760" cy="137160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Predict, then measure</a:t>
            </a:r>
            <a:endParaRPr lang="en-US" sz="4000" dirty="0"/>
          </a:p>
        </p:txBody>
      </p:sp>
      <p:sp>
        <p:nvSpPr>
          <p:cNvPr id="4" name="Text 2"/>
          <p:cNvSpPr txBox="1"/>
          <p:nvPr/>
        </p:nvSpPr>
        <p:spPr>
          <a:xfrm>
            <a:off x="548640" y="3566160"/>
            <a:ext cx="8961120" cy="1097280"/>
          </a:xfrm>
          <a:prstGeom prst="rect">
            <a:avLst/>
          </a:prstGeom>
          <a:noFill/>
          <a:ln/>
        </p:spPr>
        <p:txBody>
          <a:bodyPr wrap="square" lIns="0" tIns="0" rIns="0" bIns="0" rtlCol="0" anchor="t"/>
          <a:lstStyle/>
          <a:p>
            <a:pPr indent="0" marL="0">
              <a:buNone/>
            </a:pPr>
            <a:r>
              <a:rPr lang="en-US" sz="2200" b="1" i="1" dirty="0">
                <a:solidFill>
                  <a:schemeClr val="accent6"/>
                </a:solidFill>
              </a:rPr>
              <a:t>The question to ask: </a:t>
            </a:r>
            <a:pPr indent="0" marL="0">
              <a:buNone/>
            </a:pPr>
            <a:r>
              <a:rPr lang="en-US" sz="2200" i="1" dirty="0">
                <a:solidFill>
                  <a:schemeClr val="bg1"/>
                </a:solidFill>
              </a:rPr>
              <a:t>Can I predict what this paper's model will do, and how would I check?</a:t>
            </a:r>
            <a:endParaRPr lang="en-US" sz="2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418320" cy="868680"/>
          </a:xfrm>
          <a:prstGeom prst="rect">
            <a:avLst/>
          </a:prstGeom>
          <a:noFill/>
          <a:ln/>
        </p:spPr>
        <p:txBody>
          <a:bodyPr wrap="square" lIns="0" tIns="0" rIns="0" bIns="0" rtlCol="0" anchor="ctr"/>
          <a:lstStyle/>
          <a:p>
            <a:pPr algn="l" indent="0" marL="0">
              <a:buNone/>
            </a:pPr>
            <a:r>
              <a:rPr lang="en-US" sz="3000" b="1" dirty="0">
                <a:solidFill>
                  <a:schemeClr val="tx1"/>
                </a:solidFill>
              </a:rPr>
              <a:t>From reading a paper to running the right experiment</a:t>
            </a:r>
            <a:endParaRPr lang="en-US" sz="3000" dirty="0"/>
          </a:p>
        </p:txBody>
      </p:sp>
      <p:pic>
        <p:nvPicPr>
          <p:cNvPr id="3" name="Diagram predict_then_measure_loop" descr="Four-step loop: name the idea, predict, design the test, measure">    </p:cNvPr>
          <p:cNvPicPr>
            <a:picLocks noChangeAspect="1"/>
          </p:cNvPicPr>
          <p:nvPr/>
        </p:nvPicPr>
        <p:blipFill>
          <a:blip r:embed="rId1"/>
          <a:stretch>
            <a:fillRect/>
          </a:stretch>
        </p:blipFill>
        <p:spPr>
          <a:xfrm>
            <a:off x="1097280" y="1417320"/>
            <a:ext cx="9966960" cy="3160256"/>
          </a:xfrm>
          <a:prstGeom prst="rect">
            <a:avLst/>
          </a:prstGeom>
        </p:spPr>
      </p:pic>
      <p:sp>
        <p:nvSpPr>
          <p:cNvPr id="4" name="Text 1"/>
          <p:cNvSpPr txBox="1"/>
          <p:nvPr/>
        </p:nvSpPr>
        <p:spPr>
          <a:xfrm>
            <a:off x="548640" y="4937760"/>
            <a:ext cx="11064240" cy="914400"/>
          </a:xfrm>
          <a:prstGeom prst="rect">
            <a:avLst/>
          </a:prstGeom>
          <a:noFill/>
          <a:ln/>
        </p:spPr>
        <p:txBody>
          <a:bodyPr wrap="square" lIns="0" tIns="0" rIns="0" bIns="0" rtlCol="0" anchor="t"/>
          <a:lstStyle/>
          <a:p>
            <a:pPr indent="0" marL="0">
              <a:buNone/>
            </a:pPr>
            <a:r>
              <a:rPr lang="en-US" sz="1700" dirty="0">
                <a:solidFill>
                  <a:schemeClr val="tx1"/>
                </a:solidFill>
              </a:rPr>
              <a:t>Write the prediction down before you run anything. If it held, trust the idea more. If it failed, the paper did something new: that's the part worth reading closely.</a:t>
            </a:r>
            <a:endParaRPr lang="en-US" sz="1700" dirty="0"/>
          </a:p>
        </p:txBody>
      </p:sp>
      <p:sp>
        <p:nvSpPr>
          <p:cNvPr id="5" name="Text 2"/>
          <p:cNvSpPr txBox="1"/>
          <p:nvPr/>
        </p:nvSpPr>
        <p:spPr>
          <a:xfrm>
            <a:off x="6583680" y="6400800"/>
            <a:ext cx="4389120" cy="274320"/>
          </a:xfrm>
          <a:prstGeom prst="rect">
            <a:avLst/>
          </a:prstGeom>
          <a:noFill/>
          <a:ln/>
        </p:spPr>
        <p:txBody>
          <a:bodyPr wrap="square" lIns="0" tIns="0" rIns="0" bIns="0" rtlCol="0" anchor="ctr"/>
          <a:lstStyle/>
          <a:p>
            <a:pPr algn="r" indent="0" marL="0">
              <a:buNone/>
            </a:pPr>
            <a:r>
              <a:rPr lang="en-US" sz="1000" u="sng" dirty="0">
                <a:solidFill>
                  <a:srgbClr val="000000"/>
                </a:solidFill>
                <a:hlinkClick r:id="rId2" invalidUrl="" action="" tgtFrame="" tooltip="Open this section of the summary page" history="1" highlightClick="0" endSnd="0">
                  <a:extLst>
                    <a:ext uri="{A12FA001-AC4F-418D-AE19-62706E023703}">
                      <ahyp:hlinkClr xmlns:ahyp="http://schemas.microsoft.com/office/drawing/2018/hyperlinkcolor" val="tx"/>
                    </a:ext>
                  </a:extLst>
                </a:hlinkClick>
              </a:rPr>
              <a:t>In the summary: §6 predict, then measure ↗</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418320" cy="868680"/>
          </a:xfrm>
          <a:prstGeom prst="rect">
            <a:avLst/>
          </a:prstGeom>
          <a:noFill/>
          <a:ln/>
        </p:spPr>
        <p:txBody>
          <a:bodyPr wrap="square" lIns="0" tIns="0" rIns="0" bIns="0" rtlCol="0" anchor="ctr"/>
          <a:lstStyle/>
          <a:p>
            <a:pPr algn="l" indent="0" marL="0">
              <a:buNone/>
            </a:pPr>
            <a:r>
              <a:rPr lang="en-US" sz="3000" b="1" dirty="0">
                <a:solidFill>
                  <a:schemeClr val="tx1"/>
                </a:solidFill>
              </a:rPr>
              <a:t>Worked example: a hypothetical new SSM paper</a:t>
            </a:r>
            <a:endParaRPr lang="en-US" sz="3000" dirty="0"/>
          </a:p>
        </p:txBody>
      </p:sp>
      <p:sp>
        <p:nvSpPr>
          <p:cNvPr id="3" name="Card"/>
          <p:cNvSpPr/>
          <p:nvPr/>
        </p:nvSpPr>
        <p:spPr>
          <a:xfrm>
            <a:off x="548640" y="1325880"/>
            <a:ext cx="11091672" cy="777240"/>
          </a:xfrm>
          <a:prstGeom prst="roundRect">
            <a:avLst>
              <a:gd name="adj" fmla="val 14118"/>
            </a:avLst>
          </a:prstGeom>
          <a:solidFill>
            <a:schemeClr val="tx1"/>
          </a:solidFill>
          <a:ln/>
        </p:spPr>
      </p:sp>
      <p:sp>
        <p:nvSpPr>
          <p:cNvPr id="4" name="Text 2"/>
          <p:cNvSpPr txBox="1"/>
          <p:nvPr/>
        </p:nvSpPr>
        <p:spPr>
          <a:xfrm>
            <a:off x="868680" y="1325880"/>
            <a:ext cx="10515600" cy="777240"/>
          </a:xfrm>
          <a:prstGeom prst="rect">
            <a:avLst/>
          </a:prstGeom>
          <a:noFill/>
          <a:ln/>
        </p:spPr>
        <p:txBody>
          <a:bodyPr wrap="square" lIns="0" tIns="0" rIns="0" bIns="0" rtlCol="0" anchor="ctr"/>
          <a:lstStyle/>
          <a:p>
            <a:pPr indent="0" marL="0">
              <a:buNone/>
            </a:pPr>
            <a:r>
              <a:rPr lang="en-US" sz="1700" i="1" dirty="0">
                <a:solidFill>
                  <a:schemeClr val="bg1"/>
                </a:solidFill>
              </a:rPr>
              <a:t>“Our state-space model matches a same-size Transformer at 1.3B, and decodes 5× faster at 64K context.”</a:t>
            </a:r>
            <a:endParaRPr lang="en-US" sz="1700" dirty="0"/>
          </a:p>
        </p:txBody>
      </p:sp>
      <p:sp>
        <p:nvSpPr>
          <p:cNvPr id="5" name="Card"/>
          <p:cNvSpPr/>
          <p:nvPr/>
        </p:nvSpPr>
        <p:spPr>
          <a:xfrm>
            <a:off x="548640" y="2331720"/>
            <a:ext cx="2651760" cy="3520440"/>
          </a:xfrm>
          <a:prstGeom prst="roundRect">
            <a:avLst>
              <a:gd name="adj" fmla="val 4138"/>
            </a:avLst>
          </a:prstGeom>
          <a:solidFill>
            <a:schemeClr val="bg2"/>
          </a:solidFill>
          <a:ln/>
        </p:spPr>
      </p:sp>
      <p:sp>
        <p:nvSpPr>
          <p:cNvPr id="6" name="Text 4"/>
          <p:cNvSpPr txBox="1"/>
          <p:nvPr/>
        </p:nvSpPr>
        <p:spPr>
          <a:xfrm>
            <a:off x="777240" y="2468880"/>
            <a:ext cx="2286000" cy="457200"/>
          </a:xfrm>
          <a:prstGeom prst="rect">
            <a:avLst/>
          </a:prstGeom>
          <a:noFill/>
          <a:ln/>
        </p:spPr>
        <p:txBody>
          <a:bodyPr wrap="square" lIns="0" tIns="0" rIns="0" bIns="0" rtlCol="0" anchor="ctr"/>
          <a:lstStyle/>
          <a:p>
            <a:pPr indent="0" marL="0">
              <a:buNone/>
            </a:pPr>
            <a:r>
              <a:rPr lang="en-US" sz="1800" b="1" dirty="0">
                <a:solidFill>
                  <a:schemeClr val="accent5"/>
                </a:solidFill>
              </a:rPr>
              <a:t>1  Name</a:t>
            </a:r>
            <a:endParaRPr lang="en-US" sz="1800" dirty="0"/>
          </a:p>
        </p:txBody>
      </p:sp>
      <p:sp>
        <p:nvSpPr>
          <p:cNvPr id="7" name="Text 5"/>
          <p:cNvSpPr txBox="1"/>
          <p:nvPr/>
        </p:nvSpPr>
        <p:spPr>
          <a:xfrm>
            <a:off x="777240" y="3017520"/>
            <a:ext cx="2286000" cy="2743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Architecture: Idea 4 (fixed state)</a:t>
            </a:r>
            <a:endParaRPr lang="en-US" sz="1500" dirty="0"/>
          </a:p>
          <a:p>
            <a:pPr marL="342900" indent="-342900">
              <a:spcAft>
                <a:spcPts val="600"/>
              </a:spcAft>
              <a:buSzPct val="100000"/>
              <a:buChar char="•"/>
            </a:pPr>
            <a:r>
              <a:rPr lang="en-US" sz="1500" dirty="0">
                <a:solidFill>
                  <a:schemeClr val="tx1"/>
                </a:solidFill>
              </a:rPr>
              <a:t>Speed claim: Idea 5</a:t>
            </a:r>
            <a:endParaRPr lang="en-US" sz="1500" dirty="0"/>
          </a:p>
        </p:txBody>
      </p:sp>
      <p:sp>
        <p:nvSpPr>
          <p:cNvPr id="8" name="Card"/>
          <p:cNvSpPr/>
          <p:nvPr/>
        </p:nvSpPr>
        <p:spPr>
          <a:xfrm>
            <a:off x="3355848" y="2331720"/>
            <a:ext cx="2651760" cy="3520440"/>
          </a:xfrm>
          <a:prstGeom prst="roundRect">
            <a:avLst>
              <a:gd name="adj" fmla="val 4138"/>
            </a:avLst>
          </a:prstGeom>
          <a:solidFill>
            <a:schemeClr val="bg2"/>
          </a:solidFill>
          <a:ln/>
        </p:spPr>
      </p:sp>
      <p:sp>
        <p:nvSpPr>
          <p:cNvPr id="9" name="Text 7"/>
          <p:cNvSpPr txBox="1"/>
          <p:nvPr/>
        </p:nvSpPr>
        <p:spPr>
          <a:xfrm>
            <a:off x="3584448" y="2468880"/>
            <a:ext cx="2286000" cy="457200"/>
          </a:xfrm>
          <a:prstGeom prst="rect">
            <a:avLst/>
          </a:prstGeom>
          <a:noFill/>
          <a:ln/>
        </p:spPr>
        <p:txBody>
          <a:bodyPr wrap="square" lIns="0" tIns="0" rIns="0" bIns="0" rtlCol="0" anchor="ctr"/>
          <a:lstStyle/>
          <a:p>
            <a:pPr indent="0" marL="0">
              <a:buNone/>
            </a:pPr>
            <a:r>
              <a:rPr lang="en-US" sz="1800" b="1" dirty="0">
                <a:solidFill>
                  <a:schemeClr val="accent5"/>
                </a:solidFill>
              </a:rPr>
              <a:t>2  Predict</a:t>
            </a:r>
            <a:endParaRPr lang="en-US" sz="1800" dirty="0"/>
          </a:p>
        </p:txBody>
      </p:sp>
      <p:sp>
        <p:nvSpPr>
          <p:cNvPr id="10" name="Text 8"/>
          <p:cNvSpPr txBox="1"/>
          <p:nvPr/>
        </p:nvSpPr>
        <p:spPr>
          <a:xfrm>
            <a:off x="3584448" y="3017520"/>
            <a:ext cx="2286000" cy="2743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Big win at 64K, little at 2K (KV is small there)</a:t>
            </a:r>
            <a:endParaRPr lang="en-US" sz="1500" dirty="0"/>
          </a:p>
          <a:p>
            <a:pPr marL="342900" indent="-342900">
              <a:spcAft>
                <a:spcPts val="600"/>
              </a:spcAft>
              <a:buSzPct val="100000"/>
              <a:buChar char="•"/>
            </a:pPr>
            <a:r>
              <a:rPr lang="en-US" sz="1500" dirty="0">
                <a:solidFill>
                  <a:schemeClr val="tx1"/>
                </a:solidFill>
              </a:rPr>
              <a:t>Weaker exact recall as length grows</a:t>
            </a:r>
            <a:endParaRPr lang="en-US" sz="1500" dirty="0"/>
          </a:p>
          <a:p>
            <a:pPr marL="342900" indent="-342900">
              <a:spcAft>
                <a:spcPts val="600"/>
              </a:spcAft>
              <a:buSzPct val="100000"/>
              <a:buChar char="•"/>
            </a:pPr>
            <a:r>
              <a:rPr lang="en-US" sz="1500" dirty="0">
                <a:solidFill>
                  <a:schemeClr val="tx1"/>
                </a:solidFill>
              </a:rPr>
              <a:t>Equal recipe? (Idea 3)</a:t>
            </a:r>
            <a:endParaRPr lang="en-US" sz="1500" dirty="0"/>
          </a:p>
          <a:p>
            <a:pPr marL="342900" indent="-342900">
              <a:spcAft>
                <a:spcPts val="600"/>
              </a:spcAft>
              <a:buSzPct val="100000"/>
              <a:buChar char="•"/>
            </a:pPr>
            <a:r>
              <a:rPr lang="en-US" sz="1500" dirty="0">
                <a:solidFill>
                  <a:schemeClr val="tx1"/>
                </a:solidFill>
              </a:rPr>
              <a:t>Stable at depth? (Idea 1)</a:t>
            </a:r>
            <a:endParaRPr lang="en-US" sz="1500" dirty="0"/>
          </a:p>
        </p:txBody>
      </p:sp>
      <p:sp>
        <p:nvSpPr>
          <p:cNvPr id="11" name="Card"/>
          <p:cNvSpPr/>
          <p:nvPr/>
        </p:nvSpPr>
        <p:spPr>
          <a:xfrm>
            <a:off x="6163056" y="2331720"/>
            <a:ext cx="2651760" cy="3520440"/>
          </a:xfrm>
          <a:prstGeom prst="roundRect">
            <a:avLst>
              <a:gd name="adj" fmla="val 4138"/>
            </a:avLst>
          </a:prstGeom>
          <a:solidFill>
            <a:schemeClr val="bg2"/>
          </a:solidFill>
          <a:ln/>
        </p:spPr>
      </p:sp>
      <p:sp>
        <p:nvSpPr>
          <p:cNvPr id="12" name="Text 10"/>
          <p:cNvSpPr txBox="1"/>
          <p:nvPr/>
        </p:nvSpPr>
        <p:spPr>
          <a:xfrm>
            <a:off x="6391656" y="2468880"/>
            <a:ext cx="2286000" cy="457200"/>
          </a:xfrm>
          <a:prstGeom prst="rect">
            <a:avLst/>
          </a:prstGeom>
          <a:noFill/>
          <a:ln/>
        </p:spPr>
        <p:txBody>
          <a:bodyPr wrap="square" lIns="0" tIns="0" rIns="0" bIns="0" rtlCol="0" anchor="ctr"/>
          <a:lstStyle/>
          <a:p>
            <a:pPr indent="0" marL="0">
              <a:buNone/>
            </a:pPr>
            <a:r>
              <a:rPr lang="en-US" sz="1800" b="1" dirty="0">
                <a:solidFill>
                  <a:schemeClr val="accent5"/>
                </a:solidFill>
              </a:rPr>
              <a:t>3  Test</a:t>
            </a:r>
            <a:endParaRPr lang="en-US" sz="1800" dirty="0"/>
          </a:p>
        </p:txBody>
      </p:sp>
      <p:sp>
        <p:nvSpPr>
          <p:cNvPr id="13" name="Text 11"/>
          <p:cNvSpPr txBox="1"/>
          <p:nvPr/>
        </p:nvSpPr>
        <p:spPr>
          <a:xfrm>
            <a:off x="6391656" y="3017520"/>
            <a:ext cx="2286000" cy="2743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Tokens/s vs length, 1K to 64K, vs Transformer + FlashAttention + GQA</a:t>
            </a:r>
            <a:endParaRPr lang="en-US" sz="1500" dirty="0"/>
          </a:p>
          <a:p>
            <a:pPr marL="342900" indent="-342900">
              <a:spcAft>
                <a:spcPts val="600"/>
              </a:spcAft>
              <a:buSzPct val="100000"/>
              <a:buChar char="•"/>
            </a:pPr>
            <a:r>
              <a:rPr lang="en-US" sz="1500" dirty="0">
                <a:solidFill>
                  <a:schemeClr val="tx1"/>
                </a:solidFill>
              </a:rPr>
              <a:t>Recall probe at several lengths</a:t>
            </a:r>
            <a:endParaRPr lang="en-US" sz="1500" dirty="0"/>
          </a:p>
          <a:p>
            <a:pPr marL="342900" indent="-342900">
              <a:spcAft>
                <a:spcPts val="600"/>
              </a:spcAft>
              <a:buSzPct val="100000"/>
              <a:buChar char="•"/>
            </a:pPr>
            <a:r>
              <a:rPr lang="en-US" sz="1500" dirty="0">
                <a:solidFill>
                  <a:schemeClr val="tx1"/>
                </a:solidFill>
              </a:rPr>
              <a:t>Perplexity at equal tokens and recipe</a:t>
            </a:r>
            <a:endParaRPr lang="en-US" sz="1500" dirty="0"/>
          </a:p>
        </p:txBody>
      </p:sp>
      <p:sp>
        <p:nvSpPr>
          <p:cNvPr id="14" name="Card"/>
          <p:cNvSpPr/>
          <p:nvPr/>
        </p:nvSpPr>
        <p:spPr>
          <a:xfrm>
            <a:off x="8970264" y="2331720"/>
            <a:ext cx="2651760" cy="3520440"/>
          </a:xfrm>
          <a:prstGeom prst="roundRect">
            <a:avLst>
              <a:gd name="adj" fmla="val 4138"/>
            </a:avLst>
          </a:prstGeom>
          <a:solidFill>
            <a:schemeClr val="bg2"/>
          </a:solidFill>
          <a:ln/>
        </p:spPr>
      </p:sp>
      <p:sp>
        <p:nvSpPr>
          <p:cNvPr id="15" name="Text 13"/>
          <p:cNvSpPr txBox="1"/>
          <p:nvPr/>
        </p:nvSpPr>
        <p:spPr>
          <a:xfrm>
            <a:off x="9198864" y="2468880"/>
            <a:ext cx="2286000" cy="457200"/>
          </a:xfrm>
          <a:prstGeom prst="rect">
            <a:avLst/>
          </a:prstGeom>
          <a:noFill/>
          <a:ln/>
        </p:spPr>
        <p:txBody>
          <a:bodyPr wrap="square" lIns="0" tIns="0" rIns="0" bIns="0" rtlCol="0" anchor="ctr"/>
          <a:lstStyle/>
          <a:p>
            <a:pPr indent="0" marL="0">
              <a:buNone/>
            </a:pPr>
            <a:r>
              <a:rPr lang="en-US" sz="1800" b="1" dirty="0">
                <a:solidFill>
                  <a:schemeClr val="accent5"/>
                </a:solidFill>
              </a:rPr>
              <a:t>4  Measure</a:t>
            </a:r>
            <a:endParaRPr lang="en-US" sz="1800" dirty="0"/>
          </a:p>
        </p:txBody>
      </p:sp>
      <p:sp>
        <p:nvSpPr>
          <p:cNvPr id="16" name="Text 14"/>
          <p:cNvSpPr txBox="1"/>
          <p:nvPr/>
        </p:nvSpPr>
        <p:spPr>
          <a:xfrm>
            <a:off x="9198864" y="3017520"/>
            <a:ext cx="2286000" cy="2743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Speedup only past ~16K and recall drops: the ideas predicted it</a:t>
            </a:r>
            <a:endParaRPr lang="en-US" sz="1500" dirty="0"/>
          </a:p>
          <a:p>
            <a:pPr marL="342900" indent="-342900">
              <a:spcAft>
                <a:spcPts val="600"/>
              </a:spcAft>
              <a:buSzPct val="100000"/>
              <a:buChar char="•"/>
            </a:pPr>
            <a:r>
              <a:rPr lang="en-US" sz="1500" dirty="0">
                <a:solidFill>
                  <a:schemeClr val="tx1"/>
                </a:solidFill>
              </a:rPr>
              <a:t>Recall holds: that's the new thing to study</a:t>
            </a:r>
            <a:endParaRPr lang="en-US" sz="1500" dirty="0"/>
          </a:p>
        </p:txBody>
      </p:sp>
      <p:sp>
        <p:nvSpPr>
          <p:cNvPr id="17" name="Text 15"/>
          <p:cNvSpPr txBox="1"/>
          <p:nvPr/>
        </p:nvSpPr>
        <p:spPr>
          <a:xfrm>
            <a:off x="6583680" y="6400800"/>
            <a:ext cx="4389120" cy="274320"/>
          </a:xfrm>
          <a:prstGeom prst="rect">
            <a:avLst/>
          </a:prstGeom>
          <a:noFill/>
          <a:ln/>
        </p:spPr>
        <p:txBody>
          <a:bodyPr wrap="square" lIns="0" tIns="0" rIns="0" bIns="0" rtlCol="0" anchor="ctr"/>
          <a:lstStyle/>
          <a:p>
            <a:pPr algn="r" indent="0" marL="0">
              <a:buNone/>
            </a:pPr>
            <a:r>
              <a:rPr lang="en-US" sz="1000" u="sng" dirty="0">
                <a:solidFill>
                  <a:srgbClr val="000000"/>
                </a:solidFill>
                <a:hlinkClick r:id="rId1" invalidUrl="" action="" tgtFrame="" tooltip="Open this section of the summary page" history="1" highlightClick="0" endSnd="0">
                  <a:extLst>
                    <a:ext uri="{A12FA001-AC4F-418D-AE19-62706E023703}">
                      <ahyp:hlinkClr xmlns:ahyp="http://schemas.microsoft.com/office/drawing/2018/hyperlinkcolor" val="tx"/>
                    </a:ext>
                  </a:extLst>
                </a:hlinkClick>
              </a:rPr>
              <a:t>In the summary: §6 worked example ↗</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502920"/>
            <a:ext cx="10972800" cy="73152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Five questions to ask any new model</a:t>
            </a:r>
            <a:endParaRPr lang="en-US" sz="3600" dirty="0"/>
          </a:p>
        </p:txBody>
      </p:sp>
      <p:sp>
        <p:nvSpPr>
          <p:cNvPr id="3" name="Number circle"/>
          <p:cNvSpPr/>
          <p:nvPr/>
        </p:nvSpPr>
        <p:spPr>
          <a:xfrm>
            <a:off x="548640" y="1517904"/>
            <a:ext cx="502920" cy="502920"/>
          </a:xfrm>
          <a:prstGeom prst="ellipse">
            <a:avLst/>
          </a:prstGeom>
          <a:solidFill>
            <a:schemeClr val="accent1"/>
          </a:solidFill>
          <a:ln/>
        </p:spPr>
      </p:sp>
      <p:sp>
        <p:nvSpPr>
          <p:cNvPr id="4" name="Text 2"/>
          <p:cNvSpPr txBox="1"/>
          <p:nvPr/>
        </p:nvSpPr>
        <p:spPr>
          <a:xfrm>
            <a:off x="548640" y="151790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3"/>
          <p:cNvSpPr txBox="1"/>
          <p:nvPr/>
        </p:nvSpPr>
        <p:spPr>
          <a:xfrm>
            <a:off x="1325880" y="1463040"/>
            <a:ext cx="10241280" cy="621792"/>
          </a:xfrm>
          <a:prstGeom prst="rect">
            <a:avLst/>
          </a:prstGeom>
          <a:noFill/>
          <a:ln/>
        </p:spPr>
        <p:txBody>
          <a:bodyPr wrap="square" lIns="0" tIns="0" rIns="0" bIns="0" rtlCol="0" anchor="ctr"/>
          <a:lstStyle/>
          <a:p>
            <a:pPr indent="0" marL="0">
              <a:buNone/>
            </a:pPr>
            <a:r>
              <a:rPr lang="en-US" sz="1700" dirty="0">
                <a:solidFill>
                  <a:schemeClr val="bg1"/>
                </a:solidFill>
              </a:rPr>
              <a:t>What keeps activations and gradients at a sane scale as the model gets deeper?</a:t>
            </a:r>
            <a:endParaRPr lang="en-US" sz="1700" dirty="0"/>
          </a:p>
        </p:txBody>
      </p:sp>
      <p:sp>
        <p:nvSpPr>
          <p:cNvPr id="6" name="Number circle"/>
          <p:cNvSpPr/>
          <p:nvPr/>
        </p:nvSpPr>
        <p:spPr>
          <a:xfrm>
            <a:off x="548640" y="2304288"/>
            <a:ext cx="502920" cy="502920"/>
          </a:xfrm>
          <a:prstGeom prst="ellipse">
            <a:avLst/>
          </a:prstGeom>
          <a:solidFill>
            <a:schemeClr val="accent2"/>
          </a:solidFill>
          <a:ln/>
        </p:spPr>
      </p:sp>
      <p:sp>
        <p:nvSpPr>
          <p:cNvPr id="7" name="Text 5"/>
          <p:cNvSpPr txBox="1"/>
          <p:nvPr/>
        </p:nvSpPr>
        <p:spPr>
          <a:xfrm>
            <a:off x="548640" y="230428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8" name="Text 6"/>
          <p:cNvSpPr txBox="1"/>
          <p:nvPr/>
        </p:nvSpPr>
        <p:spPr>
          <a:xfrm>
            <a:off x="1325880" y="2249424"/>
            <a:ext cx="10241280" cy="621792"/>
          </a:xfrm>
          <a:prstGeom prst="rect">
            <a:avLst/>
          </a:prstGeom>
          <a:noFill/>
          <a:ln/>
        </p:spPr>
        <p:txBody>
          <a:bodyPr wrap="square" lIns="0" tIns="0" rIns="0" bIns="0" rtlCol="0" anchor="ctr"/>
          <a:lstStyle/>
          <a:p>
            <a:pPr indent="0" marL="0">
              <a:buNone/>
            </a:pPr>
            <a:r>
              <a:rPr lang="en-US" sz="1700" dirty="0">
                <a:solidFill>
                  <a:schemeClr val="bg1"/>
                </a:solidFill>
              </a:rPr>
              <a:t>What exactly does the loss reward, and what behaviour will follow?</a:t>
            </a:r>
            <a:endParaRPr lang="en-US" sz="1700" dirty="0"/>
          </a:p>
        </p:txBody>
      </p:sp>
      <p:sp>
        <p:nvSpPr>
          <p:cNvPr id="9" name="Number circle"/>
          <p:cNvSpPr/>
          <p:nvPr/>
        </p:nvSpPr>
        <p:spPr>
          <a:xfrm>
            <a:off x="548640" y="3090672"/>
            <a:ext cx="502920" cy="502920"/>
          </a:xfrm>
          <a:prstGeom prst="ellipse">
            <a:avLst/>
          </a:prstGeom>
          <a:solidFill>
            <a:schemeClr val="accent3"/>
          </a:solidFill>
          <a:ln/>
        </p:spPr>
      </p:sp>
      <p:sp>
        <p:nvSpPr>
          <p:cNvPr id="10" name="Text 8"/>
          <p:cNvSpPr txBox="1"/>
          <p:nvPr/>
        </p:nvSpPr>
        <p:spPr>
          <a:xfrm>
            <a:off x="548640" y="3090672"/>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1" name="Text 9"/>
          <p:cNvSpPr txBox="1"/>
          <p:nvPr/>
        </p:nvSpPr>
        <p:spPr>
          <a:xfrm>
            <a:off x="1325880" y="3035808"/>
            <a:ext cx="10241280" cy="621792"/>
          </a:xfrm>
          <a:prstGeom prst="rect">
            <a:avLst/>
          </a:prstGeom>
          <a:noFill/>
          <a:ln/>
        </p:spPr>
        <p:txBody>
          <a:bodyPr wrap="square" lIns="0" tIns="0" rIns="0" bIns="0" rtlCol="0" anchor="ctr"/>
          <a:lstStyle/>
          <a:p>
            <a:pPr indent="0" marL="0">
              <a:buNone/>
            </a:pPr>
            <a:r>
              <a:rPr lang="en-US" sz="1700" dirty="0">
                <a:solidFill>
                  <a:schemeClr val="bg1"/>
                </a:solidFill>
              </a:rPr>
              <a:t>What does this model assume, and do I have enough data to not need it? Were the recipes equal?</a:t>
            </a:r>
            <a:endParaRPr lang="en-US" sz="1700" dirty="0"/>
          </a:p>
        </p:txBody>
      </p:sp>
      <p:sp>
        <p:nvSpPr>
          <p:cNvPr id="12" name="Number circle"/>
          <p:cNvSpPr/>
          <p:nvPr/>
        </p:nvSpPr>
        <p:spPr>
          <a:xfrm>
            <a:off x="548640" y="3877056"/>
            <a:ext cx="502920" cy="502920"/>
          </a:xfrm>
          <a:prstGeom prst="ellipse">
            <a:avLst/>
          </a:prstGeom>
          <a:solidFill>
            <a:schemeClr val="accent4"/>
          </a:solidFill>
          <a:ln/>
        </p:spPr>
      </p:sp>
      <p:sp>
        <p:nvSpPr>
          <p:cNvPr id="13" name="Text 11"/>
          <p:cNvSpPr txBox="1"/>
          <p:nvPr/>
        </p:nvSpPr>
        <p:spPr>
          <a:xfrm>
            <a:off x="548640" y="3877056"/>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4" name="Text 12"/>
          <p:cNvSpPr txBox="1"/>
          <p:nvPr/>
        </p:nvSpPr>
        <p:spPr>
          <a:xfrm>
            <a:off x="1325880" y="3822192"/>
            <a:ext cx="10241280" cy="621792"/>
          </a:xfrm>
          <a:prstGeom prst="rect">
            <a:avLst/>
          </a:prstGeom>
          <a:noFill/>
          <a:ln/>
        </p:spPr>
        <p:txBody>
          <a:bodyPr wrap="square" lIns="0" tIns="0" rIns="0" bIns="0" rtlCol="0" anchor="ctr"/>
          <a:lstStyle/>
          <a:p>
            <a:pPr indent="0" marL="0">
              <a:buNone/>
            </a:pPr>
            <a:r>
              <a:rPr lang="en-US" sz="1700" dirty="0">
                <a:solidFill>
                  <a:schemeClr val="bg1"/>
                </a:solidFill>
              </a:rPr>
              <a:t>How much state does it keep per token of history, and what does reading it cost?</a:t>
            </a:r>
            <a:endParaRPr lang="en-US" sz="1700" dirty="0"/>
          </a:p>
        </p:txBody>
      </p:sp>
      <p:sp>
        <p:nvSpPr>
          <p:cNvPr id="15" name="Number circle"/>
          <p:cNvSpPr/>
          <p:nvPr/>
        </p:nvSpPr>
        <p:spPr>
          <a:xfrm>
            <a:off x="548640" y="4663440"/>
            <a:ext cx="502920" cy="502920"/>
          </a:xfrm>
          <a:prstGeom prst="ellipse">
            <a:avLst/>
          </a:prstGeom>
          <a:solidFill>
            <a:schemeClr val="accent5"/>
          </a:solidFill>
          <a:ln/>
        </p:spPr>
      </p:sp>
      <p:sp>
        <p:nvSpPr>
          <p:cNvPr id="16" name="Text 14"/>
          <p:cNvSpPr txBox="1"/>
          <p:nvPr/>
        </p:nvSpPr>
        <p:spPr>
          <a:xfrm>
            <a:off x="548640" y="46634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7" name="Text 15"/>
          <p:cNvSpPr txBox="1"/>
          <p:nvPr/>
        </p:nvSpPr>
        <p:spPr>
          <a:xfrm>
            <a:off x="1325880" y="4608576"/>
            <a:ext cx="10241280" cy="621792"/>
          </a:xfrm>
          <a:prstGeom prst="rect">
            <a:avLst/>
          </a:prstGeom>
          <a:noFill/>
          <a:ln/>
        </p:spPr>
        <p:txBody>
          <a:bodyPr wrap="square" lIns="0" tIns="0" rIns="0" bIns="0" rtlCol="0" anchor="ctr"/>
          <a:lstStyle/>
          <a:p>
            <a:pPr indent="0" marL="0">
              <a:buNone/>
            </a:pPr>
            <a:r>
              <a:rPr lang="en-US" sz="1700" dirty="0">
                <a:solidFill>
                  <a:schemeClr val="bg1"/>
                </a:solidFill>
              </a:rPr>
              <a:t>Is this limited by compute or by memory bandwidth? What do the six estimates say?</a:t>
            </a:r>
            <a:endParaRPr lang="en-US" sz="1700" dirty="0"/>
          </a:p>
        </p:txBody>
      </p:sp>
      <p:sp>
        <p:nvSpPr>
          <p:cNvPr id="18" name="Link button"/>
          <p:cNvSpPr/>
          <p:nvPr/>
        </p:nvSpPr>
        <p:spPr>
          <a:xfrm>
            <a:off x="548640" y="5715000"/>
            <a:ext cx="3200400" cy="457200"/>
          </a:xfrm>
          <a:prstGeom prst="roundRect">
            <a:avLst>
              <a:gd name="adj" fmla="val 50000"/>
            </a:avLst>
          </a:prstGeom>
          <a:solidFill>
            <a:schemeClr val="bg1"/>
          </a:solidFill>
          <a:ln/>
        </p:spPr>
      </p:sp>
      <p:sp>
        <p:nvSpPr>
          <p:cNvPr id="19" name="Text 17"/>
          <p:cNvSpPr txBox="1"/>
          <p:nvPr/>
        </p:nvSpPr>
        <p:spPr>
          <a:xfrm>
            <a:off x="548640" y="5715000"/>
            <a:ext cx="3200400" cy="457200"/>
          </a:xfrm>
          <a:prstGeom prst="rect">
            <a:avLst/>
          </a:prstGeom>
          <a:noFill/>
          <a:ln/>
        </p:spPr>
        <p:txBody>
          <a:bodyPr wrap="square" lIns="0" tIns="0" rIns="0" bIns="0" rtlCol="0" anchor="ctr"/>
          <a:lstStyle/>
          <a:p>
            <a:pPr algn="ctr" indent="0" marL="0">
              <a:buNone/>
            </a:pPr>
            <a:r>
              <a:rPr lang="en-US" sz="1400" b="1" u="sng" dirty="0">
                <a:solidFill>
                  <a:srgbClr val="000000"/>
                </a:solidFill>
                <a:hlinkClick r:id="rId1" invalidUrl="" action="" tgtFrame="" tooltip="https://github.com/roksana-mirzaei/AI_Researcher_Learning_Path/blob/main/essentials/Foundational_Architecture_and_Representation_Learning/MathSummary.md" history="1" highlightClick="0" endSnd="0">
                  <a:extLst>
                    <a:ext uri="{A12FA001-AC4F-418D-AE19-62706E023703}">
                      <ahyp:hlinkClr xmlns:ahyp="http://schemas.microsoft.com/office/drawing/2018/hyperlinkcolor" val="tx"/>
                    </a:ext>
                  </a:extLst>
                </a:hlinkClick>
              </a:rPr>
              <a:t>Read the summary page ↗</a:t>
            </a:r>
            <a:endParaRPr lang="en-US" sz="1400" dirty="0"/>
          </a:p>
        </p:txBody>
      </p:sp>
      <p:sp>
        <p:nvSpPr>
          <p:cNvPr id="20" name="Link button"/>
          <p:cNvSpPr/>
          <p:nvPr/>
        </p:nvSpPr>
        <p:spPr>
          <a:xfrm>
            <a:off x="3977640" y="5715000"/>
            <a:ext cx="3200400" cy="457200"/>
          </a:xfrm>
          <a:prstGeom prst="roundRect">
            <a:avLst>
              <a:gd name="adj" fmla="val 50000"/>
            </a:avLst>
          </a:prstGeom>
          <a:solidFill>
            <a:schemeClr val="bg1"/>
          </a:solidFill>
          <a:ln/>
        </p:spPr>
      </p:sp>
      <p:sp>
        <p:nvSpPr>
          <p:cNvPr id="21" name="Text 19"/>
          <p:cNvSpPr txBox="1"/>
          <p:nvPr/>
        </p:nvSpPr>
        <p:spPr>
          <a:xfrm>
            <a:off x="3977640" y="5715000"/>
            <a:ext cx="3200400" cy="457200"/>
          </a:xfrm>
          <a:prstGeom prst="rect">
            <a:avLst/>
          </a:prstGeom>
          <a:noFill/>
          <a:ln/>
        </p:spPr>
        <p:txBody>
          <a:bodyPr wrap="square" lIns="0" tIns="0" rIns="0" bIns="0" rtlCol="0" anchor="ctr"/>
          <a:lstStyle/>
          <a:p>
            <a:pPr algn="ctr" indent="0" marL="0">
              <a:buNone/>
            </a:pPr>
            <a:r>
              <a:rPr lang="en-US" sz="1400" b="1" u="sng" dirty="0">
                <a:solidFill>
                  <a:srgbClr val="000000"/>
                </a:solidFill>
                <a:hlinkClick r:id="rId2" invalidUrl="" action="" tgtFrame="" tooltip="Foundation_Papers_Atlas.html" history="1" highlightClick="0" endSnd="0">
                  <a:extLst>
                    <a:ext uri="{A12FA001-AC4F-418D-AE19-62706E023703}">
                      <ahyp:hlinkClr xmlns:ahyp="http://schemas.microsoft.com/office/drawing/2018/hyperlinkcolor" val="tx"/>
                    </a:ext>
                  </a:extLst>
                </a:hlinkClick>
              </a:rPr>
              <a:t>Open the Papers Atlas ↗</a:t>
            </a:r>
            <a:endParaRPr lang="en-US" sz="1400" dirty="0"/>
          </a:p>
        </p:txBody>
      </p:sp>
      <p:sp>
        <p:nvSpPr>
          <p:cNvPr id="22" name="Text 20"/>
          <p:cNvSpPr txBox="1"/>
          <p:nvPr/>
        </p:nvSpPr>
        <p:spPr>
          <a:xfrm>
            <a:off x="7589520" y="5715000"/>
            <a:ext cx="4050792" cy="457200"/>
          </a:xfrm>
          <a:prstGeom prst="rect">
            <a:avLst/>
          </a:prstGeom>
          <a:noFill/>
          <a:ln/>
        </p:spPr>
        <p:txBody>
          <a:bodyPr wrap="square" lIns="0" tIns="0" rIns="0" bIns="0" rtlCol="0" anchor="ctr"/>
          <a:lstStyle/>
          <a:p>
            <a:pPr algn="r" indent="0" marL="0">
              <a:buNone/>
            </a:pPr>
            <a:r>
              <a:rPr lang="en-US" sz="2000" b="1" dirty="0">
                <a:solidFill>
                  <a:schemeClr val="accent6"/>
                </a:solidFill>
              </a:rPr>
              <a:t>Thank you. Questions?</a:t>
            </a:r>
            <a:endParaRPr lang="en-US" sz="2000" dirty="0"/>
          </a:p>
        </p:txBody>
      </p:sp>
    </p:spTree>
  </p:cSld>
  <p:clrMapOvr>
    <a:masterClrMapping/>
  </p:clrMapOvr>
</p:sld>
</file>

<file path=ppt/theme/theme1.xml><?xml version="1.0" encoding="utf-8"?>
<a:theme xmlns:a="http://schemas.openxmlformats.org/drawingml/2006/main" name="Judgment">
  <a:themeElements>
    <a:clrScheme name="Judgment">
      <a:dk1>
        <a:srgbClr val="161A22"/>
      </a:dk1>
      <a:lt1>
        <a:srgbClr val="FFFFFF"/>
      </a:lt1>
      <a:dk2>
        <a:srgbClr val="525A69"/>
      </a:dk2>
      <a:lt2>
        <a:srgbClr val="F1F4F8"/>
      </a:lt2>
      <a:accent1>
        <a:srgbClr val="11806A"/>
      </a:accent1>
      <a:accent2>
        <a:srgbClr val="6158C9"/>
      </a:accent2>
      <a:accent3>
        <a:srgbClr val="9C640F"/>
      </a:accent3>
      <a:accent4>
        <a:srgbClr val="C24F27"/>
      </a:accent4>
      <a:accent5>
        <a:srgbClr val="2C73BC"/>
      </a:accent5>
      <a:accent6>
        <a:srgbClr val="E8A33D"/>
      </a:accent6>
      <a:hlink>
        <a:srgbClr val="2C73BC"/>
      </a:hlink>
      <a:folHlink>
        <a:srgbClr val="6158C9"/>
      </a:folHlink>
    </a:clrScheme>
    <a:fontScheme name="Judgme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understanding to judgment</dc:title>
  <dc:subject>PptxGenJS Presentation</dc:subject>
  <dc:creator>Roksana Mirzaei</dc:creator>
  <cp:lastModifiedBy>Roksana Mirzaei</cp:lastModifiedBy>
  <cp:revision>1</cp:revision>
  <dcterms:created xsi:type="dcterms:W3CDTF">2026-10-24T16:29:28Z</dcterms:created>
  <dcterms:modified xsi:type="dcterms:W3CDTF">2026-10-24T16:29:28Z</dcterms:modified>
</cp:coreProperties>
</file>